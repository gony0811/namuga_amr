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307aca63a14ee0" /><Relationship Type="http://schemas.openxmlformats.org/officeDocument/2006/relationships/extended-properties" Target="/docProps/app.xml" Id="R8fc6540672df46d0" /><Relationship Type="http://schemas.openxmlformats.org/officeDocument/2006/relationships/officeDocument" Target="/ppt/presentation.xml" Id="Rbffa7926cdff4f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e6c44ea12f44d7"/>
  </p:sldMasterIdLst>
  <p:notesMasterIdLst>
    <p:notesMasterId xmlns:r="http://schemas.openxmlformats.org/officeDocument/2006/relationships" r:id="Rfc6e90dbabee4744"/>
  </p:notesMasterIdLst>
  <p:sldIdLst>
    <p:sldId xmlns:r="http://schemas.openxmlformats.org/officeDocument/2006/relationships" id="256" r:id="R04454543c3dd4bdd"/>
    <p:sldId xmlns:r="http://schemas.openxmlformats.org/officeDocument/2006/relationships" id="257" r:id="R9e9e462e8edb4d43"/>
    <p:sldId xmlns:r="http://schemas.openxmlformats.org/officeDocument/2006/relationships" id="258" r:id="R2fd7f46707ec4056"/>
    <p:sldId xmlns:r="http://schemas.openxmlformats.org/officeDocument/2006/relationships" id="259" r:id="Rfe35d0d82ecb45ad"/>
    <p:sldId xmlns:r="http://schemas.openxmlformats.org/officeDocument/2006/relationships" id="260" r:id="R796c2151b1e941c9"/>
    <p:sldId xmlns:r="http://schemas.openxmlformats.org/officeDocument/2006/relationships" id="261" r:id="R758808ad65744452"/>
  </p:sldIdLst>
  <p:sldSz cx="9906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e053b06fd34a27" /><Relationship Type="http://schemas.openxmlformats.org/officeDocument/2006/relationships/slideMaster" Target="/ppt/slideMasters/slideMaster1.xml" Id="Rfce6c44ea12f44d7" /><Relationship Type="http://schemas.openxmlformats.org/officeDocument/2006/relationships/notesMaster" Target="/ppt/notesMasters/notesMaster1.xml" Id="Rfc6e90dbabee4744" /><Relationship Type="http://schemas.openxmlformats.org/officeDocument/2006/relationships/presProps" Target="/ppt/presProps.xml" Id="R55b3304a70b74f4a" /><Relationship Type="http://schemas.openxmlformats.org/officeDocument/2006/relationships/tableStyles" Target="/ppt/tableStyles.xml" Id="Rb4452a4439b44f07" /><Relationship Type="http://schemas.openxmlformats.org/officeDocument/2006/relationships/slide" Target="/ppt/slides/slide1.xml" Id="R04454543c3dd4bdd" /><Relationship Type="http://schemas.openxmlformats.org/officeDocument/2006/relationships/slide" Target="/ppt/slides/slide2.xml" Id="R9e9e462e8edb4d43" /><Relationship Type="http://schemas.openxmlformats.org/officeDocument/2006/relationships/slide" Target="/ppt/slides/slide3.xml" Id="R2fd7f46707ec4056" /><Relationship Type="http://schemas.openxmlformats.org/officeDocument/2006/relationships/slide" Target="/ppt/slides/slide4.xml" Id="Rfe35d0d82ecb45ad" /><Relationship Type="http://schemas.openxmlformats.org/officeDocument/2006/relationships/slide" Target="/ppt/slides/slide5.xml" Id="R796c2151b1e941c9" /><Relationship Type="http://schemas.openxmlformats.org/officeDocument/2006/relationships/slide" Target="/ppt/slides/slide6.xml" Id="R758808ad657444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1569435c5248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480db3f0204e8b" /><Relationship Type="http://schemas.openxmlformats.org/officeDocument/2006/relationships/notesMaster" Target="/ppt/notesMasters/notesMaster1.xml" Id="R8d9837c24eb944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393b62e0854ccb" /><Relationship Type="http://schemas.openxmlformats.org/officeDocument/2006/relationships/notesMaster" Target="/ppt/notesMasters/notesMaster1.xml" Id="Raba36d943af147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3b78a6349c48b7" /><Relationship Type="http://schemas.openxmlformats.org/officeDocument/2006/relationships/notesMaster" Target="/ppt/notesMasters/notesMaster1.xml" Id="R8b6f2ce29c4f4a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742855e1944b67" /><Relationship Type="http://schemas.openxmlformats.org/officeDocument/2006/relationships/notesMaster" Target="/ppt/notesMasters/notesMaster1.xml" Id="R49e1e0a7185944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865ab4e3304ccb" /><Relationship Type="http://schemas.openxmlformats.org/officeDocument/2006/relationships/notesMaster" Target="/ppt/notesMasters/notesMaster1.xml" Id="Re4eddbb8c0ae48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49bc4cb5574abd" /><Relationship Type="http://schemas.openxmlformats.org/officeDocument/2006/relationships/notesMaster" Target="/ppt/notesMasters/notesMaster1.xml" Id="R665cc32f30e345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본 자료는 NAMUGA_AMR 구현 코드와 인터페이스 문서를 기반으로 작성함. 정량 성능은 현장 POC에서 검증 필요.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AMR/Service/MoveSequenceRunner.cs, CameraService.cs, CobotService.cs; docs/MainSequence.md; docs/cobot_interface.md.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±50 mm는 사용자가 요청한 정차 오차 범위. 최종 정밀도 수치는 제공되지 않아 POC 검증 항목으로 명시함.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CameraService.cs lines implementing pinhole conversion, 5×5 depth median and preprocessing; MoveSequenceRunner.cs implementing 5 samples, medians, PortOffset/ModelOffset and AI0–AI2 writes.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docs/MainSequence.md; MoveSequenceRunner.cs (Steps 1–10, QR read, pickup/place selection, magazine detection and I/O checks). The current code includes last-value fallback when all five QR samples fail; production acceptance should define whether fallback is allowed.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정량 합격 공차와 회전 허용 범위는 사용자 입력이 없어 고객 요구사항으로 남김. 반복 횟수는 검증 계획 제안이며 실제 POC 협의 시 조정 가능.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5deec4e6f840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206c485d7644fa" /><Relationship Type="http://schemas.openxmlformats.org/officeDocument/2006/relationships/slideLayout" Target="/ppt/slideLayouts/slideLayout1.xml" Id="R80472d0f0a7444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472d0f0a7444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3493f6b72641bf" /><Relationship Type="http://schemas.openxmlformats.org/officeDocument/2006/relationships/notesSlide" Target="/ppt/notesSlides/notesSlide1.xml" Id="Rf8d0c05685e241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ca214f06e4b8d" /><Relationship Type="http://schemas.openxmlformats.org/officeDocument/2006/relationships/notesSlide" Target="/ppt/notesSlides/notesSlide2.xml" Id="R45630bbd759640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90ff912d2a4f81" /><Relationship Type="http://schemas.openxmlformats.org/officeDocument/2006/relationships/notesSlide" Target="/ppt/notesSlides/notesSlide3.xml" Id="R28cb8e72149147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c9ac0953454747" /><Relationship Type="http://schemas.openxmlformats.org/officeDocument/2006/relationships/notesSlide" Target="/ppt/notesSlides/notesSlide4.xml" Id="Raa5e246ba8db40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aa43fd98254171" /><Relationship Type="http://schemas.openxmlformats.org/officeDocument/2006/relationships/notesSlide" Target="/ppt/notesSlides/notesSlide5.xml" Id="Rf1e105cc84a641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573b91232b474a" /><Relationship Type="http://schemas.openxmlformats.org/officeDocument/2006/relationships/notesSlide" Target="/ppt/notesSlides/notesSlide6.xml" Id="Rd4fb35fc443248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C037D7-4F8D-47C0-8BDD-94595D68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14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500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595959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2A239E-0474-415F-B4F6-0C17CF0D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85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B3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B4EC4C-AD42-4FAA-AA23-D3897137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859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B1B3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B1B30"/>
                </a:solidFill>
                <a:latin typeface="Arial"/>
                <a:ea typeface="Arial"/>
                <a:cs typeface="Arial"/>
              </a:rPr>
              <a:t>NAMUGA AMR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E3147A-BCD0-4FB5-A692-777C2FF3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7905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제어 구성 및 QR 기반</a:t>
            </a:r>
          </a:p>
          <a:p xmlns:a="http://schemas.openxmlformats.org/drawingml/2006/main">
            <a:pPr algn="l">
              <a:defRPr sz="225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매거진 PICKUP / PLACE 위치 정밀도 확보 방안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59CB46-45A8-4410-90F0-F1A6E3BA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95625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AMR 정차 오차 ±50 mm를 비전 보정으로 흡수하는 시스템 설계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B34941-F9B0-48E4-899E-AA87EEE8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52825"/>
            <a:ext cx="657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rPr>
              <a:t>시스템 개요 · 보정 원리 · 작업 시퀀스 · 검증 기준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F5184C-1D66-4B93-AA3B-3F1C962C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823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71AA2F-4FAA-4B21-8269-0CABC2CB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62626"/>
                </a:solidFill>
                <a:latin typeface="Arial"/>
                <a:ea typeface="Arial"/>
                <a:cs typeface="Arial"/>
              </a:rPr>
              <a:t>NAMUGA  |  2026.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1CD57C-7576-4507-844A-2290C30F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5721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62626"/>
                </a:solidFill>
                <a:latin typeface="Arial"/>
                <a:ea typeface="Arial"/>
                <a:cs typeface="Arial"/>
              </a:rPr>
              <a:t>NAMUGA AMR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440E9F-E51F-49BF-B642-F80F853B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9055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5959"/>
                </a:solidFill>
                <a:latin typeface="Arial"/>
                <a:ea typeface="Arial"/>
                <a:cs typeface="Arial"/>
              </a:rPr>
              <a:t>QR Guided Precision Handling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4CD0DC-D71A-447A-8AF9-ECEB38B0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722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048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563" b="0">
                <a:solidFill>
                  <a:srgbClr val="BFBFBF"/>
                </a:solidFill>
                <a:latin typeface="Arial"/>
                <a:ea typeface="Arial"/>
                <a:cs typeface="Arial"/>
              </a:rPr>
              <a:t>Copyright © NAMUGA. 2026.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5084123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16A483A-82A2-46A8-B547-DCFA3601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NAMUGA AMR 제어 구성도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1066F2-3CEA-4114-91B0-C57F8629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관제 명령부터 협동로봇 위치 보정까지 단일 시퀀스로 연계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C150B3-2375-4105-895A-7680DBAA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33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595959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2A5C63-0179-4509-BED9-C28707F1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89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62626"/>
                </a:solidFill>
                <a:latin typeface="Arial"/>
                <a:ea typeface="Arial"/>
                <a:cs typeface="Arial"/>
              </a:rPr>
              <a:t>NAMUGA AMR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10909A-447F-46F1-995C-39106C29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625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6250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595959"/>
                </a:solidFill>
                <a:latin typeface="Arial"/>
                <a:ea typeface="Arial"/>
                <a:cs typeface="Arial"/>
              </a:rPr>
              <a:t>Precision Handling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BFB14D-2FEC-4226-B1EE-107BD4AC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8580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34B629-F89F-45FD-A699-B42D793A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904875"/>
            <a:ext cx="76200" cy="519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B3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D38840-CD29-49A6-9B61-AB567E3E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486900" y="2286000"/>
            <a:ext cx="4000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NAMUGA AMR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E1679A-7964-4A78-A8B9-72FC61E8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722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048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563" b="0">
                <a:solidFill>
                  <a:srgbClr val="BFBFBF"/>
                </a:solidFill>
                <a:latin typeface="Arial"/>
                <a:ea typeface="Arial"/>
                <a:cs typeface="Arial"/>
              </a:rPr>
              <a:t>Copyright © NAMUGA. 2026. All Rights Reserved.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E2C216-FD59-4483-9594-B3315411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6572250"/>
            <a:ext cx="2571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FBFB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CE6391-8382-4AE5-9E7D-67DC6B0E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00125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B3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0B98FB-61F9-478C-8E5C-F5FD2B8C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668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ACS 관제 서버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136F0F-CABF-4BE7-AA63-FF5C973B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335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moveCmd · actionCmd</a:t>
            </a:r>
          </a:p>
          <a:p xmlns:a="http://schemas.openxmlformats.org/drawingml/2006/main">
            <a:pPr algn="ctr"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MQTT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8E86ED-C81E-48C3-8E21-1288B67D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895350"/>
            <a:ext cx="35718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E6A107-7A88-4160-9F34-71E480B3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000125"/>
            <a:ext cx="3228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AMR 통합 제어 PC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CAD076-2AB6-406B-9CC8-C0FB9576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333500"/>
            <a:ext cx="3228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Main Sequence · 상태 관리 · 오프셋 계산 · 이력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6058F0-BBC7-40EA-A856-E4E5C58F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000125"/>
            <a:ext cx="1619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FBFB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783F78-228D-47BC-AD87-7D9EBB27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076325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62626"/>
                </a:solidFill>
                <a:latin typeface="Arial"/>
                <a:ea typeface="Arial"/>
                <a:cs typeface="Arial"/>
              </a:rPr>
              <a:t>AMR Controller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2B1A58-2FD2-4AC9-AF36-8D7076AB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3350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Node 이동 · 정차</a:t>
            </a:r>
          </a:p>
          <a:p xmlns:a="http://schemas.openxmlformats.org/drawingml/2006/main">
            <a:pPr algn="ctr">
              <a:defRPr sz="750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상태 / 알람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220065-FF7B-45C7-939C-44AC9605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209675"/>
            <a:ext cx="5143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B1B30"/>
          </a:solidFill>
          <a:ln xmlns:a="http://schemas.openxmlformats.org/drawingml/2006/main" w="0">
            <a:solidFill>
              <a:srgbClr val="9B1B3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6AFBE9-87AC-4159-BDEE-04367A41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981075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9B1B30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9B1B30"/>
                </a:solidFill>
                <a:latin typeface="Arial"/>
                <a:ea typeface="Arial"/>
                <a:cs typeface="Arial"/>
              </a:rPr>
              <a:t>Wi-Fi / MQTT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D25048-9CAA-415A-B0EB-53764B04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209675"/>
            <a:ext cx="5143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95959"/>
          </a:solidFill>
          <a:ln xmlns:a="http://schemas.openxmlformats.org/drawingml/2006/main" w="0">
            <a:solidFill>
              <a:srgbClr val="59595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56A6B0-568B-4A3D-8CBC-A185FBF0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981075"/>
            <a:ext cx="714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95959"/>
                </a:solidFill>
                <a:latin typeface="Arial"/>
                <a:ea typeface="Arial"/>
                <a:cs typeface="Arial"/>
              </a:rPr>
              <a:t>Modbus TCP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C529AF-260A-4493-BD3E-1508899A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33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B30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8A1C29-258D-4CB9-A27A-4352CAFA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336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85DB69-6626-4A18-8C81-A7898DF4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13360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통합 제어 PC 내부 서비스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3FAC9F-2966-42E8-827D-2CD00981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0"/>
            <a:ext cx="198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F1"/>
          </a:solidFill>
          <a:ln xmlns:a="http://schemas.openxmlformats.org/drawingml/2006/main" w="9525">
            <a:solidFill>
              <a:srgbClr val="9B1B30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8319DD-36C3-453D-94E4-C2F3D653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64795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B1B3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B1B30"/>
                </a:solidFill>
                <a:latin typeface="Arial"/>
                <a:ea typeface="Arial"/>
                <a:cs typeface="Arial"/>
              </a:rPr>
              <a:t>MainSequence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28D49E-B6BE-4B73-91C5-9FCE4927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89560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10단계 작업 상태머신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D25D93-7936-41A1-8544-95AB012E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09875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BFBF"/>
          </a:solidFill>
          <a:ln xmlns:a="http://schemas.openxmlformats.org/drawingml/2006/main" w="0">
            <a:solidFill>
              <a:srgbClr val="BFBFB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D7C242-797C-4CDD-8B1E-44B8A9DF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571750"/>
            <a:ext cx="198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FBFB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408FC3-AB00-4368-BA02-B96BA102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64795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62626"/>
                </a:solidFill>
                <a:latin typeface="Arial"/>
                <a:ea typeface="Arial"/>
                <a:cs typeface="Arial"/>
              </a:rPr>
              <a:t>CameraService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0D1E61-DD3E-493B-B640-3F5DFDEB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89560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RGB·Depth / QR 좌표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39F98A-867A-40BF-9237-B46D775C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809875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BFBF"/>
          </a:solidFill>
          <a:ln xmlns:a="http://schemas.openxmlformats.org/drawingml/2006/main" w="0">
            <a:solidFill>
              <a:srgbClr val="BFBFB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8B98AA-A6B3-46A4-8D67-A3B71A21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571750"/>
            <a:ext cx="198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FBFB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6C9186-94A8-4C34-900C-17055850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64795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62626"/>
                </a:solidFill>
                <a:latin typeface="Arial"/>
                <a:ea typeface="Arial"/>
                <a:cs typeface="Arial"/>
              </a:rPr>
              <a:t>Offset Service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01C752-7836-4E20-82A7-09B518D4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89560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Port + Model 보정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44A89F-7BC7-4456-86D0-6AFC4ED0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09875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BFBF"/>
          </a:solidFill>
          <a:ln xmlns:a="http://schemas.openxmlformats.org/drawingml/2006/main" w="0">
            <a:solidFill>
              <a:srgbClr val="BFBFB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B780023-5AF3-47E2-BC63-53344639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571750"/>
            <a:ext cx="198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FBFB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20BA04E-1BB0-4EFD-872C-8B4BB422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64795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62626"/>
                </a:solidFill>
                <a:latin typeface="Arial"/>
                <a:ea typeface="Arial"/>
                <a:cs typeface="Arial"/>
              </a:rPr>
              <a:t>CobotService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90CE7E0-B9BD-4649-8C54-DC68BD61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89560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DI/DO·AI 레지스터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0C4ACDA-C9F4-442F-982B-DE9676F7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B30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821CA27-22D3-4EA0-906C-B64F41B0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004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B1F45A6-5F80-4B4D-B6E5-B436E339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6004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현장 장치 및 데이터 흐름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CB4A92C-DC6C-45AC-B2C9-1BE97DC0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38600"/>
            <a:ext cx="209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BFB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E7B91A3-4F90-42D9-A7E7-26001254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RGB-D 카메라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090B665-440C-4E83-9AD3-83AA0566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QR 중심점 · 회전각</a:t>
            </a:r>
          </a:p>
          <a:p xmlns:a="http://schemas.openxmlformats.org/drawingml/2006/main">
            <a:pPr algn="ctr">
              <a:defRPr sz="825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Depth 기반 실제 거리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4A243EE-C363-4425-BBD1-447D359A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38600"/>
            <a:ext cx="209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BFBF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3473072-EE80-4A23-8642-D25F4360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14337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협동로봇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41EBFA4-49A4-4191-856D-17313727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4386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95959"/>
                </a:solidFill>
                <a:latin typeface="Arial"/>
                <a:ea typeface="Arial"/>
                <a:cs typeface="Arial"/>
              </a:rPr>
              <a:t>AI0: dx · AI1: dy</a:t>
            </a:r>
          </a:p>
          <a:p xmlns:a="http://schemas.openxmlformats.org/drawingml/2006/main">
            <a:pPr algn="ctr">
              <a:defRPr sz="825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95959"/>
                </a:solidFill>
                <a:latin typeface="Arial"/>
                <a:ea typeface="Arial"/>
                <a:cs typeface="Arial"/>
              </a:rPr>
              <a:t>AI2: dθ ×100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959A88C-C28C-427A-BB77-724672A7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038600"/>
            <a:ext cx="18573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BFBF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50D03D0-BBAE-481E-957F-21153073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143375"/>
            <a:ext cx="1609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I/O · 안전 장치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1C07C43-2B35-46CD-A098-42724355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38650"/>
            <a:ext cx="1609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Busy · Complete · Error</a:t>
            </a:r>
          </a:p>
          <a:p xmlns:a="http://schemas.openxmlformats.org/drawingml/2006/main">
            <a:pPr algn="ctr">
              <a:defRPr sz="825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인터록 / 비상정지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55E40EE-F8D9-4E05-8EB3-D6DFB736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410075"/>
            <a:ext cx="781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B1B30"/>
          </a:solidFill>
          <a:ln xmlns:a="http://schemas.openxmlformats.org/drawingml/2006/main" w="0">
            <a:solidFill>
              <a:srgbClr val="9B1B30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1EA92E7-0801-4C48-9919-EEE5C6BF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910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rPr>
              <a:t>좌표 보정값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F55FF8E-7B0F-4B6C-B220-0ED3E83F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10075"/>
            <a:ext cx="781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95959"/>
          </a:solidFill>
          <a:ln xmlns:a="http://schemas.openxmlformats.org/drawingml/2006/main" w="0">
            <a:solidFill>
              <a:srgbClr val="595959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0FDA679-AF60-445B-8731-4E141028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1910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동작 상태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1230A32-E84D-4939-8BB2-628D6899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29250"/>
            <a:ext cx="8810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F1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05AB711-0885-403B-806F-A2DADD40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rPr>
              <a:t>핵심 제어 경계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588D5C9-28E4-4F8D-96C0-80567C3C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81675"/>
            <a:ext cx="833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AMR의 절대 정차 위치는 이동 제어가 담당하고, 매거진 작업점의 잔여 오차는 QR 좌표를 읽어 협동로봇의 접근 경로에 반영합니다.</a:t>
            </a:r>
          </a:p>
        </p:txBody>
      </p:sp>
    </p:spTree>
    <p:extLst>
      <p:ext uri="{BB962C8B-B14F-4D97-AF65-F5344CB8AC3E}">
        <p14:creationId xmlns:p14="http://schemas.microsoft.com/office/powerpoint/2010/main" val="694931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9B6AF9C-77C2-4FA7-ACBF-9FD9B754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±50 mm 정차 오차를 흡수하는 2단계 위치 결정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3054A1-5F73-4A93-BD88-495C1D90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AMR은 작업 가능 영역에 진입하고, QR 보정이 실제 PICKUP / PLACE 기준점을 복원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385D89-B932-4487-9630-40534CD3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33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595959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30941A-C9BB-4A74-A1E5-2F9DDB5B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89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62626"/>
                </a:solidFill>
                <a:latin typeface="Arial"/>
                <a:ea typeface="Arial"/>
                <a:cs typeface="Arial"/>
              </a:rPr>
              <a:t>NAMUGA AMR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22739-2646-4127-9A92-AF9DE487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625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6250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595959"/>
                </a:solidFill>
                <a:latin typeface="Arial"/>
                <a:ea typeface="Arial"/>
                <a:cs typeface="Arial"/>
              </a:rPr>
              <a:t>Precision Handling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602B0C-CA7D-42A2-9A33-0A6D233D6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8580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0E07AB-E7B8-48D5-8416-6F7C7E31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904875"/>
            <a:ext cx="76200" cy="519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B3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EE6777-2FE6-4A44-892B-B1F0FC52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486900" y="2286000"/>
            <a:ext cx="4000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NAMUGA AMR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089FFE-F07E-4E14-A4D6-5AF74079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722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048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563" b="0">
                <a:solidFill>
                  <a:srgbClr val="BFBFBF"/>
                </a:solidFill>
                <a:latin typeface="Arial"/>
                <a:ea typeface="Arial"/>
                <a:cs typeface="Arial"/>
              </a:rPr>
              <a:t>Copyright © NAMUGA. 2026. All Rights Reserved.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128BC0-34BE-4BA7-AB46-0E419E56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6572250"/>
            <a:ext cx="2571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FBFB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9796F7-8366-4D41-A423-23EEF577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001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B3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B4F9BC-6963-4B63-A537-49D24EA7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001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CF2599-6517-43D6-B9AB-CA87071C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000125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1차 위치 결정: AMR 정차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9EDAA1-1CE7-4746-84DC-0813BE62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3762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2F2478-E96C-4996-A58E-F78DE10D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809750"/>
            <a:ext cx="0" cy="2238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557695-1B65-4CBD-A0E5-5581F272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24175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972F93-3B90-49AA-B17C-67F5C4CC4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209800"/>
            <a:ext cx="1428750" cy="1428750"/>
          </a:xfrm>
          <a:prstGeom xmlns:a="http://schemas.openxmlformats.org/drawingml/2006/main" prst="roundRect">
            <a:avLst>
              <a:gd name="adj" fmla="val 533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9B1B3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386930-EE35-4457-BF23-931A6E46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628900"/>
            <a:ext cx="123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rPr>
              <a:t>±50 mm</a:t>
            </a:r>
          </a:p>
          <a:p xmlns:a="http://schemas.openxmlformats.org/drawingml/2006/main">
            <a:pPr algn="ctr">
              <a:defRPr sz="1350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rPr>
              <a:t>정차 오차 영역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103C6D-9F64-46E9-A5E4-E26850B4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70510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C3AAFB-27E4-402D-95B0-9F41C632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8194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AMR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7716E2-3F18-4FC6-9967-6A7490E2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18383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목표 노드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15BEB5-79B3-497E-AF53-0BC3E6F8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00500"/>
            <a:ext cx="319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주행 제어는 QR 카메라가</a:t>
            </a:r>
          </a:p>
          <a:p xmlns:a="http://schemas.openxmlformats.org/drawingml/2006/main">
            <a:pPr algn="ctr">
              <a:defRPr sz="90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대상을 볼 수 있는 범위까지 정차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4A6ECD-261E-4E9D-9B3E-351A7E3E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14625"/>
            <a:ext cx="5238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B1B30"/>
          </a:solidFill>
          <a:ln xmlns:a="http://schemas.openxmlformats.org/drawingml/2006/main" w="0">
            <a:solidFill>
              <a:srgbClr val="9B1B30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D6D170-D7E9-49AD-BB9C-433B40DD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067050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rPr>
              <a:t>잔여 오차</a:t>
            </a:r>
          </a:p>
          <a:p xmlns:a="http://schemas.openxmlformats.org/drawingml/2006/main">
            <a:pPr algn="ctr">
              <a:defRPr sz="750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rPr>
              <a:t>측정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77478B-594B-4897-B946-7D4ADBC7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0001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B30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F6C665-D01D-4CFA-9C69-4F543960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0001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867A6E-4E49-40E5-8C8D-A048C70A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1000125"/>
            <a:ext cx="3486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2차 위치 결정: QR 비전 보정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0876FF-8EFF-40FA-BE42-C7C24446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476375"/>
            <a:ext cx="38576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BFB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B4CBF1-3A00-4E94-8389-8B6E3DEE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90700"/>
            <a:ext cx="2095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3E0D6D-2B6A-4C06-B76E-F2D62464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52625"/>
            <a:ext cx="0" cy="1381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15F8C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2F00F2-7523-42BB-A798-0A9E424C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15F8C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93B770-8664-4C34-BEDC-307428AE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971675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315F8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315F8C"/>
                </a:solidFill>
                <a:latin typeface="Apple SD Gothic Neo"/>
                <a:ea typeface="Apple SD Gothic Neo"/>
                <a:cs typeface="Apple SD Gothic Neo"/>
              </a:rPr>
              <a:t>카메라 중심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13A109-02B4-4063-8FB4-D7DA295C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241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E7D5B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58A893-8B73-4BF2-821A-CFA3B1FE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95B993-E1FE-468E-B493-E248C0E2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28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8E37CA-8D54-4FCE-ACB2-003DC69B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00325"/>
            <a:ext cx="447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27A15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F71DB2-8351-476E-8E76-262B1055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241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QR 중심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A76416-7E97-4E66-A37C-EE799948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66925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27A1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27A15"/>
                </a:solidFill>
                <a:latin typeface="Arial"/>
                <a:ea typeface="Arial"/>
                <a:cs typeface="Arial"/>
              </a:rPr>
              <a:t>Δx, Δy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5C28655-CA41-4878-AF56-99E117EF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9077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B1B3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B1B30"/>
                </a:solidFill>
                <a:latin typeface="Arial"/>
                <a:ea typeface="Arial"/>
                <a:cs typeface="Arial"/>
              </a:rPr>
              <a:t>θ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6676052-FB33-4125-9243-CC53C6F8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90700"/>
            <a:ext cx="8763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F1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984E92F-FC32-434B-9AC7-EDE771C4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240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rPr>
              <a:t>산출값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4BC39B9-4344-486E-B680-7BDA022F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66950"/>
            <a:ext cx="647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512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62626"/>
                </a:solidFill>
                <a:latin typeface="Arial"/>
                <a:ea typeface="Arial"/>
                <a:cs typeface="Arial"/>
              </a:rPr>
              <a:t>dx [mm]</a:t>
            </a:r>
          </a:p>
          <a:p xmlns:a="http://schemas.openxmlformats.org/drawingml/2006/main">
            <a:pPr algn="ctr">
              <a:defRPr sz="975" b="1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62626"/>
                </a:solidFill>
                <a:latin typeface="Arial"/>
                <a:ea typeface="Arial"/>
                <a:cs typeface="Arial"/>
              </a:rPr>
              <a:t>dy [mm]</a:t>
            </a:r>
          </a:p>
          <a:p xmlns:a="http://schemas.openxmlformats.org/drawingml/2006/main">
            <a:pPr algn="ctr">
              <a:defRPr sz="975" b="1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62626"/>
                </a:solidFill>
                <a:latin typeface="Arial"/>
                <a:ea typeface="Arial"/>
                <a:cs typeface="Arial"/>
              </a:rPr>
              <a:t>dθ [deg]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66F3801-EEFB-4F09-A5B4-C59D610E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8610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협동로봇</a:t>
            </a:r>
          </a:p>
          <a:p xmlns:a="http://schemas.openxmlformats.org/drawingml/2006/main">
            <a:pPr algn="ctr">
              <a:defRPr sz="750" b="1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경로 보정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388486F-9F7B-49C9-8E21-AF54A3E1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790950"/>
            <a:ext cx="3286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카메라 좌표에서 측정한 잔여 위치·각도 오차를</a:t>
            </a:r>
          </a:p>
          <a:p xmlns:a="http://schemas.openxmlformats.org/drawingml/2006/main">
            <a:pPr algn="ctr">
              <a:defRPr sz="90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협동로봇의 PICKUP / PLACE 기준 위치에 합산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9F1ED63-E110-44BA-A5B3-90DBE887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48250"/>
            <a:ext cx="87153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F1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615FF84-6976-4871-BE49-190BBEB8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816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rPr>
              <a:t>정밀도 확보 조건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FB7D1A6-0CF1-4D08-B05D-49EA866F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95925"/>
            <a:ext cx="828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① QR이 카메라 시야와 유효 Depth 범위 안에 위치   ② QR 좌표계와 로봇 작업 좌표계의 부호·축 방향 일치   ③ 보정 후 접근 경로가 기구 간섭 없이 실행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74A8333-3B62-4C0B-953C-4EA00886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9775"/>
            <a:ext cx="828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rPr>
              <a:t>±50 mm는 AMR 정차 허용 범위이며, 최종 작업 정밀도는 카메라 보정·로봇 반복도·치공구 공차를 포함해 POC에서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8626513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452C3A6-55B9-4840-8BB9-CCD84E75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QR 좌표 산출 및 보정값 생성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E27E1F-C527-4956-B2F4-1563F89D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RGB-D 영상의 픽셀 오차를 실제 거리로 변환하고 포트·모델별 편차를 추가 보정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24069F-5BD0-4708-AA8C-3754D827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33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595959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31F856-BBC6-4B93-8230-861CF97B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89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62626"/>
                </a:solidFill>
                <a:latin typeface="Arial"/>
                <a:ea typeface="Arial"/>
                <a:cs typeface="Arial"/>
              </a:rPr>
              <a:t>NAMUGA AMR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2FE79C-BB2C-4316-A5D3-C305DC60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625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6250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595959"/>
                </a:solidFill>
                <a:latin typeface="Arial"/>
                <a:ea typeface="Arial"/>
                <a:cs typeface="Arial"/>
              </a:rPr>
              <a:t>Precision Handling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40121-59BB-443D-83F0-F375CE49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8580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6AA920-60D8-4D49-B59A-A028D64B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904875"/>
            <a:ext cx="76200" cy="519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B3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36F765-A724-4CF4-A816-2EF38CD4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486900" y="2286000"/>
            <a:ext cx="4000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NAMUGA AMR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353720-FF85-45F7-9907-DC994160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722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048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563" b="0">
                <a:solidFill>
                  <a:srgbClr val="BFBFBF"/>
                </a:solidFill>
                <a:latin typeface="Arial"/>
                <a:ea typeface="Arial"/>
                <a:cs typeface="Arial"/>
              </a:rPr>
              <a:t>Copyright © NAMUGA. 2026. All Rights Reserved.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6153E1-4411-44CF-9A99-B65B75B5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6572250"/>
            <a:ext cx="2571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FBFB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D3D03A-2EB5-457A-BD2D-A6E72BF4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0125"/>
            <a:ext cx="1638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47A83C-471B-4A32-A9E1-45CD63C9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095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B1B3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9B1B3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6F858E-8AF1-4E4E-8D4D-E99F5A02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335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QR 검출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348ECB-2C50-4A20-AC2D-FB7B69791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19250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원본·이진화·적응형</a:t>
            </a:r>
          </a:p>
          <a:p xmlns:a="http://schemas.openxmlformats.org/drawingml/2006/main">
            <a:pPr algn="l">
              <a:def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전처리로 인식 안정화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B73840-3749-4CA4-A6B5-83A2E8F2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1409700"/>
            <a:ext cx="1524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BFBF"/>
          </a:solidFill>
          <a:ln xmlns:a="http://schemas.openxmlformats.org/drawingml/2006/main" w="0">
            <a:solidFill>
              <a:srgbClr val="BFBFB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E15A34-78A6-4223-92E0-B62EC890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000125"/>
            <a:ext cx="1638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FB28F6-0B94-4965-B5C5-0426E30C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095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B1B3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9B1B3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DEA233-D0AC-476B-91C4-3085BB40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3335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중심·각도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E3C54F-22C1-439A-8976-5292A360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619250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4개 꼭짓점으로</a:t>
            </a:r>
          </a:p>
          <a:p xmlns:a="http://schemas.openxmlformats.org/drawingml/2006/main">
            <a:pPr algn="l">
              <a:def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중심점과 회전각 계산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7FEE9B-D8BE-4563-BBFB-ADC51944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1409700"/>
            <a:ext cx="1524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BFBF"/>
          </a:solidFill>
          <a:ln xmlns:a="http://schemas.openxmlformats.org/drawingml/2006/main" w="0">
            <a:solidFill>
              <a:srgbClr val="BFBFB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853A3D-D937-4843-B7F2-2DA3C00C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000125"/>
            <a:ext cx="1638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1800A1-6DBC-41FA-8A13-F7F09EBE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095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B1B3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9B1B3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2049F9-0C71-463C-B093-C9C67F57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3335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Depth 변환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8F211A-4BB4-44EA-AE06-4C1EEA7D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619250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중심 주변 5×5</a:t>
            </a:r>
          </a:p>
          <a:p xmlns:a="http://schemas.openxmlformats.org/drawingml/2006/main">
            <a:pPr algn="l">
              <a:def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Depth 중앙값 사용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E2E97C-214C-4AC1-8920-6383D76E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409700"/>
            <a:ext cx="1524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BFBF"/>
          </a:solidFill>
          <a:ln xmlns:a="http://schemas.openxmlformats.org/drawingml/2006/main" w="0">
            <a:solidFill>
              <a:srgbClr val="BFBFB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1162A5-F503-416F-AAE9-499E3F93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000125"/>
            <a:ext cx="1638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A3D370-DCDB-49DC-BBB2-87B2D2B8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095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B1B3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9B1B3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9F8672-DDE0-47F1-A39C-F4A4F079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3335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5회 샘플링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CDD669-713E-443D-9B72-0E9AE7B2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619250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200 ms 안정화 후</a:t>
            </a:r>
          </a:p>
          <a:p xmlns:a="http://schemas.openxmlformats.org/drawingml/2006/main">
            <a:pPr algn="l">
              <a:def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100 ms 간격 중앙값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47E760-A8F2-421C-99CA-8DD273F1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1409700"/>
            <a:ext cx="1524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BFBF"/>
          </a:solidFill>
          <a:ln xmlns:a="http://schemas.openxmlformats.org/drawingml/2006/main" w="0">
            <a:solidFill>
              <a:srgbClr val="BFBFB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117887-1AEC-42C9-A8F8-78B5498E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000125"/>
            <a:ext cx="1638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F1"/>
          </a:solidFill>
          <a:ln xmlns:a="http://schemas.openxmlformats.org/drawingml/2006/main" w="9525">
            <a:solidFill>
              <a:srgbClr val="9B1B30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1084D2-CE14-4B54-93B0-C84FF6B6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095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B1B3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9B1B3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E44ED0-D9FB-48E0-878C-9DCDD445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3335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오프셋 합산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EBFD28-920D-4F03-AC53-BC34436A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619250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PortOffset + ModelOffset</a:t>
            </a:r>
          </a:p>
          <a:p xmlns:a="http://schemas.openxmlformats.org/drawingml/2006/main">
            <a:pPr algn="l">
              <a:def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포함 후 레지스터 전달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CA1CE1-6619-447D-9519-43192E80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193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B30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FE3553-C53C-48D0-A508-6108F1BA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193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AE17FC-4151-442E-B940-BC4348D0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41935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실거리 변환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06D2F11-2246-40A3-A06D-4E1F0826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09875"/>
            <a:ext cx="4191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BFB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9BFC365-E5EB-4C26-8AD8-23993EB6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03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2626"/>
                </a:solidFill>
                <a:latin typeface="Arial"/>
                <a:ea typeface="Arial"/>
                <a:cs typeface="Arial"/>
              </a:rPr>
              <a:t>dx = (uQR − uc) × Z / fx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9B425FF-E2CB-45EA-8F9D-73136D050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813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2626"/>
                </a:solidFill>
                <a:latin typeface="Arial"/>
                <a:ea typeface="Arial"/>
                <a:cs typeface="Arial"/>
              </a:rPr>
              <a:t>dy = (vQR − vc) × Z / fy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D2564EC-8ABE-4AEA-8760-6C947F60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8142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50"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Z: QR 중심 Depth 중앙값    fx, fy: 카메라 초점거리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1D8C057-D564-401F-9776-67A62111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4193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B30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B1C2C84-50CE-4B14-8038-413419F4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4193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CEDEE9A-BE32-4EB0-B9B4-39D2E2F3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41935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최종 보정값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920BDFF-D2EE-42D0-8D24-A4237F6B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809875"/>
            <a:ext cx="42386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F1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D47B683-73E1-406D-AF1E-5DCD8333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099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rPr>
              <a:t>보정값 = QR 측정값 + 포트 보정 + 모델 보정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FE838E3-BEDE-4DA1-A036-E8EC0270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76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62626"/>
                </a:solidFill>
                <a:latin typeface="Arial"/>
                <a:ea typeface="Arial"/>
                <a:cs typeface="Arial"/>
              </a:rPr>
              <a:t>PortOffset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8935947-305A-4323-B7A1-8B85AD2A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743325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노드·LEFT/RIGHT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E02CBE5-C8FB-47E5-9AA0-A20DDBDB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337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19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B1B3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B1B30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1447BEB-37F0-4D34-8FFA-7D23C069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76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62626"/>
                </a:solidFill>
                <a:latin typeface="Arial"/>
                <a:ea typeface="Arial"/>
                <a:cs typeface="Arial"/>
              </a:rPr>
              <a:t>ModelOffset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B8B09DF-A751-472E-8772-6D00264D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743325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95959"/>
                </a:solidFill>
                <a:latin typeface="Arial"/>
                <a:ea typeface="Arial"/>
                <a:cs typeface="Arial"/>
              </a:rPr>
              <a:t>LOAD / UNLOAD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6CF5D47-D92D-4844-8D4F-C5F1F484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337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19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B1B3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B1B30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7E3CFBE-C6E8-4795-8742-92BBE533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76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62626"/>
                </a:solidFill>
                <a:latin typeface="Arial"/>
                <a:ea typeface="Arial"/>
                <a:cs typeface="Arial"/>
              </a:rPr>
              <a:t>AI0 / AI1 / AI2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3EC0D51-8E0B-4F41-9326-961D124D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43325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95959"/>
                </a:solidFill>
                <a:latin typeface="Arial"/>
                <a:ea typeface="Arial"/>
                <a:cs typeface="Arial"/>
              </a:rPr>
              <a:t>mm / mm / 0.01°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0440936-2765-49CB-9FD6-81DDBE74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B30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3D84269-50E7-4A2B-AB00-AA8C6BC3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148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7AD0AE8-38B0-492C-B596-A7A15254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51485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신호 인터페이스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AD409E8-5D92-4A8F-8A81-38078A69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05375"/>
            <a:ext cx="8810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BFBF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0B5D198-2472-454D-A447-3185D0BE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05375"/>
            <a:ext cx="8810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94255B9-8E44-4DF2-B377-3E1943C8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43475"/>
            <a:ext cx="1285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5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레지스터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4C6F2FC-7DA7-407F-97F3-67E1253D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9434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5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값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8E8A7FE-4637-465B-935C-7B48D561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9434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5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단위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D6B5DFB-6B64-43A6-B468-A490BBE7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943475"/>
            <a:ext cx="452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5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적용 내용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F0AA200-DB4C-4AE6-B941-514E2982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9B1B3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9B1B30"/>
                </a:solidFill>
                <a:latin typeface="Arial"/>
                <a:ea typeface="Arial"/>
                <a:cs typeface="Arial"/>
              </a:rPr>
              <a:t>AI0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0D66D78-878A-4B0B-B6D9-DFD5262E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2197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262626"/>
                </a:solidFill>
                <a:latin typeface="Arial"/>
                <a:ea typeface="Arial"/>
                <a:cs typeface="Arial"/>
              </a:rPr>
              <a:t>dx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6ED13F2-EBE7-4D86-8BD3-299CA229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2197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262626"/>
                </a:solidFill>
                <a:latin typeface="Arial"/>
                <a:ea typeface="Arial"/>
                <a:cs typeface="Arial"/>
              </a:rPr>
              <a:t>mm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BC06836-EA58-46C0-9DE0-7F03D235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219700"/>
            <a:ext cx="4524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카메라 X 방향 + 포트/모델 보정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484F185-0AA0-4629-9625-0FB5D751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86400"/>
            <a:ext cx="8791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597D79C-5A86-4151-851F-F86CC039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86400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9B1B3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9B1B30"/>
                </a:solidFill>
                <a:latin typeface="Arial"/>
                <a:ea typeface="Arial"/>
                <a:cs typeface="Arial"/>
              </a:rPr>
              <a:t>AI1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6CD2823-46F5-4994-ACC5-C958B52B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4864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262626"/>
                </a:solidFill>
                <a:latin typeface="Arial"/>
                <a:ea typeface="Arial"/>
                <a:cs typeface="Arial"/>
              </a:rPr>
              <a:t>dy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7E85F51-8620-46AA-AB5A-B3E54E52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4864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262626"/>
                </a:solidFill>
                <a:latin typeface="Arial"/>
                <a:ea typeface="Arial"/>
                <a:cs typeface="Arial"/>
              </a:rPr>
              <a:t>mm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768D4F4-68E8-49B3-9126-F339AA2E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486400"/>
            <a:ext cx="4524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카메라 Y 방향 + 포트/모델 보정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AD2F7C4-F044-43C8-BD30-61C39517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9B1B3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9B1B30"/>
                </a:solidFill>
                <a:latin typeface="Arial"/>
                <a:ea typeface="Arial"/>
                <a:cs typeface="Arial"/>
              </a:rPr>
              <a:t>AI2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321DF1B-2FA0-4C6C-AE86-17EA8C2E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7531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262626"/>
                </a:solidFill>
                <a:latin typeface="Arial"/>
                <a:ea typeface="Arial"/>
                <a:cs typeface="Arial"/>
              </a:rPr>
              <a:t>dθ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11D3C76-A095-4D8A-AB79-4B017454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7531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262626"/>
                </a:solidFill>
                <a:latin typeface="Arial"/>
                <a:ea typeface="Arial"/>
                <a:cs typeface="Arial"/>
              </a:rPr>
              <a:t>0.01°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8D05EC5-AFA8-4542-82C7-C362CCC9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753100"/>
            <a:ext cx="4524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QR 상단 변 회전각 + 포트/모델 보정</a:t>
            </a:r>
          </a:p>
        </p:txBody>
      </p:sp>
    </p:spTree>
    <p:extLst>
      <p:ext uri="{BB962C8B-B14F-4D97-AF65-F5344CB8AC3E}">
        <p14:creationId xmlns:p14="http://schemas.microsoft.com/office/powerpoint/2010/main" val="13355280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FD0A899-1397-40B0-9AC6-87B226F9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QR 기반 매거진 PICKUP / PLACE 시퀀스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D881AF-6174-4DDD-A1FB-D5A46240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작업 직전에 QR을 다시 읽고 보정값을 적용해 정차 편차와 작업별 편차를 분리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FEBBDE-05E0-4E1D-B3A6-1FA73AFE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33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595959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57BB26-2481-4F30-B687-904A8ED5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89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62626"/>
                </a:solidFill>
                <a:latin typeface="Arial"/>
                <a:ea typeface="Arial"/>
                <a:cs typeface="Arial"/>
              </a:rPr>
              <a:t>NAMUGA AMR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D5B799-A589-4A4C-96E5-E3694DD6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625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6250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595959"/>
                </a:solidFill>
                <a:latin typeface="Arial"/>
                <a:ea typeface="Arial"/>
                <a:cs typeface="Arial"/>
              </a:rPr>
              <a:t>Precision Handling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881DA2-EC0E-4ED3-9E6C-C353EE12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8580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9BE21D-6E8D-4A88-9C19-F77D38E7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904875"/>
            <a:ext cx="76200" cy="519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B3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F50305-F19E-4B6C-9D91-3F2E374E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486900" y="2286000"/>
            <a:ext cx="4000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NAMUGA AMR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AB4B31-6C0F-4A18-88C5-994D6E89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722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048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563" b="0">
                <a:solidFill>
                  <a:srgbClr val="BFBFBF"/>
                </a:solidFill>
                <a:latin typeface="Arial"/>
                <a:ea typeface="Arial"/>
                <a:cs typeface="Arial"/>
              </a:rPr>
              <a:t>Copyright © NAMUGA. 2026. All Rights Reserved.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045B1C-4D59-467B-858D-D6C59886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6572250"/>
            <a:ext cx="2571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FBFB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22DD7A-FABF-4586-945F-946C8C77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219200"/>
            <a:ext cx="11620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21C4E1-6568-4105-B9CE-DBAFF48E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3049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64"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9B1B30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9B1B3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D76D1E-F2D6-4B83-B6B2-909A2F25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552575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이동 명령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9CC2BD-480B-4934-9173-89258548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885950"/>
            <a:ext cx="97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ACS moveCmd</a:t>
            </a:r>
          </a:p>
          <a:p xmlns:a="http://schemas.openxmlformats.org/drawingml/2006/main">
            <a:pPr algn="ctr">
              <a:def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Node · Port · Job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76967E-8B21-455A-A542-A5FF3F2D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743075"/>
            <a:ext cx="1333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BFBF"/>
          </a:solidFill>
          <a:ln xmlns:a="http://schemas.openxmlformats.org/drawingml/2006/main" w="0">
            <a:solidFill>
              <a:srgbClr val="BFBFB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809D36-FE28-472F-8F98-624BBEF5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219200"/>
            <a:ext cx="11620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1FB552-66EE-416E-AC5F-BBE88712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3049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64"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9B1B30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9B1B3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260F50-C220-4388-9042-D647B2E2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552575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AMR 이동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11F7FE-7903-487D-89FF-2BFF8F53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885950"/>
            <a:ext cx="97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목표 노드 도착</a:t>
            </a:r>
          </a:p>
          <a:p xmlns:a="http://schemas.openxmlformats.org/drawingml/2006/main">
            <a:pPr algn="ctr">
              <a:def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±50 mm 범위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7DAA9E-C751-49FA-810C-82D806B1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43075"/>
            <a:ext cx="1333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BFBF"/>
          </a:solidFill>
          <a:ln xmlns:a="http://schemas.openxmlformats.org/drawingml/2006/main" w="0">
            <a:solidFill>
              <a:srgbClr val="BFBFB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1C5A10-35B8-4A8E-B81C-31EF1136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1219200"/>
            <a:ext cx="11620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F2DCF9-DFC5-442D-A53C-7555D33E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3049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64"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9B1B30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9B1B3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5761E6-8037-49B0-8E9F-F31EB52A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552575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QR 스캔 위치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C37947-C1DD-476C-83E2-3B60D11B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885950"/>
            <a:ext cx="97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협동로봇 DI16/17</a:t>
            </a:r>
          </a:p>
          <a:p xmlns:a="http://schemas.openxmlformats.org/drawingml/2006/main">
            <a:pPr algn="ctr">
              <a:def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카메라 시야 정렬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FF9503-1812-4E75-99FC-B800CD5E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743075"/>
            <a:ext cx="1333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BFBF"/>
          </a:solidFill>
          <a:ln xmlns:a="http://schemas.openxmlformats.org/drawingml/2006/main" w="0">
            <a:solidFill>
              <a:srgbClr val="BFBFB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20BE15-A261-4383-BABC-1222321B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219200"/>
            <a:ext cx="11620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F1"/>
          </a:solidFill>
          <a:ln xmlns:a="http://schemas.openxmlformats.org/drawingml/2006/main" w="9525">
            <a:solidFill>
              <a:srgbClr val="9B1B30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0F0E5E-DC17-4A30-B479-5FFC5890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3049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64"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9B1B30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9B1B3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B92D05-A3D3-484A-B25B-8FD82400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552575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QR 보정 계산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A28F55-D6A2-4F86-808D-D6EF6AF2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85950"/>
            <a:ext cx="97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dx · dy · dθ</a:t>
            </a:r>
          </a:p>
          <a:p xmlns:a="http://schemas.openxmlformats.org/drawingml/2006/main">
            <a:pPr algn="ctr">
              <a:def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포트/모델 보정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430B91-E501-4D33-8CAE-B2875D5E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43075"/>
            <a:ext cx="1333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B1B30"/>
          </a:solidFill>
          <a:ln xmlns:a="http://schemas.openxmlformats.org/drawingml/2006/main" w="0">
            <a:solidFill>
              <a:srgbClr val="9B1B30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83FBA1-4E3E-4165-9FF8-C1B4F91F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219200"/>
            <a:ext cx="11620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965CF3-9D59-4E35-AB69-C96D7888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3049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64"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9B1B30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9B1B3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0E1027-A4D6-4BFE-B105-E7E6C52B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552575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PICKUP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3DCA02-5AEC-48F3-A95A-89EEB196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885950"/>
            <a:ext cx="97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보정 좌표로 접근</a:t>
            </a:r>
          </a:p>
          <a:p xmlns:a="http://schemas.openxmlformats.org/drawingml/2006/main">
            <a:pPr algn="ctr">
              <a:def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그립 후 완료 확인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1A83C90-9663-4AB8-9393-34CEDACB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1743075"/>
            <a:ext cx="1333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BFBF"/>
          </a:solidFill>
          <a:ln xmlns:a="http://schemas.openxmlformats.org/drawingml/2006/main" w="0">
            <a:solidFill>
              <a:srgbClr val="BFBFB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900AC4-32FB-4ED0-9836-9C7400FC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219200"/>
            <a:ext cx="11620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632FBF-4B9D-4151-9EB9-F2AC47BA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3049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64"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9B1B30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9B1B3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B21229-1B10-4B03-A407-0E739E51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552575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PLACE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7897FF-33F3-4ADA-8A74-3C333A96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885950"/>
            <a:ext cx="97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대상 슬롯 이동</a:t>
            </a:r>
          </a:p>
          <a:p xmlns:a="http://schemas.openxmlformats.org/drawingml/2006/main">
            <a:pPr algn="ctr">
              <a:def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놓기 후 완료 확인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257E39-EDD1-478C-A04F-BEFA3F50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43075"/>
            <a:ext cx="1333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BFBF"/>
          </a:solidFill>
          <a:ln xmlns:a="http://schemas.openxmlformats.org/drawingml/2006/main" w="0">
            <a:solidFill>
              <a:srgbClr val="BFBFBF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9E40603-89BA-4C86-89A1-99F84BDF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219200"/>
            <a:ext cx="11620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9402A8C-9D99-46D2-919C-D10BBEA1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3049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64"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9B1B30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9B1B3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8DC865C-70A5-4B66-8788-6F167999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552575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작업 완료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A34D99-B97E-44DA-B807-994C7AA0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885950"/>
            <a:ext cx="97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상태 보고</a:t>
            </a:r>
          </a:p>
          <a:p xmlns:a="http://schemas.openxmlformats.org/drawingml/2006/main">
            <a:pPr algn="ctr">
              <a:def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다음 명령 대기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FD95226-4319-4B5F-81A9-1BAFB578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765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B30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01803E2-6F2B-4B00-A4CC-264FC984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765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5D65DDC-581F-4BE8-B2D5-B2BBF9BE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8765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작업별 QR 재판독 원칙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AF45D58-E42A-474A-90EE-2AD8170B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76600"/>
            <a:ext cx="881062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BFBF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0083DF-1917-4CC7-A203-5E63D8F8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rPr>
              <a:t>PICKUP 전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97F2D28-CE78-448D-8227-55EFBB75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371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현재 정차 자세를 기준으로 포트의 QR을 읽어 PICK 위치를 보정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D8067C1-9EA3-4148-AF80-C5CD10F4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90950"/>
            <a:ext cx="819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7401681-4536-4761-AD82-17107E01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rPr>
              <a:t>PLACE 전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B3F8743-7F75-4369-A721-F5F27823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85762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작업 방향과 모델에 맞는 오프셋을 적용해 PLACE 목표 위치를 보정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25BAE3E-B4A5-4E3E-BFD9-F42CB88E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14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B30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DEAE7BA-3426-4C37-ACE6-B511BF58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148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B5C7B6A-2108-4484-B8C5-DE8031AD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714875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실행 조건과 인터록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ABC90A8-80B7-47D8-B6A5-3D4D8E4C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244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F1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6876150-5A6E-47EE-BA59-05B9C6CA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257800"/>
            <a:ext cx="2095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9B1B30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8247C5A-7020-469B-8836-7FEB19D9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24827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265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37FED30-C10C-44E8-8E42-A02254B9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2197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QR 인식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32E39A8-FAEC-49C3-9426-BE4EFA18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543550"/>
            <a:ext cx="1733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35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유효 샘플 확보 및 좌표 산출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0EEC185-AC46-40F2-8579-3B3C1DF3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1244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6708318-6013-4A62-BF07-93E84C28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5257800"/>
            <a:ext cx="2095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0AEC4D5-35E4-4A3A-A06E-0BCF199C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524827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265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DE196F1-11C1-40F8-B90B-51C7027C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2197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로봇 상태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33BE19A-6F1C-4F75-8E96-CC2C47E1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5543550"/>
            <a:ext cx="1733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35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Busy / Complete / Error 확인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2DBE38B-9AAE-48E2-9335-5CD64A19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51244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07B33CD-EE34-4FFA-8580-6420DA43C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257800"/>
            <a:ext cx="2095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42A9CA9-DCE1-4D17-9AD4-6C1D6857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24827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265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ECB2ACF-1216-4C02-98D2-3FC273AD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2197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매거진 확인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33506C8-B5E8-4DB1-AB26-D1013132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543550"/>
            <a:ext cx="1733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35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Depth ROI로 존재 여부 판정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0009853-EE35-471C-9383-43085E48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1244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8E1EEF4-51E5-4292-A553-9D771B607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257800"/>
            <a:ext cx="2095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F26AD63-F08F-41C3-8C63-31920D9A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24827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265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0C4CC3E-7263-495C-99B1-3D8931D3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2197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안전 조건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F42B5B8-8A65-4EA2-92FD-C1C882AB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543550"/>
            <a:ext cx="1733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35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I/O 인터록과 비상정지 상태 확인</a:t>
            </a:r>
          </a:p>
        </p:txBody>
      </p:sp>
    </p:spTree>
    <p:extLst>
      <p:ext uri="{BB962C8B-B14F-4D97-AF65-F5344CB8AC3E}">
        <p14:creationId xmlns:p14="http://schemas.microsoft.com/office/powerpoint/2010/main" val="7572301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5043814-46C1-442A-B6D8-A88B4ADC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위치 정밀도 검증 기준 및 POC 계획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8D8E21-2990-408E-9538-A1E16477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±50 mm 전 구간에서 QR 검출, 보정 적용, 매거진 작업 성공을 반복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7A9EC7-7C4D-4F4A-8501-E7870E98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33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595959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C6AF6C-669F-4D22-8ADE-CBAAF13A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89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62626"/>
                </a:solidFill>
                <a:latin typeface="Arial"/>
                <a:ea typeface="Arial"/>
                <a:cs typeface="Arial"/>
              </a:rPr>
              <a:t>NAMUGA AMR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F0EB54-1556-4B21-AD04-CB400E1B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625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6250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595959"/>
                </a:solidFill>
                <a:latin typeface="Arial"/>
                <a:ea typeface="Arial"/>
                <a:cs typeface="Arial"/>
              </a:rPr>
              <a:t>Precision Handling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2D98CA-9021-48C8-8021-F914A71E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8580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72FF89-BCE7-4B47-A1A1-1729E7CF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904875"/>
            <a:ext cx="76200" cy="519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B3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D78654-8ACB-42BC-98AF-00DBBDCC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486900" y="2286000"/>
            <a:ext cx="4000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NAMUGA AMR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E32F0A-65BF-4845-9A2F-83F5CCBB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722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048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563" b="0">
                <a:solidFill>
                  <a:srgbClr val="BFBFBF"/>
                </a:solidFill>
                <a:latin typeface="Arial"/>
                <a:ea typeface="Arial"/>
                <a:cs typeface="Arial"/>
              </a:rPr>
              <a:t>Copyright © NAMUGA. 2026. All Rights Reserved.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088A12-DD5F-4FD6-B8FF-1A51CBFD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6572250"/>
            <a:ext cx="2571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FBFB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20F705-BD8A-4040-B490-D089606E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001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B3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8A9AE2-8AE3-416F-8E10-E19E68DD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001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527A98-8CE9-4F23-824F-DD417093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000125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시험 매트릭스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DD697B-1059-4786-A497-62BF8C4F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09700"/>
            <a:ext cx="5524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BFB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D1F844-73BE-412D-B96B-DF3A0493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09700"/>
            <a:ext cx="552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55F4AC-902F-4DD8-A525-451C961A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573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시험 항목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37B730-F90A-4457-BAAB-D5277F20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457325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조건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2202C5-4BF7-4FC1-8376-671643DB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4573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반복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3670E2-8BBC-4038-96E2-D2A32D53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457325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판정 지표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4B9FDD-F556-48F4-95C5-C864B752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526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rPr>
              <a:t>정차 오프셋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4F5A61-8C07-4B70-B723-0A66B304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752600"/>
            <a:ext cx="100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X/Y ±50 mm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495DFC-35A6-411E-B097-97AC251E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526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각 조건 10회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FE2781-4568-4064-9FBF-BB114F2E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752600"/>
            <a:ext cx="1666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QR 검출률 · 보정값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99F674-DDBF-44C7-9112-805F6CE2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5505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1A9A18-E029-4383-AA71-7B87B61E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rPr>
              <a:t>회전 편차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817BC7-8200-49B2-BC22-E705F188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95500"/>
            <a:ext cx="100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±θ 조건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11FDD2-3BEE-47D0-9FAE-F55CBD49E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955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각 조건 10회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BB6003-3BF1-4E61-AF23-89DC27D3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95500"/>
            <a:ext cx="1666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각도 오차 · 접근 안정성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FD7AD0-C49A-45AC-B79E-1FD986FD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384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rPr>
              <a:t>PICKUP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A0F580-7C3C-4F3D-B3AD-69C0BDFE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38400"/>
            <a:ext cx="100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좌/우 슬롯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58D0EC-8A2C-45FE-82CF-D0851476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384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LOAD/UNLOAD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18E896-9F0A-48E4-AA7A-D91A00A5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38400"/>
            <a:ext cx="1666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그립 성공 · 간섭 없음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148D5E-FA2E-43B3-A15B-EC259FD8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5505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D0E329-D804-4057-8EF4-5F89ECD3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813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rPr>
              <a:t>PLACE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7BE308-7140-4B11-B9CE-F10061D9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81300"/>
            <a:ext cx="100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좌/우 슬롯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4E615B-06E0-4CDD-911F-B6BB6DB1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813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모델별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52E8D5-1C62-4CBD-9F52-9A33B089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81300"/>
            <a:ext cx="1666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안착 편차 · 완료 신호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AB2E4C-48E0-4A26-9442-AD5C7C04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242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rPr>
              <a:t>환경 변화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6BE0CED-515B-4DE6-96C8-03B39131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24200"/>
            <a:ext cx="100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조도·반사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62A2CCE-5FE0-45CF-986C-85BE81E6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1242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대표 조건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1970898-8130-442D-B0AE-7D6B24DD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24200"/>
            <a:ext cx="1666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검출률 · 재시도율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2618B03-FA1E-48C6-8FC8-AC1ECE7C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0001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B30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0241376-FC40-4CF8-8D9B-D032F832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0001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B309C12-71A0-4530-A626-D29AD67C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000125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정밀도 오차 예산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05006E8-0852-4389-B8BC-B335413A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09700"/>
            <a:ext cx="2857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F1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F61FD67-2130-43B9-A537-2BBF8E11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811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rPr>
              <a:t>카메라·Depth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59A6333-781D-49C3-991C-588CACA0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5811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픽셀/거리 노이즈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54CE3C2-FD0E-4FF5-B1C3-C2455070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05000"/>
            <a:ext cx="2495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1C6CC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2B45C15-20AD-4BEC-8F1A-C7BA550E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812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rPr>
              <a:t>좌표 변환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7B9D69C-303F-462F-B0A1-82F9EAEA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9812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축 방향·스케일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AAAEECF-BFA7-4998-B229-A7EE4388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05050"/>
            <a:ext cx="2495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1C6CC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200413B-D3D8-4E19-94A8-293A4D11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812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rPr>
              <a:t>협동로봇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2B764CD-E927-41D5-AEAF-E59DC1CA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3812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반복도·TCP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0F7A13D-A557-476B-8E45-19C0907D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05100"/>
            <a:ext cx="2495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1C6CC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838FD6C-305B-459E-BBDF-8FCAB84C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813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rPr>
              <a:t>그리퍼/치공구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6C47DA4-F712-4016-B5AF-D8F9DB6E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7813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기구 공차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3162ACA-298C-48A2-8029-82AFF0C2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81350"/>
            <a:ext cx="249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rPr>
              <a:t>최종 작업 정밀도 = 위 항목의 결합 결과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BAE0C95-174C-4648-98E6-7847B947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86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B30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495542A-B1A0-447A-9B8C-D771F543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862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29BA553-4A54-4F9E-ACF8-4F1ABDDF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88620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권장 합격 기준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E544FA5-5BAF-4EBB-B468-51BAE181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0"/>
            <a:ext cx="933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8E66761-ED1E-410B-BEF3-D78C1680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0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검출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C3066D6-6305-42F4-ACD2-7C5051C5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76725"/>
            <a:ext cx="771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시험 위치 전 구간에서 QR 식별 및 유효 Depth 확보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339CB0A-70B5-44B7-8BB7-2A51F7B7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14875"/>
            <a:ext cx="933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8D80DA9-9032-40B9-9DDA-5D0A6678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14875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좌표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9ACBF9A-7142-44CC-92E8-BA333E9D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05350"/>
            <a:ext cx="771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보정값의 부호·크기가 인위 오프셋 방향과 일치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6925111-46F3-4384-B04F-057099B4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43500"/>
            <a:ext cx="933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CC6B3C7-FF5A-4D5F-91BD-89FA7B45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43500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작업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33C5A7E-E29C-4E9C-A071-3598A14D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33975"/>
            <a:ext cx="771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PICKUP / PLACE 성공 및 충돌·과도한 재접근 없음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835DEA7-8D41-4D2D-A6C3-845D8A5B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72125"/>
            <a:ext cx="933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B30"/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29BB264-75B2-404C-9AC2-7A05960F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72125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반복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127E959-8076-4CFD-B109-4957BFD7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62600"/>
            <a:ext cx="771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동일 조건의 최종 안착 편차가 고객 요구 공차 이내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327D885-7ED3-46F6-A192-A222D8F0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43625"/>
            <a:ext cx="881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B30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406AFB4-5D22-4846-9AB2-BEB650B8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00775"/>
            <a:ext cx="842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POC 결과로 카메라 시야, 허용 오프셋, 재시도 기준, 포트·모델 보정값을 확정한 뒤 양산 기준서에 반영</a:t>
            </a:r>
          </a:p>
        </p:txBody>
      </p:sp>
    </p:spTree>
    <p:extLst>
      <p:ext uri="{BB962C8B-B14F-4D97-AF65-F5344CB8AC3E}">
        <p14:creationId xmlns:p14="http://schemas.microsoft.com/office/powerpoint/2010/main" val="15563948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2026-10-04T13:42:50.8540000Z</dcterms:created>
  <dcterms:modified xsi:type="dcterms:W3CDTF">2026-10-04T13:42:50.8540000Z</dcterms:modified>
</coreProperties>
</file>