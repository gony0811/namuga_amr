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5"/>
  </p:notesMasterIdLst>
  <p:sldIdLst>
    <p:sldId id="371" r:id="rId2"/>
    <p:sldId id="386" r:id="rId3"/>
    <p:sldId id="373" r:id="rId4"/>
    <p:sldId id="387" r:id="rId5"/>
    <p:sldId id="375" r:id="rId6"/>
    <p:sldId id="388" r:id="rId7"/>
    <p:sldId id="393" r:id="rId8"/>
    <p:sldId id="392" r:id="rId9"/>
    <p:sldId id="394" r:id="rId10"/>
    <p:sldId id="380" r:id="rId11"/>
    <p:sldId id="397" r:id="rId12"/>
    <p:sldId id="382" r:id="rId13"/>
    <p:sldId id="383" r:id="rId14"/>
    <p:sldId id="384" r:id="rId15"/>
    <p:sldId id="385" r:id="rId16"/>
    <p:sldId id="296" r:id="rId17"/>
    <p:sldId id="353" r:id="rId18"/>
    <p:sldId id="348" r:id="rId19"/>
    <p:sldId id="341" r:id="rId20"/>
    <p:sldId id="346" r:id="rId21"/>
    <p:sldId id="343" r:id="rId22"/>
    <p:sldId id="307" r:id="rId23"/>
    <p:sldId id="365" r:id="rId24"/>
    <p:sldId id="369" r:id="rId25"/>
    <p:sldId id="361" r:id="rId26"/>
    <p:sldId id="360" r:id="rId27"/>
    <p:sldId id="354" r:id="rId28"/>
    <p:sldId id="362" r:id="rId29"/>
    <p:sldId id="356" r:id="rId30"/>
    <p:sldId id="357" r:id="rId31"/>
    <p:sldId id="358" r:id="rId32"/>
    <p:sldId id="359" r:id="rId33"/>
    <p:sldId id="363" r:id="rId3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37A8C3"/>
    <a:srgbClr val="79C7D9"/>
    <a:srgbClr val="9E6E2E"/>
    <a:srgbClr val="CC0000"/>
    <a:srgbClr val="FF99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19" autoAdjust="0"/>
    <p:restoredTop sz="94660"/>
  </p:normalViewPr>
  <p:slideViewPr>
    <p:cSldViewPr showGuides="1">
      <p:cViewPr varScale="1">
        <p:scale>
          <a:sx n="99" d="100"/>
          <a:sy n="99" d="100"/>
        </p:scale>
        <p:origin x="192" y="79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041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9822B-9FBB-4F9A-B0DD-39EF4D5B1653}" type="datetimeFigureOut">
              <a:rPr lang="ko-KR" altLang="en-US" smtClean="0"/>
              <a:t>2026. 10. 4.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9539A-A4CB-4789-A1D5-0941E3DC2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0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9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" y="2403141"/>
            <a:ext cx="200125" cy="2051718"/>
          </a:xfrm>
          <a:prstGeom prst="rect">
            <a:avLst/>
          </a:prstGeom>
          <a:solidFill>
            <a:srgbClr val="891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-694767" y="3266103"/>
            <a:ext cx="2123210" cy="325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17" b="1">
                <a:solidFill>
                  <a:srgbClr val="891E3A"/>
                </a:solidFill>
              </a:rPr>
              <a:t>www.innorobotics.co.kr</a:t>
            </a:r>
            <a:endParaRPr lang="ko-KR" altLang="en-US" sz="1517" b="1">
              <a:solidFill>
                <a:srgbClr val="891E3A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01757" y="4867777"/>
            <a:ext cx="2502486" cy="793471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552713" y="5661248"/>
            <a:ext cx="280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Under Promise Over Deliver</a:t>
            </a:r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5582929" y="6550223"/>
            <a:ext cx="4410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Copyright@INNOROBOTICS Inc. 2026. All Rights Reserved.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8724820" y="83179"/>
            <a:ext cx="1073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30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/>
          <p:cNvCxnSpPr/>
          <p:nvPr userDrawn="1"/>
        </p:nvCxnSpPr>
        <p:spPr>
          <a:xfrm flipV="1">
            <a:off x="83662" y="810332"/>
            <a:ext cx="9701996" cy="2731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텍스트 개체 틀 32"/>
          <p:cNvSpPr>
            <a:spLocks noGrp="1"/>
          </p:cNvSpPr>
          <p:nvPr>
            <p:ph type="body" sz="quarter" idx="12" hasCustomPrompt="1"/>
          </p:nvPr>
        </p:nvSpPr>
        <p:spPr>
          <a:xfrm>
            <a:off x="1119537" y="192855"/>
            <a:ext cx="603050" cy="2423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lvl1pPr marL="0" indent="0">
              <a:buNone/>
              <a:defRPr lang="ko-KR" altLang="en-US" sz="108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lvl="0"/>
            <a:r>
              <a:rPr lang="ko-KR" altLang="en-US"/>
              <a:t>소제목</a:t>
            </a:r>
          </a:p>
        </p:txBody>
      </p:sp>
      <p:sp>
        <p:nvSpPr>
          <p:cNvPr id="35" name="내용 개체 틀 34"/>
          <p:cNvSpPr>
            <a:spLocks noGrp="1"/>
          </p:cNvSpPr>
          <p:nvPr>
            <p:ph sz="quarter" idx="13" hasCustomPrompt="1"/>
          </p:nvPr>
        </p:nvSpPr>
        <p:spPr>
          <a:xfrm>
            <a:off x="664679" y="1164762"/>
            <a:ext cx="8578321" cy="5400000"/>
          </a:xfrm>
          <a:prstGeom prst="rect">
            <a:avLst/>
          </a:prstGeom>
        </p:spPr>
        <p:txBody>
          <a:bodyPr/>
          <a:lstStyle>
            <a:lvl1pPr>
              <a:defRPr sz="2167" b="1"/>
            </a:lvl1pPr>
            <a:lvl2pPr>
              <a:defRPr sz="1950" b="1"/>
            </a:lvl2pPr>
            <a:lvl3pPr>
              <a:defRPr sz="1733" b="1"/>
            </a:lvl3pPr>
            <a:lvl4pPr>
              <a:defRPr sz="1517" b="1"/>
            </a:lvl4pPr>
            <a:lvl5pPr>
              <a:defRPr sz="1517" b="1"/>
            </a:lvl5pPr>
          </a:lstStyle>
          <a:p>
            <a:pPr lvl="0"/>
            <a:r>
              <a:rPr lang="ko-KR" altLang="en-US"/>
              <a:t>본문 작성</a:t>
            </a:r>
          </a:p>
        </p:txBody>
      </p:sp>
      <p:pic>
        <p:nvPicPr>
          <p:cNvPr id="36" name="그림 35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014" y1="26923" x2="13686" y2="7265"/>
                        <a14:foregroundMark x1="15312" y1="7265" x2="25474" y2="25641"/>
                        <a14:foregroundMark x1="25474" y1="26923" x2="25474" y2="70940"/>
                        <a14:foregroundMark x1="25474" y1="70940" x2="22222" y2="77350"/>
                        <a14:foregroundMark x1="2981" y1="31197" x2="3388" y2="70940"/>
                        <a14:foregroundMark x1="12466" y1="46154" x2="16667" y2="57692"/>
                        <a14:foregroundMark x1="11518" y1="85470" x2="15312" y2="92308"/>
                        <a14:foregroundMark x1="11789" y1="44017" x2="16667" y2="40171"/>
                        <a14:foregroundMark x1="17615" y1="42308" x2="13144" y2="61538"/>
                        <a14:foregroundMark x1="11518" y1="82051" x2="18293" y2="91453"/>
                        <a14:foregroundMark x1="36585" y1="18376" x2="36179" y2="61966"/>
                        <a14:foregroundMark x1="45935" y1="61966" x2="45393" y2="16667"/>
                        <a14:foregroundMark x1="87263" y1="18376" x2="82791" y2="32906"/>
                        <a14:foregroundMark x1="34959" y1="78205" x2="35772" y2="87179"/>
                        <a14:foregroundMark x1="47832" y1="82479" x2="47832" y2="82479"/>
                        <a14:foregroundMark x1="54336" y1="82479" x2="54336" y2="82479"/>
                        <a14:foregroundMark x1="66531" y1="82479" x2="66531" y2="82479"/>
                        <a14:foregroundMark x1="72358" y1="81197" x2="72358" y2="81197"/>
                        <a14:foregroundMark x1="79539" y1="79060" x2="79539" y2="79060"/>
                        <a14:foregroundMark x1="89295" y1="79487" x2="89295" y2="79487"/>
                        <a14:foregroundMark x1="97290" y1="87179" x2="97290" y2="87179"/>
                        <a14:backgroundMark x1="36450" y1="80342" x2="36450" y2="80342"/>
                        <a14:backgroundMark x1="54878" y1="86752" x2="54878" y2="86752"/>
                        <a14:backgroundMark x1="54878" y1="77778" x2="54878" y2="7777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6695" y="413891"/>
            <a:ext cx="1143541" cy="334695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9789537" y="4722112"/>
            <a:ext cx="116463" cy="1473481"/>
          </a:xfrm>
          <a:prstGeom prst="rect">
            <a:avLst/>
          </a:prstGeom>
          <a:solidFill>
            <a:srgbClr val="891E3A"/>
          </a:solidFill>
          <a:ln>
            <a:solidFill>
              <a:srgbClr val="891E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13" name="TextBox 12"/>
          <p:cNvSpPr txBox="1"/>
          <p:nvPr userDrawn="1"/>
        </p:nvSpPr>
        <p:spPr>
          <a:xfrm rot="16200000">
            <a:off x="8864123" y="5329361"/>
            <a:ext cx="1584088" cy="258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83" b="1">
                <a:solidFill>
                  <a:srgbClr val="891E3A"/>
                </a:solidFill>
              </a:rPr>
              <a:t>www.innorobotics.co.kr</a:t>
            </a:r>
            <a:endParaRPr lang="ko-KR" altLang="en-US" sz="1083" b="1">
              <a:solidFill>
                <a:srgbClr val="891E3A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722303" y="6233"/>
            <a:ext cx="1073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8231246" y="802191"/>
            <a:ext cx="1674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Perfect</a:t>
            </a:r>
            <a:r>
              <a:rPr lang="en-US" altLang="ko-KR" sz="1400" baseline="0" dirty="0">
                <a:solidFill>
                  <a:schemeClr val="bg1">
                    <a:lumMod val="50000"/>
                  </a:schemeClr>
                </a:solidFill>
              </a:rPr>
              <a:t> No.1 Partner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4"/>
          </p:nvPr>
        </p:nvSpPr>
        <p:spPr>
          <a:xfrm>
            <a:off x="7264400" y="6356351"/>
            <a:ext cx="2311400" cy="365125"/>
          </a:xfrm>
        </p:spPr>
        <p:txBody>
          <a:bodyPr/>
          <a:lstStyle/>
          <a:p>
            <a:fld id="{869D38BF-033B-430D-8161-2CB3A99929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29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07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6" r:id="rId2"/>
    <p:sldLayoutId id="2147483688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397000"/>
            <a:ext cx="8128000" cy="1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800" b="1" dirty="0"/>
              <a:t>HD현대중공업 LNG 화물창 용접검사로봇</a:t>
            </a:r>
          </a:p>
          <a:p>
            <a:pPr algn="ctr"/>
            <a:r>
              <a:rPr lang="ko-KR" altLang="en-US" sz="2800" b="1" dirty="0"/>
              <a:t>시스템 개요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889000" y="2946400"/>
            <a:ext cx="81280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404040"/>
                </a:solidFill>
              </a:rPr>
              <a:t>제어 구성 · 주요 기능 · 운영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4038600"/>
            <a:ext cx="81280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000" b="1" dirty="0" err="1"/>
              <a:t>이노로보틱스</a:t>
            </a:r>
            <a:r>
              <a:rPr lang="ko-KR" altLang="en-US" sz="2000" b="1" dirty="0"/>
              <a:t> /  2026. 10. 06</a:t>
            </a:r>
          </a:p>
        </p:txBody>
      </p:sp>
    </p:spTree>
    <p:extLst>
      <p:ext uri="{BB962C8B-B14F-4D97-AF65-F5344CB8AC3E}">
        <p14:creationId xmlns:p14="http://schemas.microsoft.com/office/powerpoint/2010/main" val="168169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210312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14630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9B1B3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9476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62626"/>
                </a:solidFill>
              </a:rPr>
              <a:t>시스템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40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95959"/>
                </a:solidFill>
              </a:rPr>
              <a:t>관제 · 로봇 · 검사 S/W 역할 분담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9192" y="1325880"/>
            <a:ext cx="210312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43784" y="14630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9B1B3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19476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62626"/>
                </a:solidFill>
              </a:rPr>
              <a:t>센서 및 제어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3784" y="2240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95959"/>
                </a:solidFill>
              </a:rPr>
              <a:t>제어 계층과 센서 헤드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46904" y="1325880"/>
            <a:ext cx="210312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11496" y="14630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9B1B30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9476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62626"/>
                </a:solidFill>
              </a:rPr>
              <a:t>위치 보정 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240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95959"/>
                </a:solidFill>
              </a:rPr>
              <a:t>도면 좌표에서 실제 용접선까지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14616" y="1325880"/>
            <a:ext cx="210312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9208" y="14630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9B1B30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19476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62626"/>
                </a:solidFill>
              </a:rPr>
              <a:t>검사 시퀀스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22402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95959"/>
                </a:solidFill>
              </a:rPr>
              <a:t>정차 1회에 수행하는 18단계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71800"/>
            <a:ext cx="210312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3108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9B1B30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5935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62626"/>
                </a:solidFill>
              </a:rPr>
              <a:t>검사 계획 작성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8862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95959"/>
                </a:solidFill>
              </a:rPr>
              <a:t>면 · Area · Task 구조와 작성 절차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9192" y="2971800"/>
            <a:ext cx="210312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43784" y="3108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9B1B30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3784" y="35935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62626"/>
                </a:solidFill>
              </a:rPr>
              <a:t>현장 운영 절차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784" y="38862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95959"/>
                </a:solidFill>
              </a:rPr>
              <a:t>작업자 · 관제 · 로봇의 운영 흐름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46904" y="2971800"/>
            <a:ext cx="210312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1496" y="3108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9B1B30"/>
                </a:solidFill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35935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62626"/>
                </a:solidFill>
              </a:rPr>
              <a:t>이상 상황 대응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38862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95959"/>
                </a:solidFill>
              </a:rPr>
              <a:t>안전 정지 · 재시도 · 재개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14616" y="2971800"/>
            <a:ext cx="2103120" cy="141732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79208" y="31089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35935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</a:rPr>
              <a:t>사전 검증 · PoC 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38862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</a:rPr>
              <a:t>LAB 10/02~10/12 · FIELD 10/13~10/23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617720"/>
            <a:ext cx="8906256" cy="132588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9B1B30"/>
                </a:solidFill>
              </a:rPr>
              <a:t>이 자료의 목적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102352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</a:rPr>
              <a:t>검사 로봇이 보는 것, 움직이는 방식, 운영자의 역할을 순서대로 설명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</a:rPr>
              <a:t>H/W 사양은 생략, 센서 · 제어 구성 / 검사 시퀀스 / 검사 계획 / 운영 절차 중심</a:t>
            </a:r>
          </a:p>
        </p:txBody>
      </p:sp>
    </p:spTree>
    <p:extLst>
      <p:ext uri="{BB962C8B-B14F-4D97-AF65-F5344CB8AC3E}">
        <p14:creationId xmlns:p14="http://schemas.microsoft.com/office/powerpoint/2010/main" val="60466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검사 대상과 로봇 구성</a:t>
            </a:r>
          </a:p>
        </p:txBody>
      </p:sp>
      <p:pic>
        <p:nvPicPr>
          <p:cNvPr id="3" name="Picture 2" descr="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14729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314729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LAB 시험 중인 검사 로봇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726210" y="1572768"/>
            <a:ext cx="3015447" cy="1059058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0490" y="2586106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87377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262626"/>
                </a:solidFill>
              </a:rPr>
              <a:t>센서 헤드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7377" y="1691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조명 · 카메라 · 레이저 · Depth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3345" y="1876349"/>
            <a:ext cx="2008312" cy="427939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87625" y="1830629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7377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262626"/>
                </a:solidFill>
              </a:rPr>
              <a:t>협동로봇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7377" y="2423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FAIRINO FR · 검사 자세 제어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169" y="2863901"/>
            <a:ext cx="1221488" cy="171907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474449" y="2818181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87377" y="2880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dirty="0" err="1">
                <a:solidFill>
                  <a:srgbClr val="262626"/>
                </a:solidFill>
              </a:rPr>
              <a:t>코봇</a:t>
            </a:r>
            <a:r>
              <a:rPr sz="1300" b="1" dirty="0">
                <a:solidFill>
                  <a:srgbClr val="262626"/>
                </a:solidFill>
              </a:rPr>
              <a:t> </a:t>
            </a:r>
            <a:r>
              <a:rPr sz="1300" b="1" dirty="0" err="1">
                <a:solidFill>
                  <a:srgbClr val="262626"/>
                </a:solidFill>
              </a:rPr>
              <a:t>베이스</a:t>
            </a:r>
            <a:r>
              <a:rPr lang="en-US" sz="1300" b="1" dirty="0">
                <a:solidFill>
                  <a:srgbClr val="262626"/>
                </a:solidFill>
              </a:rPr>
              <a:t> </a:t>
            </a:r>
            <a:r>
              <a:rPr lang="en-US" altLang="ko-KR" sz="1300" b="1" dirty="0">
                <a:solidFill>
                  <a:srgbClr val="262626"/>
                </a:solidFill>
              </a:rPr>
              <a:t>(</a:t>
            </a:r>
            <a:r>
              <a:rPr lang="ko-KR" altLang="en-US" sz="1300" b="1" dirty="0">
                <a:solidFill>
                  <a:srgbClr val="262626"/>
                </a:solidFill>
              </a:rPr>
              <a:t>리프트 컬럼</a:t>
            </a:r>
            <a:r>
              <a:rPr lang="en-US" altLang="ko-KR" sz="1300" b="1" dirty="0">
                <a:solidFill>
                  <a:srgbClr val="262626"/>
                </a:solidFill>
              </a:rPr>
              <a:t>)</a:t>
            </a:r>
            <a:endParaRPr sz="1300" b="1" dirty="0">
              <a:solidFill>
                <a:srgbClr val="26262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87377" y="3154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dirty="0" err="1">
                <a:solidFill>
                  <a:srgbClr val="595959"/>
                </a:solidFill>
              </a:rPr>
              <a:t>높이</a:t>
            </a:r>
            <a:r>
              <a:rPr sz="1000" b="0" dirty="0">
                <a:solidFill>
                  <a:srgbClr val="595959"/>
                </a:solidFill>
              </a:rPr>
              <a:t> </a:t>
            </a:r>
            <a:r>
              <a:rPr lang="ko-KR" altLang="en-US" sz="1000" b="0" dirty="0">
                <a:solidFill>
                  <a:srgbClr val="595959"/>
                </a:solidFill>
              </a:rPr>
              <a:t> </a:t>
            </a:r>
            <a:r>
              <a:rPr lang="en-US" altLang="ko-KR" sz="1000" b="0" dirty="0">
                <a:solidFill>
                  <a:srgbClr val="595959"/>
                </a:solidFill>
              </a:rPr>
              <a:t>= Min. </a:t>
            </a:r>
            <a:r>
              <a:rPr sz="1000" b="0" dirty="0">
                <a:solidFill>
                  <a:srgbClr val="595959"/>
                </a:solidFill>
              </a:rPr>
              <a:t>1,650 mm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771953" y="3767328"/>
            <a:ext cx="969704" cy="1318565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26233" y="5040173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87377" y="3611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262626"/>
                </a:solidFill>
              </a:rPr>
              <a:t>통합 제어기 · 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7377" y="3886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시퀀스 실행 · 안전 인터록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677534" y="4498848"/>
            <a:ext cx="1064123" cy="1327709"/>
          </a:xfrm>
          <a:prstGeom prst="line">
            <a:avLst/>
          </a:prstGeom>
          <a:ln w="1270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631814" y="5780837"/>
            <a:ext cx="91440" cy="9144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7377" y="4343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262626"/>
                </a:solidFill>
              </a:rPr>
              <a:t>자율주행 AMR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7377" y="4617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TARS-M · LiDAR SLAM 주행</a:t>
            </a:r>
          </a:p>
        </p:txBody>
      </p:sp>
      <p:sp>
        <p:nvSpPr>
          <p:cNvPr id="25" name="Freeform 24"/>
          <p:cNvSpPr/>
          <p:nvPr/>
        </p:nvSpPr>
        <p:spPr>
          <a:xfrm>
            <a:off x="5989320" y="1417320"/>
            <a:ext cx="3017520" cy="2514600"/>
          </a:xfrm>
          <a:custGeom>
            <a:avLst/>
            <a:gdLst/>
            <a:ahLst/>
            <a:cxnLst/>
            <a:rect l="l" t="t" r="r" b="b"/>
            <a:pathLst>
              <a:path w="3017520" h="2514600">
                <a:moveTo>
                  <a:pt x="731520" y="0"/>
                </a:moveTo>
                <a:lnTo>
                  <a:pt x="2286000" y="0"/>
                </a:lnTo>
                <a:lnTo>
                  <a:pt x="3017520" y="685800"/>
                </a:lnTo>
                <a:lnTo>
                  <a:pt x="3017520" y="1828800"/>
                </a:lnTo>
                <a:lnTo>
                  <a:pt x="2286000" y="2514600"/>
                </a:lnTo>
                <a:lnTo>
                  <a:pt x="731520" y="2514600"/>
                </a:lnTo>
                <a:lnTo>
                  <a:pt x="0" y="1828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6E8EB"/>
          </a:solidFill>
          <a:ln w="2540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6007608" y="2045970"/>
            <a:ext cx="2980944" cy="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07608" y="2674620"/>
            <a:ext cx="2980944" cy="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07608" y="3303270"/>
            <a:ext cx="2980944" cy="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0" y="116128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9B1B30"/>
                </a:solidFill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977640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9B1B30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1531620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9B1B30"/>
                </a:solidFill>
              </a:rPr>
              <a:t>SU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2564892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9B1B30"/>
                </a:solidFill>
              </a:rPr>
              <a:t>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360730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9B1B30"/>
                </a:solidFill>
              </a:rPr>
              <a:t>SL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8152" y="1531620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9B1B30"/>
                </a:solidFill>
              </a:rPr>
              <a:t>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2564892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9B1B30"/>
                </a:solidFill>
              </a:rPr>
              <a:t>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88152" y="360730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9B1B30"/>
                </a:solidFill>
              </a:rPr>
              <a:t>PL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290572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>
                <a:solidFill>
                  <a:srgbClr val="9B1B30"/>
                </a:solidFill>
              </a:rPr>
              <a:t>A</a:t>
            </a:r>
            <a:r>
              <a:rPr sz="1100" b="0">
                <a:solidFill>
                  <a:srgbClr val="262626"/>
                </a:solidFill>
              </a:rPr>
              <a:t> 후방격벽 · </a:t>
            </a:r>
            <a:r>
              <a:rPr sz="1100" b="1">
                <a:solidFill>
                  <a:srgbClr val="9B1B30"/>
                </a:solidFill>
              </a:rPr>
              <a:t>F</a:t>
            </a:r>
            <a:r>
              <a:rPr sz="1100" b="0">
                <a:solidFill>
                  <a:srgbClr val="262626"/>
                </a:solidFill>
              </a:rPr>
              <a:t> 전방격벽</a:t>
            </a:r>
          </a:p>
          <a:p>
            <a:pPr algn="ctr"/>
            <a:r>
              <a:rPr sz="1100" b="0">
                <a:solidFill>
                  <a:srgbClr val="262626"/>
                </a:solidFill>
              </a:rPr>
              <a:t>4개 층으로 나누어 검사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22452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>
                <a:solidFill>
                  <a:srgbClr val="595959"/>
                </a:solidFill>
              </a:rPr>
              <a:t>화물창 단면 개념도 (S 우현 · P 좌현 · U 상부경사 · M 수직 · L 하부경사)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4617720"/>
            <a:ext cx="1261872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40680" y="47091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700" b="1">
                <a:solidFill>
                  <a:srgbClr val="9B1B30"/>
                </a:solidFill>
              </a:rPr>
              <a:t>10개 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512064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면별 u,v 좌표로 위치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4617720"/>
            <a:ext cx="1261872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12280" y="47091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700" b="1">
                <a:solidFill>
                  <a:srgbClr val="9B1B30"/>
                </a:solidFill>
              </a:rPr>
              <a:t>4개 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12064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층 단위 지도 · 미션, 층간 이동은 엘리베이터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4617720"/>
            <a:ext cx="1261872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80" y="47091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700" b="1">
                <a:solidFill>
                  <a:srgbClr val="9B1B30"/>
                </a:solidFill>
              </a:rPr>
              <a:t>Area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512064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1회 정차로 검사하는 1440 × 1440 mm 영역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시스템 구성과 역할 분담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600200"/>
            <a:ext cx="2697480" cy="77724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관제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299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</a:rPr>
              <a:t>HD-ACS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37744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9B1B30"/>
                </a:solidFill>
              </a:rPr>
              <a:t>어디서 · 무엇을 · 어떤 순서로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299923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도면 기반 검사 계획 (Area · Task)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41071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검사 지시 · 진행 모니터링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382219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층 전환 · 중단 / 이어하기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423367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비상정지 · 알람 · 이력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600200"/>
            <a:ext cx="2697480" cy="77724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1691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로봇 통합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0299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</a:rPr>
              <a:t>HD-AMR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37744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20" y="25146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404040"/>
                </a:solidFill>
              </a:rPr>
              <a:t>어떻게</a:t>
            </a:r>
          </a:p>
        </p:txBody>
      </p:sp>
      <p:sp>
        <p:nvSpPr>
          <p:cNvPr id="21" name="Oval 20"/>
          <p:cNvSpPr/>
          <p:nvPr/>
        </p:nvSpPr>
        <p:spPr>
          <a:xfrm>
            <a:off x="3721608" y="2999232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2926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주행 · 코봇 · 센서 시퀀스 실행</a:t>
            </a:r>
          </a:p>
        </p:txBody>
      </p:sp>
      <p:sp>
        <p:nvSpPr>
          <p:cNvPr id="23" name="Oval 22"/>
          <p:cNvSpPr/>
          <p:nvPr/>
        </p:nvSpPr>
        <p:spPr>
          <a:xfrm>
            <a:off x="3721608" y="3410712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8620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위치 보정 · 용접선 좌표계 등록</a:t>
            </a:r>
          </a:p>
        </p:txBody>
      </p:sp>
      <p:sp>
        <p:nvSpPr>
          <p:cNvPr id="25" name="Oval 24"/>
          <p:cNvSpPr/>
          <p:nvPr/>
        </p:nvSpPr>
        <p:spPr>
          <a:xfrm>
            <a:off x="3721608" y="3822192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86200" y="3749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촬영 요청 · 결과 보고</a:t>
            </a:r>
          </a:p>
        </p:txBody>
      </p:sp>
      <p:sp>
        <p:nvSpPr>
          <p:cNvPr id="27" name="Oval 26"/>
          <p:cNvSpPr/>
          <p:nvPr/>
        </p:nvSpPr>
        <p:spPr>
          <a:xfrm>
            <a:off x="3721608" y="4233672"/>
            <a:ext cx="73152" cy="7315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6200" y="4160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안전 인터록 (E-Stop · 통신 단절 등)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1600200"/>
            <a:ext cx="2697480" cy="7772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1691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검사 S/W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0299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</a:rPr>
              <a:t>우리엔 · SAIGE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237744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12280" y="25146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262626"/>
                </a:solidFill>
              </a:rPr>
              <a:t>판정</a:t>
            </a:r>
          </a:p>
        </p:txBody>
      </p:sp>
      <p:sp>
        <p:nvSpPr>
          <p:cNvPr id="34" name="Oval 33"/>
          <p:cNvSpPr/>
          <p:nvPr/>
        </p:nvSpPr>
        <p:spPr>
          <a:xfrm>
            <a:off x="6830568" y="2999232"/>
            <a:ext cx="73152" cy="7315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60" y="2926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검사 카메라 촬영 · 저장</a:t>
            </a:r>
          </a:p>
        </p:txBody>
      </p:sp>
      <p:sp>
        <p:nvSpPr>
          <p:cNvPr id="36" name="Oval 35"/>
          <p:cNvSpPr/>
          <p:nvPr/>
        </p:nvSpPr>
        <p:spPr>
          <a:xfrm>
            <a:off x="6830568" y="3410712"/>
            <a:ext cx="73152" cy="7315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6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용접부 결함 판정</a:t>
            </a:r>
          </a:p>
        </p:txBody>
      </p:sp>
      <p:sp>
        <p:nvSpPr>
          <p:cNvPr id="38" name="Oval 37"/>
          <p:cNvSpPr/>
          <p:nvPr/>
        </p:nvSpPr>
        <p:spPr>
          <a:xfrm>
            <a:off x="6830568" y="3822192"/>
            <a:ext cx="73152" cy="73152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95160" y="37490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262626"/>
                </a:solidFill>
              </a:rPr>
              <a:t>판정 결과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1188720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1">
                <a:solidFill>
                  <a:srgbClr val="9B1B30"/>
                </a:solidFill>
              </a:rPr>
              <a:t>이노로보틱스 범위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11480" y="1463040"/>
            <a:ext cx="5806440" cy="0"/>
          </a:xfrm>
          <a:prstGeom prst="line">
            <a:avLst/>
          </a:prstGeom>
          <a:ln w="15875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29400" y="118872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1">
                <a:solidFill>
                  <a:srgbClr val="595959"/>
                </a:solidFill>
              </a:rPr>
              <a:t>검사 S/W 업체 범위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29400" y="1463040"/>
            <a:ext cx="269748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127248" y="2697480"/>
            <a:ext cx="374904" cy="0"/>
          </a:xfrm>
          <a:prstGeom prst="line">
            <a:avLst/>
          </a:prstGeom>
          <a:ln w="2857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127248" y="3063240"/>
            <a:ext cx="374904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236208" y="2697480"/>
            <a:ext cx="37490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236208" y="3063240"/>
            <a:ext cx="374904" cy="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11480" y="4937760"/>
            <a:ext cx="8915400" cy="68580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983480"/>
            <a:ext cx="85953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B1B30"/>
                </a:solidFill>
              </a:rPr>
              <a:t>관제 → 로봇  </a:t>
            </a:r>
            <a:r>
              <a:rPr sz="1200" b="0">
                <a:solidFill>
                  <a:srgbClr val="262626"/>
                </a:solidFill>
              </a:rPr>
              <a:t>검사할 Area와 순서 지시 (VDA 5050 / MQTT, WiFi)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404040"/>
                </a:solidFill>
              </a:rPr>
              <a:t>로봇 → 검사 S/W  </a:t>
            </a:r>
            <a:r>
              <a:rPr sz="1200" b="0">
                <a:solidFill>
                  <a:srgbClr val="262626"/>
                </a:solidFill>
              </a:rPr>
              <a:t>촬영 요청 (면 ID · 위치)  →  촬영 완료 / 실패 응답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715000"/>
            <a:ext cx="8915400" cy="45720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관제는 Area · Task별 “촬영 여부”만 관리, 판정 결과는 검사 S/W에서 확인</a:t>
            </a:r>
          </a:p>
        </p:txBody>
      </p:sp>
    </p:spTree>
    <p:extLst>
      <p:ext uri="{BB962C8B-B14F-4D97-AF65-F5344CB8AC3E}">
        <p14:creationId xmlns:p14="http://schemas.microsoft.com/office/powerpoint/2010/main" val="146828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제어 구성도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2743200" cy="86868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관제 서버  HD-ACS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이동식 · 폐쇄망 · 관제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234440"/>
            <a:ext cx="274320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400" b="1" dirty="0" err="1">
                <a:solidFill>
                  <a:srgbClr val="262626"/>
                </a:solidFill>
              </a:rPr>
              <a:t>검사</a:t>
            </a:r>
            <a:r>
              <a:rPr sz="1400" b="1" dirty="0">
                <a:solidFill>
                  <a:srgbClr val="262626"/>
                </a:solidFill>
              </a:rPr>
              <a:t> S/W</a:t>
            </a:r>
          </a:p>
          <a:p>
            <a:pPr algn="ctr"/>
            <a:r>
              <a:rPr sz="1100" b="0" dirty="0" err="1">
                <a:solidFill>
                  <a:srgbClr val="262626"/>
                </a:solidFill>
              </a:rPr>
              <a:t>우리엔</a:t>
            </a:r>
            <a:r>
              <a:rPr sz="1100" b="0" dirty="0">
                <a:solidFill>
                  <a:srgbClr val="262626"/>
                </a:solidFill>
              </a:rPr>
              <a:t> (</a:t>
            </a:r>
            <a:r>
              <a:rPr sz="1100" b="0" dirty="0" err="1">
                <a:solidFill>
                  <a:srgbClr val="262626"/>
                </a:solidFill>
              </a:rPr>
              <a:t>촬영</a:t>
            </a:r>
            <a:r>
              <a:rPr sz="1100" b="0" dirty="0">
                <a:solidFill>
                  <a:srgbClr val="262626"/>
                </a:solidFill>
              </a:rPr>
              <a:t> · </a:t>
            </a:r>
            <a:r>
              <a:rPr sz="1100" b="0" dirty="0" err="1">
                <a:solidFill>
                  <a:srgbClr val="262626"/>
                </a:solidFill>
              </a:rPr>
              <a:t>판정</a:t>
            </a:r>
            <a:r>
              <a:rPr sz="1100" b="0" dirty="0">
                <a:solidFill>
                  <a:srgbClr val="262626"/>
                </a:solidFill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2468880"/>
            <a:ext cx="9052560" cy="37490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5420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595959"/>
                </a:solidFill>
              </a:rPr>
              <a:t>검사 로봇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697480"/>
            <a:ext cx="2651760" cy="77724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통합 제어기  HD-AMR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18단계 검사 시퀀스 · 안전 인터록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103120"/>
            <a:ext cx="0" cy="978408"/>
          </a:xfrm>
          <a:prstGeom prst="line">
            <a:avLst/>
          </a:prstGeom>
          <a:ln w="25400">
            <a:solidFill>
              <a:srgbClr val="9B1B3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83080" y="3081528"/>
            <a:ext cx="1737360" cy="0"/>
          </a:xfrm>
          <a:prstGeom prst="line">
            <a:avLst/>
          </a:prstGeom>
          <a:ln w="25400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9B1B30"/>
                </a:solidFill>
              </a:rPr>
              <a:t>WiFi</a:t>
            </a:r>
          </a:p>
          <a:p>
            <a:pPr algn="l"/>
            <a:r>
              <a:rPr sz="1000" b="1">
                <a:solidFill>
                  <a:srgbClr val="9B1B30"/>
                </a:solidFill>
              </a:rPr>
              <a:t>VDA 5050 (MQTT)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103120"/>
            <a:ext cx="0" cy="978408"/>
          </a:xfrm>
          <a:prstGeom prst="line">
            <a:avLst/>
          </a:prstGeom>
          <a:ln w="25400">
            <a:solidFill>
              <a:srgbClr val="595959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172200" y="3081528"/>
            <a:ext cx="86868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78040" y="26974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595959"/>
                </a:solidFill>
              </a:rPr>
              <a:t>TCP</a:t>
            </a:r>
          </a:p>
          <a:p>
            <a:pPr algn="l"/>
            <a:r>
              <a:rPr sz="1000" b="1">
                <a:solidFill>
                  <a:srgbClr val="595959"/>
                </a:solidFill>
              </a:rPr>
              <a:t>촬영 요청 / 응답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474720"/>
            <a:ext cx="0" cy="41148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1220724" y="3886200"/>
            <a:ext cx="5815584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" y="4206240"/>
            <a:ext cx="13441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4297680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AMR 베이스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90288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dirty="0">
                <a:solidFill>
                  <a:srgbClr val="595959"/>
                </a:solidFill>
              </a:rPr>
              <a:t>ROBINNO-M</a:t>
            </a:r>
            <a:endParaRPr sz="1000" b="0" dirty="0">
              <a:solidFill>
                <a:srgbClr val="595959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" y="4919472"/>
            <a:ext cx="1124712" cy="27432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" altLang="ko-KR" sz="1000" b="1" dirty="0">
                <a:solidFill>
                  <a:srgbClr val="9B1B30"/>
                </a:solidFill>
              </a:rPr>
              <a:t>Modbus TCP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303520"/>
            <a:ext cx="119786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주행 · SLAM 위치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세이프티 라이다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20724" y="3886200"/>
            <a:ext cx="0" cy="3200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002536" y="4206240"/>
            <a:ext cx="13441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75688" y="4297680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협동로봇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4590288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95959"/>
                </a:solidFill>
              </a:rPr>
              <a:t>FAIRINO FR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12264" y="4919472"/>
            <a:ext cx="1124712" cy="27432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dirty="0">
                <a:solidFill>
                  <a:srgbClr val="9B1B30"/>
                </a:solidFill>
              </a:rPr>
              <a:t>XML-RPC · TCP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5303520"/>
            <a:ext cx="119786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검사 자세 · 궤적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74620" y="3886200"/>
            <a:ext cx="0" cy="3200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456432" y="4206240"/>
            <a:ext cx="13441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9584" y="4297680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Depth 카메라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4590288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95959"/>
                </a:solidFill>
              </a:rPr>
              <a:t>RealSense D435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919472"/>
            <a:ext cx="1124712" cy="27432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USB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9584" y="5303520"/>
            <a:ext cx="119786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거리 정렬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평탄면 탐색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28516" y="3886200"/>
            <a:ext cx="0" cy="3200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910328" y="4206240"/>
            <a:ext cx="13441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4297680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레이저 변위센서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590288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95959"/>
                </a:solidFill>
              </a:rPr>
              <a:t>OMRON ZP ×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4919472"/>
            <a:ext cx="1124712" cy="27432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EtherNet/IP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5303520"/>
            <a:ext cx="119786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면 기울기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작동 거리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82412" y="3886200"/>
            <a:ext cx="0" cy="3200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364224" y="4206240"/>
            <a:ext cx="13441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37376" y="4297680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I/O 모듈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4590288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95959"/>
                </a:solidFill>
              </a:rPr>
              <a:t>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73952" y="4919472"/>
            <a:ext cx="1124712" cy="27432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dirty="0">
                <a:solidFill>
                  <a:srgbClr val="9B1B30"/>
                </a:solidFill>
              </a:rPr>
              <a:t>Modbus TCP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5303520"/>
            <a:ext cx="119786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버튼 · 경광등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부저 · E-Stop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36308" y="3886200"/>
            <a:ext cx="0" cy="3200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818120" y="4206240"/>
            <a:ext cx="13441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91272" y="4297680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262626"/>
                </a:solidFill>
              </a:rPr>
              <a:t>검사 카메라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4590288"/>
            <a:ext cx="11978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595959"/>
                </a:solidFill>
              </a:rPr>
              <a:t>카메라 + 링 조명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27848" y="4919472"/>
            <a:ext cx="1124712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595959"/>
                </a:solidFill>
              </a:rPr>
              <a:t>검사 S/W 제어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2" y="5303520"/>
            <a:ext cx="119786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용접부 촬영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8490204" y="2103120"/>
            <a:ext cx="0" cy="2103120"/>
          </a:xfrm>
          <a:prstGeom prst="line">
            <a:avLst/>
          </a:prstGeom>
          <a:ln w="1905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센서 헤드 구성</a:t>
            </a:r>
          </a:p>
        </p:txBody>
      </p:sp>
      <p:pic>
        <p:nvPicPr>
          <p:cNvPr id="3" name="Picture 2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70424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370424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코봇 끝단 센서 헤드 (LAB)</a:t>
            </a:r>
          </a:p>
        </p:txBody>
      </p:sp>
      <p:sp>
        <p:nvSpPr>
          <p:cNvPr id="5" name="Oval 4"/>
          <p:cNvSpPr/>
          <p:nvPr/>
        </p:nvSpPr>
        <p:spPr>
          <a:xfrm>
            <a:off x="2988030" y="2501798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765775" y="3834994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580417" y="4723790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876610" y="4526280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1271016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344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링 조명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용접부를 균일하게 비춰 금속면 난반사를 줄임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252728"/>
            <a:ext cx="132588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검사 촬영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2057400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20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검사 카메라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9514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용접부 촬영 (작동 거리 400 mm · 시야 30 mm), 영상은 검사 S/W로 전달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039112"/>
            <a:ext cx="132588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검사 촬영</a:t>
            </a:r>
          </a:p>
        </p:txBody>
      </p:sp>
      <p:sp>
        <p:nvSpPr>
          <p:cNvPr id="17" name="Oval 16"/>
          <p:cNvSpPr/>
          <p:nvPr/>
        </p:nvSpPr>
        <p:spPr>
          <a:xfrm>
            <a:off x="4389120" y="2843784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072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레이저 변위센서 ×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815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세 점의 거리로 벽면 기울기(rx, ry)와 거리(z)를 측정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825496"/>
            <a:ext cx="132588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평탄면 정렬 · 작동 거리 조정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3630168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5935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Depth 카메라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86791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깊이 영상으로 벽면까지 거리와 평탄 영역을 찾음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3611880"/>
            <a:ext cx="132588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카메라 거리 정렬 · 평탄면 탐색</a:t>
            </a:r>
          </a:p>
        </p:txBody>
      </p:sp>
      <p:pic>
        <p:nvPicPr>
          <p:cNvPr id="25" name="Picture 24" descr="laserc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526280"/>
            <a:ext cx="1638561" cy="1645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17920" y="4572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9B1B30"/>
                </a:solidFill>
              </a:rPr>
              <a:t>레이저 3점 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9204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</a:rPr>
              <a:t>세 거리값이 같아지도록 자세를 보정하면 카메라 광축이 벽면에 수직이 됨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</a:rPr>
              <a:t>이후 작동 거리를 일정하게 맞춰 같은 조건으로 촬영</a:t>
            </a:r>
          </a:p>
        </p:txBody>
      </p:sp>
    </p:spTree>
    <p:extLst>
      <p:ext uri="{BB962C8B-B14F-4D97-AF65-F5344CB8AC3E}">
        <p14:creationId xmlns:p14="http://schemas.microsoft.com/office/powerpoint/2010/main" val="2836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위치 보정 원리 — 도면 좌표에서 실제 용접선까지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8915400" cy="7132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481328"/>
            <a:ext cx="310896" cy="310896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8183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도면 좌표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8183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면별 Area · 용접라인 좌표 (선체 CAD)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03120"/>
            <a:ext cx="7772400" cy="7132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2304288"/>
            <a:ext cx="310896" cy="310896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76272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도면 ↔ 지도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선체 기준점(Datum)으로 도면과 SLAM 지도를 맞춤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7700" y="2286000"/>
            <a:ext cx="1244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B1B30"/>
                </a:solidFill>
              </a:rPr>
              <a:t>현장 캘리브레이션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26080"/>
            <a:ext cx="6629400" cy="7132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6928" y="3127248"/>
            <a:ext cx="310896" cy="310896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99232"/>
            <a:ext cx="5897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AMR 주행 · 정차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10128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LiDAR SLAM으로 Area 정차점까지 이동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108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B1B30"/>
                </a:solidFill>
              </a:rPr>
              <a:t>정차 오차 ±100 mm · ±2° 이내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49040"/>
            <a:ext cx="5486400" cy="713232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6928" y="395020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9B1B3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2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</a:rPr>
              <a:t>센서 정렬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</a:rPr>
              <a:t>Depth 거리 정렬 → 레이저 3점 면 정렬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93192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B1B30"/>
                </a:solidFill>
              </a:rPr>
              <a:t>카메라 광축을 벽면에 수직으로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4343400" cy="713232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66928" y="477316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9B1B30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4515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</a:rPr>
              <a:t>용접선 좌표계 등록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5604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</a:rPr>
              <a:t>Peak · Bead 탐색 → 작업물 좌표계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7548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B1B30"/>
                </a:solidFill>
              </a:rPr>
              <a:t>비드 중심 기준 촬영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532120"/>
            <a:ext cx="8915400" cy="64008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/>
            <a:r>
              <a:rPr sz="1200" b="1" dirty="0" err="1">
                <a:solidFill>
                  <a:srgbClr val="9B1B30"/>
                </a:solidFill>
              </a:rPr>
              <a:t>AMR은</a:t>
            </a:r>
            <a:r>
              <a:rPr sz="1200" b="1" dirty="0">
                <a:solidFill>
                  <a:srgbClr val="9B1B30"/>
                </a:solidFill>
              </a:rPr>
              <a:t> Area </a:t>
            </a:r>
            <a:r>
              <a:rPr sz="1200" b="1" dirty="0" err="1">
                <a:solidFill>
                  <a:srgbClr val="9B1B30"/>
                </a:solidFill>
              </a:rPr>
              <a:t>근처에</a:t>
            </a:r>
            <a:r>
              <a:rPr sz="1200" b="1" dirty="0">
                <a:solidFill>
                  <a:srgbClr val="9B1B30"/>
                </a:solidFill>
              </a:rPr>
              <a:t> </a:t>
            </a:r>
            <a:r>
              <a:rPr sz="1200" b="1" dirty="0" err="1">
                <a:solidFill>
                  <a:srgbClr val="9B1B30"/>
                </a:solidFill>
              </a:rPr>
              <a:t>정차</a:t>
            </a:r>
            <a:r>
              <a:rPr sz="1200" b="1" dirty="0">
                <a:solidFill>
                  <a:srgbClr val="9B1B30"/>
                </a:solidFill>
              </a:rPr>
              <a:t>, </a:t>
            </a:r>
            <a:r>
              <a:rPr sz="1200" b="1" dirty="0" err="1">
                <a:solidFill>
                  <a:srgbClr val="9B1B30"/>
                </a:solidFill>
              </a:rPr>
              <a:t>최종</a:t>
            </a:r>
            <a:r>
              <a:rPr sz="1200" b="1" dirty="0">
                <a:solidFill>
                  <a:srgbClr val="9B1B30"/>
                </a:solidFill>
              </a:rPr>
              <a:t> </a:t>
            </a:r>
            <a:r>
              <a:rPr sz="1200" b="1" dirty="0" err="1">
                <a:solidFill>
                  <a:srgbClr val="9B1B30"/>
                </a:solidFill>
              </a:rPr>
              <a:t>위치는</a:t>
            </a:r>
            <a:r>
              <a:rPr sz="1200" b="1" dirty="0">
                <a:solidFill>
                  <a:srgbClr val="9B1B30"/>
                </a:solidFill>
              </a:rPr>
              <a:t> </a:t>
            </a:r>
            <a:r>
              <a:rPr sz="1200" b="1" dirty="0" err="1">
                <a:solidFill>
                  <a:srgbClr val="9B1B30"/>
                </a:solidFill>
              </a:rPr>
              <a:t>센서가</a:t>
            </a:r>
            <a:r>
              <a:rPr sz="1200" b="1" dirty="0">
                <a:solidFill>
                  <a:srgbClr val="9B1B30"/>
                </a:solidFill>
              </a:rPr>
              <a:t> </a:t>
            </a:r>
            <a:r>
              <a:rPr sz="1200" b="1" dirty="0" err="1">
                <a:solidFill>
                  <a:srgbClr val="9B1B30"/>
                </a:solidFill>
              </a:rPr>
              <a:t>실제</a:t>
            </a:r>
            <a:r>
              <a:rPr sz="1200" b="1" dirty="0">
                <a:solidFill>
                  <a:srgbClr val="9B1B30"/>
                </a:solidFill>
              </a:rPr>
              <a:t> </a:t>
            </a:r>
            <a:r>
              <a:rPr sz="1200" b="1" dirty="0" err="1">
                <a:solidFill>
                  <a:srgbClr val="9B1B30"/>
                </a:solidFill>
              </a:rPr>
              <a:t>용접선을</a:t>
            </a:r>
            <a:r>
              <a:rPr sz="1200" b="1" dirty="0">
                <a:solidFill>
                  <a:srgbClr val="9B1B30"/>
                </a:solidFill>
              </a:rPr>
              <a:t> </a:t>
            </a:r>
            <a:r>
              <a:rPr sz="1200" b="1" dirty="0" err="1">
                <a:solidFill>
                  <a:srgbClr val="9B1B30"/>
                </a:solidFill>
              </a:rPr>
              <a:t>찾아</a:t>
            </a:r>
            <a:r>
              <a:rPr sz="1200" b="1" dirty="0">
                <a:solidFill>
                  <a:srgbClr val="9B1B30"/>
                </a:solidFill>
              </a:rPr>
              <a:t> </a:t>
            </a:r>
            <a:r>
              <a:rPr sz="1200" b="1" dirty="0" err="1">
                <a:solidFill>
                  <a:srgbClr val="9B1B30"/>
                </a:solidFill>
              </a:rPr>
              <a:t>맞춤</a:t>
            </a:r>
            <a:r>
              <a:rPr sz="1200" b="1" dirty="0">
                <a:solidFill>
                  <a:srgbClr val="9B1B30"/>
                </a:solidFill>
              </a:rPr>
              <a:t>. </a:t>
            </a:r>
            <a:r>
              <a:rPr sz="1200" b="0" dirty="0" err="1">
                <a:solidFill>
                  <a:srgbClr val="262626"/>
                </a:solidFill>
              </a:rPr>
              <a:t>정차</a:t>
            </a:r>
            <a:r>
              <a:rPr sz="1200" b="0" dirty="0">
                <a:solidFill>
                  <a:srgbClr val="262626"/>
                </a:solidFill>
              </a:rPr>
              <a:t> </a:t>
            </a:r>
            <a:r>
              <a:rPr sz="1200" b="0" dirty="0" err="1">
                <a:solidFill>
                  <a:srgbClr val="262626"/>
                </a:solidFill>
              </a:rPr>
              <a:t>오차는</a:t>
            </a:r>
            <a:r>
              <a:rPr sz="1200" b="0" dirty="0">
                <a:solidFill>
                  <a:srgbClr val="262626"/>
                </a:solidFill>
              </a:rPr>
              <a:t> ④·⑤ </a:t>
            </a:r>
            <a:r>
              <a:rPr sz="1200" b="0" dirty="0" err="1">
                <a:solidFill>
                  <a:srgbClr val="262626"/>
                </a:solidFill>
              </a:rPr>
              <a:t>단계에서</a:t>
            </a:r>
            <a:r>
              <a:rPr sz="1200" b="0" dirty="0">
                <a:solidFill>
                  <a:srgbClr val="262626"/>
                </a:solidFill>
              </a:rPr>
              <a:t> </a:t>
            </a:r>
            <a:r>
              <a:rPr sz="1200" b="0" dirty="0" err="1">
                <a:solidFill>
                  <a:srgbClr val="262626"/>
                </a:solidFill>
              </a:rPr>
              <a:t>흡수</a:t>
            </a:r>
            <a:r>
              <a:rPr sz="1200" b="0" dirty="0">
                <a:solidFill>
                  <a:srgbClr val="26262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06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검사 시퀀스 — 정차 1회당 18단계 자동 수행</a:t>
            </a:r>
          </a:p>
        </p:txBody>
      </p:sp>
      <p:sp>
        <p:nvSpPr>
          <p:cNvPr id="3" name="Pentagon 2"/>
          <p:cNvSpPr/>
          <p:nvPr/>
        </p:nvSpPr>
        <p:spPr>
          <a:xfrm>
            <a:off x="411480" y="1234440"/>
            <a:ext cx="1810512" cy="41148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  이동</a:t>
            </a:r>
          </a:p>
        </p:txBody>
      </p:sp>
      <p:pic>
        <p:nvPicPr>
          <p:cNvPr id="4" name="Picture 3" descr="cam_12.jpg"/>
          <p:cNvPicPr>
            <a:picLocks noChangeAspect="1"/>
          </p:cNvPicPr>
          <p:nvPr/>
        </p:nvPicPr>
        <p:blipFill>
          <a:blip r:embed="rId2"/>
          <a:srcRect l="12800" r="12800"/>
          <a:stretch>
            <a:fillRect/>
          </a:stretch>
        </p:blipFill>
        <p:spPr>
          <a:xfrm>
            <a:off x="411480" y="1755648"/>
            <a:ext cx="1700784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" y="3154680"/>
            <a:ext cx="164592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① AMR 검사위치 이동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② 코봇 검사위치 이동</a:t>
            </a:r>
          </a:p>
        </p:txBody>
      </p:sp>
      <p:sp>
        <p:nvSpPr>
          <p:cNvPr id="6" name="Pentagon 5"/>
          <p:cNvSpPr/>
          <p:nvPr/>
        </p:nvSpPr>
        <p:spPr>
          <a:xfrm>
            <a:off x="2212848" y="1234440"/>
            <a:ext cx="1810512" cy="41148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  정렬</a:t>
            </a:r>
          </a:p>
        </p:txBody>
      </p:sp>
      <p:pic>
        <p:nvPicPr>
          <p:cNvPr id="7" name="Picture 6" descr="cam_31.jpg"/>
          <p:cNvPicPr>
            <a:picLocks noChangeAspect="1"/>
          </p:cNvPicPr>
          <p:nvPr/>
        </p:nvPicPr>
        <p:blipFill>
          <a:blip r:embed="rId3"/>
          <a:srcRect l="12800" r="12800"/>
          <a:stretch>
            <a:fillRect/>
          </a:stretch>
        </p:blipFill>
        <p:spPr>
          <a:xfrm>
            <a:off x="2212848" y="1755648"/>
            <a:ext cx="1700784" cy="128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3154680"/>
            <a:ext cx="164592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③ 카메라 거리 정렬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④ 평탄면 센터링 (레이저)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⑤ 레이저 작동 거리 조정</a:t>
            </a:r>
          </a:p>
        </p:txBody>
      </p:sp>
      <p:sp>
        <p:nvSpPr>
          <p:cNvPr id="9" name="Pentagon 8"/>
          <p:cNvSpPr/>
          <p:nvPr/>
        </p:nvSpPr>
        <p:spPr>
          <a:xfrm>
            <a:off x="4014216" y="1234440"/>
            <a:ext cx="1810512" cy="41148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  기준점 1</a:t>
            </a:r>
          </a:p>
        </p:txBody>
      </p:sp>
      <p:pic>
        <p:nvPicPr>
          <p:cNvPr id="10" name="Picture 9" descr="cam_51.jpg"/>
          <p:cNvPicPr>
            <a:picLocks noChangeAspect="1"/>
          </p:cNvPicPr>
          <p:nvPr/>
        </p:nvPicPr>
        <p:blipFill>
          <a:blip r:embed="rId4"/>
          <a:srcRect l="12800" r="12800"/>
          <a:stretch>
            <a:fillRect/>
          </a:stretch>
        </p:blipFill>
        <p:spPr>
          <a:xfrm>
            <a:off x="4014216" y="1755648"/>
            <a:ext cx="1700784" cy="1280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41648" y="3154680"/>
            <a:ext cx="164592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⑥ Peak1 찾기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⑦ Peak1 센터링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⑧ Bead1 찾기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⑨ Bead1 센터링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⑩ 점1 (원점) 기록</a:t>
            </a:r>
          </a:p>
        </p:txBody>
      </p:sp>
      <p:sp>
        <p:nvSpPr>
          <p:cNvPr id="12" name="Pentagon 11"/>
          <p:cNvSpPr/>
          <p:nvPr/>
        </p:nvSpPr>
        <p:spPr>
          <a:xfrm>
            <a:off x="5815584" y="1234440"/>
            <a:ext cx="1810512" cy="41148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  기준점 2 · 좌표계</a:t>
            </a:r>
          </a:p>
        </p:txBody>
      </p:sp>
      <p:pic>
        <p:nvPicPr>
          <p:cNvPr id="13" name="Picture 12" descr="cam_76.jpg"/>
          <p:cNvPicPr>
            <a:picLocks noChangeAspect="1"/>
          </p:cNvPicPr>
          <p:nvPr/>
        </p:nvPicPr>
        <p:blipFill>
          <a:blip r:embed="rId5"/>
          <a:srcRect l="12800" r="12800"/>
          <a:stretch>
            <a:fillRect/>
          </a:stretch>
        </p:blipFill>
        <p:spPr>
          <a:xfrm>
            <a:off x="5815584" y="1755648"/>
            <a:ext cx="1700784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3016" y="3154680"/>
            <a:ext cx="164592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⑪ Peak2 이동 (1피치)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⑫~⑮ Peak2 · Bead2 찾기 · 센터링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⑯ 점2 (X방향) 기록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⑰ 좌표계 등록 (점3 Z+50)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16952" y="1234440"/>
            <a:ext cx="1700784" cy="41148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  검사</a:t>
            </a:r>
          </a:p>
        </p:txBody>
      </p:sp>
      <p:pic>
        <p:nvPicPr>
          <p:cNvPr id="16" name="Picture 15" descr="cam_131.jpg"/>
          <p:cNvPicPr>
            <a:picLocks noChangeAspect="1"/>
          </p:cNvPicPr>
          <p:nvPr/>
        </p:nvPicPr>
        <p:blipFill>
          <a:blip r:embed="rId6"/>
          <a:srcRect l="12800" r="12800"/>
          <a:stretch>
            <a:fillRect/>
          </a:stretch>
        </p:blipFill>
        <p:spPr>
          <a:xfrm>
            <a:off x="7616952" y="1755648"/>
            <a:ext cx="1700784" cy="1280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44384" y="3154680"/>
            <a:ext cx="1645920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⑱ 도면 순회 촬영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웨이포인트마다 촬영 요청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촬영 성공 / 실패 보고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262626"/>
                </a:solidFill>
              </a:rPr>
              <a:t>코봇 안전 복귀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92040"/>
            <a:ext cx="89154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/>
            <a:r>
              <a:rPr sz="1100" b="1">
                <a:solidFill>
                  <a:srgbClr val="9B1B30"/>
                </a:solidFill>
              </a:rPr>
              <a:t>Peak</a:t>
            </a:r>
            <a:r>
              <a:rPr sz="1100" b="0">
                <a:solidFill>
                  <a:srgbClr val="262626"/>
                </a:solidFill>
              </a:rPr>
              <a:t> 멤브레인 주름의 꼭대기   </a:t>
            </a:r>
            <a:r>
              <a:rPr sz="1100" b="1">
                <a:solidFill>
                  <a:srgbClr val="9B1B30"/>
                </a:solidFill>
              </a:rPr>
              <a:t>Bead</a:t>
            </a:r>
            <a:r>
              <a:rPr sz="1100" b="0">
                <a:solidFill>
                  <a:srgbClr val="262626"/>
                </a:solidFill>
              </a:rPr>
              <a:t> 용접 비드(용접선)   </a:t>
            </a:r>
            <a:r>
              <a:rPr sz="1100" b="1">
                <a:solidFill>
                  <a:srgbClr val="9B1B30"/>
                </a:solidFill>
              </a:rPr>
              <a:t>작동 거리(WD)</a:t>
            </a:r>
            <a:r>
              <a:rPr sz="1100" b="0">
                <a:solidFill>
                  <a:srgbClr val="262626"/>
                </a:solidFill>
              </a:rPr>
              <a:t> 카메라 · 레이저와 벽면 사이 거리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77840"/>
            <a:ext cx="8915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</a:rPr>
              <a:t>18단계는 로봇 통합 제어기가 자동 수행, 관제는 Area 단위로 지시하고 완료 여부만 확인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</a:rPr>
              <a:t>사진: LAB 시연 영상의 단계별 센서 화면</a:t>
            </a:r>
          </a:p>
        </p:txBody>
      </p:sp>
    </p:spTree>
    <p:extLst>
      <p:ext uri="{BB962C8B-B14F-4D97-AF65-F5344CB8AC3E}">
        <p14:creationId xmlns:p14="http://schemas.microsoft.com/office/powerpoint/2010/main" val="193062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용접선 기준 좌표계 — 정차 오차를 없애는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4572000" cy="338328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737360" y="1280160"/>
            <a:ext cx="329184" cy="3383280"/>
          </a:xfrm>
          <a:prstGeom prst="roundRect">
            <a:avLst>
              <a:gd name="adj" fmla="val 50000"/>
            </a:avLst>
          </a:prstGeom>
          <a:solidFill>
            <a:srgbClr val="C9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49040" y="1280160"/>
            <a:ext cx="329184" cy="3383280"/>
          </a:xfrm>
          <a:prstGeom prst="roundRect">
            <a:avLst>
              <a:gd name="adj" fmla="val 50000"/>
            </a:avLst>
          </a:prstGeom>
          <a:solidFill>
            <a:srgbClr val="C9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C9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457200" y="3520440"/>
            <a:ext cx="4480560" cy="0"/>
          </a:xfrm>
          <a:prstGeom prst="line">
            <a:avLst/>
          </a:prstGeom>
          <a:ln w="317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4632" y="3575304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62626"/>
                </a:solidFill>
              </a:rPr>
              <a:t>Bead (용접선)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13533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595959"/>
                </a:solidFill>
              </a:rPr>
              <a:t>Peak (주름)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1952" y="3520440"/>
            <a:ext cx="1920240" cy="0"/>
          </a:xfrm>
          <a:prstGeom prst="line">
            <a:avLst/>
          </a:prstGeom>
          <a:ln w="38100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01952" y="2468880"/>
            <a:ext cx="0" cy="1051560"/>
          </a:xfrm>
          <a:prstGeom prst="line">
            <a:avLst/>
          </a:prstGeom>
          <a:ln w="38100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0712" y="31912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9B1B30"/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377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9B1B30"/>
                </a:solidFill>
              </a:rPr>
              <a:t>Y</a:t>
            </a:r>
          </a:p>
        </p:txBody>
      </p:sp>
      <p:sp>
        <p:nvSpPr>
          <p:cNvPr id="14" name="Oval 13"/>
          <p:cNvSpPr/>
          <p:nvPr/>
        </p:nvSpPr>
        <p:spPr>
          <a:xfrm>
            <a:off x="1792224" y="3410712"/>
            <a:ext cx="219456" cy="219456"/>
          </a:xfrm>
          <a:prstGeom prst="ellipse">
            <a:avLst/>
          </a:prstGeom>
          <a:solidFill>
            <a:srgbClr val="9B1B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368503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9B1B30"/>
                </a:solidFill>
              </a:rPr>
              <a:t>점1 원점</a:t>
            </a:r>
          </a:p>
        </p:txBody>
      </p:sp>
      <p:sp>
        <p:nvSpPr>
          <p:cNvPr id="16" name="Oval 15"/>
          <p:cNvSpPr/>
          <p:nvPr/>
        </p:nvSpPr>
        <p:spPr>
          <a:xfrm>
            <a:off x="3803904" y="3410712"/>
            <a:ext cx="219456" cy="219456"/>
          </a:xfrm>
          <a:prstGeom prst="ellipse">
            <a:avLst/>
          </a:prstGeom>
          <a:solidFill>
            <a:srgbClr val="9B1B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4992" y="368503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9B1B30"/>
                </a:solidFill>
              </a:rPr>
              <a:t>점2 X방향</a:t>
            </a:r>
          </a:p>
        </p:txBody>
      </p:sp>
      <p:sp>
        <p:nvSpPr>
          <p:cNvPr id="18" name="Oval 17"/>
          <p:cNvSpPr/>
          <p:nvPr/>
        </p:nvSpPr>
        <p:spPr>
          <a:xfrm>
            <a:off x="1216152" y="2651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16736" y="2752344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295351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9B1B30"/>
                </a:solidFill>
              </a:rPr>
              <a:t>Z (점3: +50)</a:t>
            </a:r>
          </a:p>
        </p:txBody>
      </p:sp>
      <p:sp>
        <p:nvSpPr>
          <p:cNvPr id="21" name="Oval 20"/>
          <p:cNvSpPr/>
          <p:nvPr/>
        </p:nvSpPr>
        <p:spPr>
          <a:xfrm>
            <a:off x="2157984" y="345643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889504" y="345643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21024" y="345643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52544" y="345643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97480" y="39319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404040"/>
                </a:solidFill>
              </a:rPr>
              <a:t>○ 도면 웨이포인트 (촬영 위치)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7091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595959"/>
                </a:solidFill>
              </a:rPr>
              <a:t>멤브레인 벽면 개념도 (주름 1피치 간격의 두 교차점으로 좌표계 정의)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0" y="1298448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28016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실제 용접선 찾기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591056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Peak(주름)와 Bead(용접선)를 센서로 찾아 교차점에 맞춤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0" y="2212848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19456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좌표계 정의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505456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점1 = 원점, 점2 = X방향(1피치 이동), 점3 = 면 법선(Z +50)</a:t>
            </a:r>
          </a:p>
        </p:txBody>
      </p:sp>
      <p:sp>
        <p:nvSpPr>
          <p:cNvPr id="33" name="Oval 32"/>
          <p:cNvSpPr/>
          <p:nvPr/>
        </p:nvSpPr>
        <p:spPr>
          <a:xfrm>
            <a:off x="5303520" y="3127248"/>
            <a:ext cx="329184" cy="329184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10896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62626"/>
                </a:solidFill>
              </a:rPr>
              <a:t>도면 경로 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419856"/>
            <a:ext cx="3667759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도면 웨이포인트를 이 좌표계 기준으로 이동 · 촬영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4069080"/>
            <a:ext cx="4023360" cy="59436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정차 위치가 달라도 용접선 기준으로 재정렬, 촬영 위치 일정</a:t>
            </a:r>
          </a:p>
        </p:txBody>
      </p:sp>
      <p:pic>
        <p:nvPicPr>
          <p:cNvPr id="37" name="Picture 36" descr="cam_51.jpg"/>
          <p:cNvPicPr>
            <a:picLocks noChangeAspect="1"/>
          </p:cNvPicPr>
          <p:nvPr/>
        </p:nvPicPr>
        <p:blipFill>
          <a:blip r:embed="rId2"/>
          <a:srcRect t="166" b="166"/>
          <a:stretch>
            <a:fillRect/>
          </a:stretch>
        </p:blipFill>
        <p:spPr>
          <a:xfrm>
            <a:off x="5303520" y="4864608"/>
            <a:ext cx="1965960" cy="10972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303520" y="5989320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595959"/>
                </a:solidFill>
              </a:rPr>
              <a:t>Peak1 · Bead1 탐색 화면</a:t>
            </a:r>
          </a:p>
        </p:txBody>
      </p:sp>
      <p:pic>
        <p:nvPicPr>
          <p:cNvPr id="39" name="Picture 38" descr="cam_76.jpg"/>
          <p:cNvPicPr>
            <a:picLocks noChangeAspect="1"/>
          </p:cNvPicPr>
          <p:nvPr/>
        </p:nvPicPr>
        <p:blipFill>
          <a:blip r:embed="rId3"/>
          <a:srcRect t="166" b="166"/>
          <a:stretch>
            <a:fillRect/>
          </a:stretch>
        </p:blipFill>
        <p:spPr>
          <a:xfrm>
            <a:off x="7360920" y="4864608"/>
            <a:ext cx="1965960" cy="10972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360920" y="5989320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595959"/>
                </a:solidFill>
              </a:rPr>
              <a:t>Peak2 · Bead2 탐색 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02920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9B1B30"/>
                </a:solidFill>
              </a:rPr>
              <a:t>왜 필요한가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62626"/>
                </a:solidFill>
              </a:rPr>
              <a:t>AMR 정차에는 ±100 mm 수준의 오차가 남음. 촬영 직전에 실제 용접선 기준으로 좌표계를 다시 잡아 오차 제거</a:t>
            </a:r>
          </a:p>
        </p:txBody>
      </p:sp>
    </p:spTree>
    <p:extLst>
      <p:ext uri="{BB962C8B-B14F-4D97-AF65-F5344CB8AC3E}">
        <p14:creationId xmlns:p14="http://schemas.microsoft.com/office/powerpoint/2010/main" val="273451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용접부 형상별 검사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2834640" cy="2971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731520" y="2148840"/>
            <a:ext cx="2194560" cy="0"/>
          </a:xfrm>
          <a:prstGeom prst="line">
            <a:avLst/>
          </a:prstGeom>
          <a:ln w="508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95528" y="207568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35608" y="207568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75688" y="207568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715768" y="207568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22960" y="1828800"/>
            <a:ext cx="2011680" cy="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2004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62626"/>
                </a:solidFill>
              </a:rPr>
              <a:t>직선 용접선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262626"/>
                </a:solidFill>
              </a:rPr>
              <a:t>웨이포인트를 따라 연속 촬영 (도면 순회)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1860" y="1234440"/>
            <a:ext cx="2834640" cy="2971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4594860" y="1280160"/>
            <a:ext cx="0" cy="1737360"/>
          </a:xfrm>
          <a:prstGeom prst="line">
            <a:avLst/>
          </a:prstGeom>
          <a:ln w="508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94860" y="2148840"/>
            <a:ext cx="1280160" cy="0"/>
          </a:xfrm>
          <a:prstGeom prst="line">
            <a:avLst/>
          </a:prstGeom>
          <a:ln w="508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20540" y="1371600"/>
            <a:ext cx="0" cy="64008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20540" y="2286000"/>
            <a:ext cx="0" cy="64008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14900" y="1874520"/>
            <a:ext cx="914400" cy="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80660" y="24688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B1B30"/>
                </a:solidFill>
              </a:rPr>
              <a:t>분기별</a:t>
            </a:r>
          </a:p>
          <a:p>
            <a:pPr algn="l"/>
            <a:r>
              <a:rPr sz="900" b="1">
                <a:solidFill>
                  <a:srgbClr val="9B1B30"/>
                </a:solidFill>
              </a:rPr>
              <a:t>분할 스캔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4740" y="32004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62626"/>
                </a:solidFill>
              </a:rPr>
              <a:t>3점 시트 (ㅏ ㅓ ㅗ 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4740" y="352044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262626"/>
                </a:solidFill>
              </a:rPr>
              <a:t>4가지 방향별 레시피 자동 적용, 분기별 분할 스캔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234440"/>
            <a:ext cx="2834640" cy="2971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903720" y="2148840"/>
            <a:ext cx="2011680" cy="0"/>
          </a:xfrm>
          <a:prstGeom prst="line">
            <a:avLst/>
          </a:prstGeom>
          <a:ln w="508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09560" y="1280160"/>
            <a:ext cx="0" cy="1737360"/>
          </a:xfrm>
          <a:prstGeom prst="line">
            <a:avLst/>
          </a:prstGeom>
          <a:ln w="508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635240" y="1874520"/>
            <a:ext cx="548640" cy="548640"/>
          </a:xfrm>
          <a:prstGeom prst="ellipse">
            <a:avLst/>
          </a:prstGeom>
          <a:noFill/>
          <a:ln w="19050">
            <a:solidFill>
              <a:srgbClr val="9B1B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6949440" y="1737360"/>
            <a:ext cx="594360" cy="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275320" y="2560320"/>
            <a:ext cx="594360" cy="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21040" y="1280160"/>
            <a:ext cx="0" cy="50292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98080" y="2514600"/>
            <a:ext cx="0" cy="502920"/>
          </a:xfrm>
          <a:prstGeom prst="line">
            <a:avLst/>
          </a:prstGeom>
          <a:ln w="22225">
            <a:solidFill>
              <a:srgbClr val="9B1B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0" y="2697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B1B30"/>
                </a:solidFill>
              </a:rPr>
              <a:t>±20 mm 마스킹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2004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62626"/>
                </a:solidFill>
              </a:rPr>
              <a:t>4점 시트 (십자)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52044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262626"/>
                </a:solidFill>
              </a:rPr>
              <a:t>4방향 분할 스캔, 교차 중심 ±20 mm 중복 영역 마스킹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891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9B1B30"/>
                </a:solidFill>
              </a:rPr>
              <a:t>특수부 대응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754880"/>
            <a:ext cx="1901952" cy="141732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846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챔퍼 (경사면)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6636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툴을 경사면 법선에 정렬, 필요 시 전용 Area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4754880"/>
            <a:ext cx="1901952" cy="141732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0320" y="4846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바닥 인접부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16636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Elbow-Down 자세로 바닥 간극 30 mm 이상 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4754880"/>
            <a:ext cx="1901952" cy="141732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0" y="4846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천장 인접부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16636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코봇 최대 신장의 95% 이내, 필요 시 근접 Area 추가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754880"/>
            <a:ext cx="2788920" cy="1417320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48280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9B1B30"/>
                </a:solidFill>
              </a:rPr>
              <a:t>AMR 정차 이격 (Standoff)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1389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>
                <a:solidFill>
                  <a:srgbClr val="9B1B30"/>
                </a:solidFill>
              </a:rPr>
              <a:t>1,100 ~ 1,200 mm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5961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62626"/>
                </a:solidFill>
              </a:rPr>
              <a:t>LAB 조정안 (도면 기준 1,500 mm)
현장 PoC에서 최종 확정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검사 계획 구조 — 면 · Area ·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면 (예: A면 · L1층)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08760"/>
            <a:ext cx="448056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6072" y="167335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R03C01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7112" y="167335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R03C02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978152" y="167335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R03C03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2" y="167335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R03C04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0232" y="167335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R03C05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1272" y="167335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R03C06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49631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R02C01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7112" y="249631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R02C02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8152" y="249631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R02C03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2496312"/>
            <a:ext cx="646176" cy="768096"/>
          </a:xfrm>
          <a:prstGeom prst="rect">
            <a:avLst/>
          </a:prstGeom>
          <a:solidFill>
            <a:srgbClr val="9B1B30"/>
          </a:solidFill>
          <a:ln w="1270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R02C04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0232" y="249631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R02C05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1272" y="249631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R02C06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31927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R01C01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7112" y="331927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R01C02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78152" y="331927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R01C03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9192" y="331927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R01C04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0232" y="331927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R01C05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1272" y="3319272"/>
            <a:ext cx="646176" cy="768096"/>
          </a:xfrm>
          <a:prstGeom prst="rect">
            <a:avLst/>
          </a:prstGeom>
          <a:solidFill>
            <a:srgbClr val="F6E8EB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800" b="0">
                <a:solidFill>
                  <a:srgbClr val="595959"/>
                </a:solidFill>
              </a:rPr>
              <a:t>R01C06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4480560"/>
            <a:ext cx="731520" cy="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11480" y="3840480"/>
            <a:ext cx="0" cy="640080"/>
          </a:xfrm>
          <a:prstGeom prst="line">
            <a:avLst/>
          </a:prstGeom>
          <a:ln w="15875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88720" y="437083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262626"/>
                </a:solidFill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368503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262626"/>
                </a:solidFill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6168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면 로컬 좌표 (좌하단 원점, m)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352800" y="1371600"/>
            <a:ext cx="2133600" cy="1097280"/>
          </a:xfrm>
          <a:prstGeom prst="line">
            <a:avLst/>
          </a:prstGeom>
          <a:ln w="9525">
            <a:solidFill>
              <a:srgbClr val="9B1B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52800" y="3291840"/>
            <a:ext cx="2133600" cy="411480"/>
          </a:xfrm>
          <a:prstGeom prst="line">
            <a:avLst/>
          </a:prstGeom>
          <a:ln w="9525">
            <a:solidFill>
              <a:srgbClr val="9B1B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0" y="1371600"/>
            <a:ext cx="2331720" cy="2331720"/>
          </a:xfrm>
          <a:prstGeom prst="rect">
            <a:avLst/>
          </a:prstGeom>
          <a:solidFill>
            <a:srgbClr val="F6E8EB"/>
          </a:solidFill>
          <a:ln w="1905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59552" y="14173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9B1B30"/>
                </a:solidFill>
              </a:rPr>
              <a:t>Area  1440 × 1440 mm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60720" y="2057400"/>
            <a:ext cx="1737360" cy="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69480" y="2240280"/>
            <a:ext cx="0" cy="123444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60720" y="2971800"/>
            <a:ext cx="731520" cy="0"/>
          </a:xfrm>
          <a:prstGeom prst="line">
            <a:avLst/>
          </a:prstGeom>
          <a:ln w="38100">
            <a:solidFill>
              <a:srgbClr val="26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23560" y="18288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62626"/>
                </a:solidFill>
              </a:rPr>
              <a:t>Task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62626"/>
                </a:solidFill>
              </a:rPr>
              <a:t>Task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03580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262626"/>
                </a:solidFill>
              </a:rPr>
              <a:t>Task 3</a:t>
            </a:r>
          </a:p>
        </p:txBody>
      </p:sp>
      <p:sp>
        <p:nvSpPr>
          <p:cNvPr id="38" name="Oval 37"/>
          <p:cNvSpPr/>
          <p:nvPr/>
        </p:nvSpPr>
        <p:spPr>
          <a:xfrm>
            <a:off x="6569964" y="2455164"/>
            <a:ext cx="164592" cy="164592"/>
          </a:xfrm>
          <a:prstGeom prst="ellipse">
            <a:avLst/>
          </a:prstGeom>
          <a:solidFill>
            <a:srgbClr val="7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6652260" y="3749040"/>
            <a:ext cx="0" cy="457200"/>
          </a:xfrm>
          <a:prstGeom prst="line">
            <a:avLst/>
          </a:prstGeom>
          <a:ln w="12700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43700" y="384048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595959"/>
                </a:solidFill>
              </a:rPr>
              <a:t>Standoff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0780" y="4251960"/>
            <a:ext cx="822960" cy="32004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AMR 정차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141732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9B1B30"/>
                </a:solidFill>
              </a:rPr>
              <a:t>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1691640"/>
            <a:ext cx="1498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62626"/>
                </a:solidFill>
              </a:rPr>
              <a:t>1회 정차로 검사하는 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21945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9B1B30"/>
                </a:solidFill>
              </a:rPr>
              <a:t>Task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2468880"/>
            <a:ext cx="1498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62626"/>
                </a:solidFill>
              </a:rPr>
              <a:t>용접라인 1개 (시작 · 끝 u,v)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297180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B4FA0"/>
                </a:solidFill>
              </a:rPr>
              <a:t>정차점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246120"/>
            <a:ext cx="1499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000" b="0">
                <a:solidFill>
                  <a:srgbClr val="262626"/>
                </a:solidFill>
              </a:rPr>
              <a:t>Area 중심에서</a:t>
            </a:r>
            <a:br>
              <a:rPr lang="ko-KR" sz="1000" b="0">
                <a:solidFill>
                  <a:srgbClr val="262626"/>
                </a:solidFill>
              </a:rPr>
            </a:br>
            <a:r>
              <a:rPr lang="ko-KR" sz="1000" b="0">
                <a:solidFill>
                  <a:srgbClr val="262626"/>
                </a:solidFill>
              </a:rPr>
              <a:t>Standoff 이격</a:t>
            </a:r>
          </a:p>
        </p:txBody>
      </p:sp>
      <p:sp>
        <p:nvSpPr>
          <p:cNvPr id="48" name="Pentagon 47"/>
          <p:cNvSpPr/>
          <p:nvPr/>
        </p:nvSpPr>
        <p:spPr>
          <a:xfrm>
            <a:off x="411480" y="5074920"/>
            <a:ext cx="1783080" cy="50292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선창</a:t>
            </a:r>
          </a:p>
        </p:txBody>
      </p:sp>
      <p:sp>
        <p:nvSpPr>
          <p:cNvPr id="49" name="Pentagon 48"/>
          <p:cNvSpPr/>
          <p:nvPr/>
        </p:nvSpPr>
        <p:spPr>
          <a:xfrm>
            <a:off x="2231136" y="5074920"/>
            <a:ext cx="1783080" cy="50292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층 (L1~L4)</a:t>
            </a:r>
          </a:p>
        </p:txBody>
      </p:sp>
      <p:sp>
        <p:nvSpPr>
          <p:cNvPr id="50" name="Pentagon 49"/>
          <p:cNvSpPr/>
          <p:nvPr/>
        </p:nvSpPr>
        <p:spPr>
          <a:xfrm>
            <a:off x="4050792" y="5074920"/>
            <a:ext cx="1783080" cy="50292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면 (10개)</a:t>
            </a:r>
          </a:p>
        </p:txBody>
      </p:sp>
      <p:sp>
        <p:nvSpPr>
          <p:cNvPr id="51" name="Pentagon 50"/>
          <p:cNvSpPr/>
          <p:nvPr/>
        </p:nvSpPr>
        <p:spPr>
          <a:xfrm>
            <a:off x="5870448" y="5074920"/>
            <a:ext cx="1783080" cy="502920"/>
          </a:xfrm>
          <a:prstGeom prst="homePlat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90104" y="5074920"/>
            <a:ext cx="1645920" cy="50292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5715000"/>
            <a:ext cx="8915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9B1B30"/>
                </a:solidFill>
              </a:rPr>
              <a:t>Area 이름 규칙  </a:t>
            </a:r>
            <a:r>
              <a:rPr sz="1100" b="0">
                <a:solidFill>
                  <a:srgbClr val="262626"/>
                </a:solidFill>
              </a:rPr>
              <a:t>L1-R04C09 = 층 L1 · 행 R04 · 열 C09</a:t>
            </a:r>
            <a:r>
              <a:rPr sz="1100" b="0">
                <a:solidFill>
                  <a:srgbClr val="595959"/>
                </a:solidFill>
              </a:rPr>
              <a:t>     관제는 Area 단위로 정차 지시, Task 단위로 촬영 여부 기록</a:t>
            </a:r>
          </a:p>
        </p:txBody>
      </p:sp>
    </p:spTree>
    <p:extLst>
      <p:ext uri="{BB962C8B-B14F-4D97-AF65-F5344CB8AC3E}">
        <p14:creationId xmlns:p14="http://schemas.microsoft.com/office/powerpoint/2010/main" val="3777679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검사 계획 작성 절차</a:t>
            </a:r>
          </a:p>
        </p:txBody>
      </p:sp>
      <p:sp>
        <p:nvSpPr>
          <p:cNvPr id="3" name="Pentagon 2"/>
          <p:cNvSpPr/>
          <p:nvPr/>
        </p:nvSpPr>
        <p:spPr>
          <a:xfrm>
            <a:off x="411480" y="1234440"/>
            <a:ext cx="1801368" cy="6858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 선창 도면 로드</a:t>
            </a:r>
          </a:p>
        </p:txBody>
      </p:sp>
      <p:sp>
        <p:nvSpPr>
          <p:cNvPr id="4" name="Pentagon 3"/>
          <p:cNvSpPr/>
          <p:nvPr/>
        </p:nvSpPr>
        <p:spPr>
          <a:xfrm>
            <a:off x="2212848" y="1234440"/>
            <a:ext cx="1801368" cy="6858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 Area 등록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면 로컬 4점 (u,v)</a:t>
            </a:r>
          </a:p>
        </p:txBody>
      </p:sp>
      <p:sp>
        <p:nvSpPr>
          <p:cNvPr id="5" name="Pentagon 4"/>
          <p:cNvSpPr/>
          <p:nvPr/>
        </p:nvSpPr>
        <p:spPr>
          <a:xfrm>
            <a:off x="4014216" y="1234440"/>
            <a:ext cx="1801368" cy="6858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 Task 등록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용접라인 시작 · 끝</a:t>
            </a:r>
          </a:p>
        </p:txBody>
      </p:sp>
      <p:sp>
        <p:nvSpPr>
          <p:cNvPr id="6" name="Pentagon 5"/>
          <p:cNvSpPr/>
          <p:nvPr/>
        </p:nvSpPr>
        <p:spPr>
          <a:xfrm>
            <a:off x="5815584" y="1234440"/>
            <a:ext cx="1801368" cy="6858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 도달성 검토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현장 정차 · 특이점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6952" y="1234440"/>
            <a:ext cx="1691640" cy="685800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 시나리오 구성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검사 대상 Area 선택</a:t>
            </a:r>
          </a:p>
        </p:txBody>
      </p:sp>
      <p:pic>
        <p:nvPicPr>
          <p:cNvPr id="8" name="Picture 7" descr="src_s1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48840"/>
            <a:ext cx="5989320" cy="337074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Oval 8"/>
          <p:cNvSpPr/>
          <p:nvPr/>
        </p:nvSpPr>
        <p:spPr>
          <a:xfrm>
            <a:off x="983894" y="301376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64108" y="4699134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2780690" y="301376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3559302" y="436206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565308"/>
            <a:ext cx="59893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595959"/>
                </a:solidFill>
              </a:rPr>
              <a:t>관제 계획 화면 — 영역 · 작업 등록 (LAB)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148840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3055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Area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957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62626"/>
                </a:solidFill>
              </a:rPr>
              <a:t>면을 고르고 4점(u,v)을 입력하거나 도면에서 4점을 클릭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807208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8892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Task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54096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62626"/>
                </a:solidFill>
              </a:rPr>
              <a:t>Area 안의 용접라인 시작 · 끝 좌표와 유형 입력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465576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44728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전개도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12464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62626"/>
                </a:solidFill>
              </a:rPr>
              <a:t>Area(녹색) · 정차점(보라) · Task 확인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123944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1056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Area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7083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262626"/>
                </a:solidFill>
              </a:rPr>
              <a:t>면별 Area 좌표와 Task 수 확인 · 수정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846320"/>
            <a:ext cx="2743200" cy="1051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4919472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B1B30"/>
                </a:solidFill>
              </a:rPr>
              <a:t>현재 (PoC)  </a:t>
            </a:r>
            <a:r>
              <a:rPr sz="1000" b="0">
                <a:solidFill>
                  <a:srgbClr val="262626"/>
                </a:solidFill>
              </a:rPr>
              <a:t>수동 작성 · 현장 검토 후 재배포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9B1B30"/>
                </a:solidFill>
              </a:rPr>
              <a:t>향후  </a:t>
            </a:r>
            <a:r>
              <a:rPr sz="1000" b="0">
                <a:solidFill>
                  <a:srgbClr val="262626"/>
                </a:solidFill>
              </a:rPr>
              <a:t>도면 기반 Area 자동 분할, 정차점 자동 산출, 도달성 시뮬레이션 자동 검증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현장 운영 흐름 — 작업자 · 관제 · 로봇</a:t>
            </a:r>
          </a:p>
        </p:txBody>
      </p:sp>
      <p:sp>
        <p:nvSpPr>
          <p:cNvPr id="3" name="Pentagon 2"/>
          <p:cNvSpPr/>
          <p:nvPr/>
        </p:nvSpPr>
        <p:spPr>
          <a:xfrm>
            <a:off x="1463040" y="1234440"/>
            <a:ext cx="1322832" cy="4572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 사전 점검</a:t>
            </a:r>
          </a:p>
        </p:txBody>
      </p:sp>
      <p:sp>
        <p:nvSpPr>
          <p:cNvPr id="4" name="Pentagon 3"/>
          <p:cNvSpPr/>
          <p:nvPr/>
        </p:nvSpPr>
        <p:spPr>
          <a:xfrm>
            <a:off x="2785872" y="1234440"/>
            <a:ext cx="1322832" cy="4572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 층 투입</a:t>
            </a:r>
          </a:p>
        </p:txBody>
      </p:sp>
      <p:sp>
        <p:nvSpPr>
          <p:cNvPr id="5" name="Pentagon 4"/>
          <p:cNvSpPr/>
          <p:nvPr/>
        </p:nvSpPr>
        <p:spPr>
          <a:xfrm>
            <a:off x="4108704" y="1234440"/>
            <a:ext cx="1322832" cy="4572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미션 시작</a:t>
            </a:r>
          </a:p>
        </p:txBody>
      </p:sp>
      <p:sp>
        <p:nvSpPr>
          <p:cNvPr id="6" name="Pentagon 5"/>
          <p:cNvSpPr/>
          <p:nvPr/>
        </p:nvSpPr>
        <p:spPr>
          <a:xfrm>
            <a:off x="5431536" y="1234440"/>
            <a:ext cx="1322832" cy="457200"/>
          </a:xfrm>
          <a:prstGeom prst="homePlat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 자동 검사</a:t>
            </a:r>
          </a:p>
        </p:txBody>
      </p:sp>
      <p:sp>
        <p:nvSpPr>
          <p:cNvPr id="7" name="Pentagon 6"/>
          <p:cNvSpPr/>
          <p:nvPr/>
        </p:nvSpPr>
        <p:spPr>
          <a:xfrm>
            <a:off x="6754368" y="1234440"/>
            <a:ext cx="1322832" cy="457200"/>
          </a:xfrm>
          <a:prstGeom prst="homePlat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 층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7200" y="1234440"/>
            <a:ext cx="1249680" cy="4572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 완료 ·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960120" cy="126187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작업자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28800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장비 반입 · 전원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E-Stop · 배터리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5872" y="1828800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엘리베이터로 로봇 이송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관제에서 현재 층 변경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08704" y="1828800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시나리오 · 로봇 선택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→ [미션 시작]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31536" y="1828800"/>
            <a:ext cx="1249680" cy="1261872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진행 모니터링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필요 시 중단 · 비상정지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4368" y="1828800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로봇 이송 · 층 변경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→ [다음 층 릴리스]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7200" y="1828800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Skip Area 확인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재검사 여부 결정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63824"/>
            <a:ext cx="960120" cy="1261872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관제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HD-ACS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163824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서버 기동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로봇 연결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5872" y="3163824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층 지도 일치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08704" y="3163824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검사 대상 Area를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작업 큐로 전개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1536" y="3163824"/>
            <a:ext cx="1249680" cy="1261872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가까운 Area부터 지시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촬영 여부 기록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54368" y="3163824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층 완료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→ 전환 대기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7200" y="3163824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Area별 완료 ·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Skip 현황 제공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98848"/>
            <a:ext cx="960120" cy="1261872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로봇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HD-AMR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498848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장치 연결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자가 점검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5872" y="4498848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층 지도 로드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위치 초기화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08704" y="4498848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첫 지시 수신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31536" y="4498848"/>
            <a:ext cx="1249680" cy="1261872"/>
          </a:xfrm>
          <a:prstGeom prst="rect">
            <a:avLst/>
          </a:prstGeom>
          <a:solidFill>
            <a:srgbClr val="F6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이동 → 정렬 →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좌표계 → 촬영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(Area 반복)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54368" y="4498848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정지 대기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77200" y="4498848"/>
            <a:ext cx="1249680" cy="1261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0">
                <a:solidFill>
                  <a:srgbClr val="262626"/>
                </a:solidFill>
              </a:rPr>
              <a:t>작업 종료 · 대기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5872" y="5870448"/>
            <a:ext cx="5218176" cy="301752"/>
          </a:xfrm>
          <a:prstGeom prst="rect">
            <a:avLst/>
          </a:prstGeom>
          <a:noFill/>
          <a:ln w="12700">
            <a:solidFill>
              <a:srgbClr val="9B1B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층마다 ② ~ ⑤ 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870448"/>
            <a:ext cx="2209800" cy="301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595959"/>
                </a:solidFill>
              </a:rPr>
              <a:t>[ ] 관제 화면 버튼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관제 운영 화면</a:t>
            </a:r>
          </a:p>
        </p:txBody>
      </p:sp>
      <p:pic>
        <p:nvPicPr>
          <p:cNvPr id="3" name="Picture 2" descr="src_s9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6400800" cy="402117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Oval 3"/>
          <p:cNvSpPr/>
          <p:nvPr/>
        </p:nvSpPr>
        <p:spPr>
          <a:xfrm>
            <a:off x="3017520" y="1228877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05256" y="1972795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905256" y="3581267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3465576" y="3098725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3849624" y="4606667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5897880" y="2294490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6057900" y="1228877"/>
            <a:ext cx="292608" cy="292608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1234440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2070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화면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4630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운영 · 계획 · 이력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1856232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2880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로봇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8483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배터리 · 현재 층 · 위치 · 오류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0" y="2478024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45059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층 · 작업 현황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0662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층 진행 · 작업 현황 · 수동 층 변경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3099816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723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3D 뷰 / 전개도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32841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Area · Task 배치와 진행 표시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0" y="3721608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69417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미션 제어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9502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시작 · 이어하기 · 중단 · 층 릴리스</a:t>
            </a:r>
          </a:p>
        </p:txBody>
      </p:sp>
      <p:sp>
        <p:nvSpPr>
          <p:cNvPr id="26" name="Oval 25"/>
          <p:cNvSpPr/>
          <p:nvPr/>
        </p:nvSpPr>
        <p:spPr>
          <a:xfrm>
            <a:off x="7040880" y="4343400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3159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알람 · 이벤트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5720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현재 상태와 이벤트 기록</a:t>
            </a:r>
          </a:p>
        </p:txBody>
      </p:sp>
      <p:sp>
        <p:nvSpPr>
          <p:cNvPr id="29" name="Oval 28"/>
          <p:cNvSpPr/>
          <p:nvPr/>
        </p:nvSpPr>
        <p:spPr>
          <a:xfrm>
            <a:off x="7040880" y="4965192"/>
            <a:ext cx="274320" cy="2743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9377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262626"/>
                </a:solidFill>
              </a:rPr>
              <a:t>비상정지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1937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95959"/>
                </a:solidFill>
              </a:rPr>
              <a:t>관제 화면에서 즉시 정지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328771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595959"/>
                </a:solidFill>
              </a:rPr>
              <a:t>※ 개발 중 화면 (LAB 캡처) — 현장 운영 화면과 일부 다를 수 있음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sz="2400" b="1">
                <a:solidFill>
                  <a:srgbClr val="0D0D0D"/>
                </a:solidFill>
              </a:rPr>
              <a:t>이상 상황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1874520" cy="36576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상황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9152" y="1234440"/>
            <a:ext cx="2971800" cy="36576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로봇 반응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4104" y="1234440"/>
            <a:ext cx="2697480" cy="36576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작업자 · 관제 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8174736" y="1234440"/>
            <a:ext cx="1143000" cy="36576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LAB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73352"/>
            <a:ext cx="187452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100" b="1">
                <a:solidFill>
                  <a:srgbClr val="262626"/>
                </a:solidFill>
              </a:rPr>
              <a:t>비상정지</a:t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(차체 버튼 · 관제 화면)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1673352"/>
            <a:ext cx="29718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즉시 정지 · 적색 램프 · 부저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4104" y="1673352"/>
            <a:ext cx="26974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원인 제거 → RESET → 이어하기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4736" y="1673352"/>
            <a:ext cx="1143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000" b="1">
                <a:solidFill>
                  <a:srgbClr val="2E7D32"/>
                </a:solidFill>
              </a:rPr>
              <a:t>완료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FT-07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95144"/>
            <a:ext cx="187452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100" b="1">
                <a:solidFill>
                  <a:srgbClr val="262626"/>
                </a:solidFill>
              </a:rPr>
              <a:t>무선 통신 단절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295144"/>
            <a:ext cx="29718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차체 · 코봇 즉시 안전 감속 정지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4104" y="2295144"/>
            <a:ext cx="26974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통신 복구 확인 후 재개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(급발진 방지)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2295144"/>
            <a:ext cx="1143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10/06 예정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FT-11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16936"/>
            <a:ext cx="187452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100" b="1">
                <a:solidFill>
                  <a:srgbClr val="262626"/>
                </a:solidFill>
              </a:rPr>
              <a:t>비전 · 센서 응답 없음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9152" y="2916936"/>
            <a:ext cx="29718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Watchdog 감지 → 코봇 즉시 중단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에러 코드 발생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4104" y="2916936"/>
            <a:ext cx="26974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장치 복구 후 해당 Area 재시도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916936"/>
            <a:ext cx="1143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10/06 예정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FT-12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38728"/>
            <a:ext cx="187452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100" b="1">
                <a:solidFill>
                  <a:srgbClr val="262626"/>
                </a:solidFill>
              </a:rPr>
              <a:t>배터리 저전압 (15% 이하)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9152" y="3538728"/>
            <a:ext cx="29718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신규 검사 차단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진행 중 Task 완료 후 Home 복귀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4104" y="3538728"/>
            <a:ext cx="26974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충전 후 이어하기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3538728"/>
            <a:ext cx="1143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10/07 예정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FT-13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60520"/>
            <a:ext cx="187452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100" b="1">
                <a:solidFill>
                  <a:srgbClr val="262626"/>
                </a:solidFill>
              </a:rPr>
              <a:t>주행 중 장애물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9152" y="4160520"/>
            <a:ext cx="29718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경고 영역: 감속 · 부저</a:t>
            </a:r>
          </a:p>
          <a:p>
            <a:pPr algn="l"/>
            <a:r>
              <a:rPr sz="1000" b="0">
                <a:solidFill>
                  <a:srgbClr val="262626"/>
                </a:solidFill>
              </a:rPr>
              <a:t>정지 영역: 완전 정지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4104" y="4160520"/>
            <a:ext cx="26974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>
                <a:solidFill>
                  <a:srgbClr val="262626"/>
                </a:solidFill>
              </a:rPr>
              <a:t>장애물 제거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6" y="4160520"/>
            <a:ext cx="1143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000" b="1">
                <a:solidFill>
                  <a:srgbClr val="2E7D32"/>
                </a:solidFill>
              </a:rPr>
              <a:t>완료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OT-14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782312"/>
            <a:ext cx="187452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100" b="1">
                <a:solidFill>
                  <a:srgbClr val="262626"/>
                </a:solidFill>
              </a:rPr>
              <a:t>Area 검사 실패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9152" y="4782312"/>
            <a:ext cx="29718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 dirty="0" err="1">
                <a:solidFill>
                  <a:srgbClr val="262626"/>
                </a:solidFill>
              </a:rPr>
              <a:t>해당</a:t>
            </a:r>
            <a:r>
              <a:rPr sz="1000" b="0" dirty="0">
                <a:solidFill>
                  <a:srgbClr val="262626"/>
                </a:solidFill>
              </a:rPr>
              <a:t> Area </a:t>
            </a:r>
            <a:r>
              <a:rPr lang="ko-KR" altLang="en-US" sz="1000" b="0" dirty="0">
                <a:solidFill>
                  <a:srgbClr val="262626"/>
                </a:solidFill>
              </a:rPr>
              <a:t>검사 실패 시</a:t>
            </a:r>
            <a:endParaRPr sz="1000" b="0" dirty="0">
              <a:solidFill>
                <a:srgbClr val="262626"/>
              </a:solidFill>
            </a:endParaRPr>
          </a:p>
          <a:p>
            <a:pPr algn="l"/>
            <a:r>
              <a:rPr sz="1000" b="0" dirty="0">
                <a:solidFill>
                  <a:srgbClr val="262626"/>
                </a:solidFill>
              </a:rPr>
              <a:t>→ Skip + </a:t>
            </a:r>
            <a:r>
              <a:rPr sz="1000" b="0" dirty="0" err="1">
                <a:solidFill>
                  <a:srgbClr val="262626"/>
                </a:solidFill>
              </a:rPr>
              <a:t>알람</a:t>
            </a:r>
            <a:endParaRPr sz="1000" b="0" dirty="0">
              <a:solidFill>
                <a:srgbClr val="262626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04104" y="4782312"/>
            <a:ext cx="26974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 dirty="0" err="1">
                <a:solidFill>
                  <a:srgbClr val="262626"/>
                </a:solidFill>
              </a:rPr>
              <a:t>완료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후</a:t>
            </a:r>
            <a:r>
              <a:rPr sz="1000" b="0" dirty="0">
                <a:solidFill>
                  <a:srgbClr val="262626"/>
                </a:solidFill>
              </a:rPr>
              <a:t> Skip </a:t>
            </a:r>
            <a:r>
              <a:rPr sz="1000" b="0" dirty="0" err="1">
                <a:solidFill>
                  <a:srgbClr val="262626"/>
                </a:solidFill>
              </a:rPr>
              <a:t>Area만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부분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재검사</a:t>
            </a:r>
            <a:endParaRPr sz="1000" b="0" dirty="0">
              <a:solidFill>
                <a:srgbClr val="262626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74736" y="4782312"/>
            <a:ext cx="1143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10/09 예정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OT-08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04104"/>
            <a:ext cx="187452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100" b="1">
                <a:solidFill>
                  <a:srgbClr val="262626"/>
                </a:solidFill>
              </a:rPr>
              <a:t>작업 중단 · 재개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9152" y="5404104"/>
            <a:ext cx="29718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 dirty="0" err="1">
                <a:solidFill>
                  <a:srgbClr val="262626"/>
                </a:solidFill>
              </a:rPr>
              <a:t>진행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중</a:t>
            </a:r>
            <a:r>
              <a:rPr sz="1000" b="0" dirty="0">
                <a:solidFill>
                  <a:srgbClr val="262626"/>
                </a:solidFill>
              </a:rPr>
              <a:t> Area </a:t>
            </a:r>
            <a:r>
              <a:rPr sz="1000" b="0" dirty="0" err="1">
                <a:solidFill>
                  <a:srgbClr val="262626"/>
                </a:solidFill>
              </a:rPr>
              <a:t>완료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후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정지</a:t>
            </a:r>
            <a:endParaRPr sz="1000" b="0" dirty="0">
              <a:solidFill>
                <a:srgbClr val="262626"/>
              </a:solidFill>
            </a:endParaRPr>
          </a:p>
          <a:p>
            <a:pPr algn="l"/>
            <a:r>
              <a:rPr sz="1000" b="0" dirty="0">
                <a:solidFill>
                  <a:srgbClr val="262626"/>
                </a:solidFill>
              </a:rPr>
              <a:t>(</a:t>
            </a:r>
            <a:r>
              <a:rPr sz="1000" b="0" dirty="0" err="1">
                <a:solidFill>
                  <a:srgbClr val="262626"/>
                </a:solidFill>
              </a:rPr>
              <a:t>즉시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정지는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비상정지</a:t>
            </a:r>
            <a:r>
              <a:rPr sz="1000" b="0" dirty="0">
                <a:solidFill>
                  <a:srgbClr val="262626"/>
                </a:solidFill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4104" y="5404104"/>
            <a:ext cx="26974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1000" b="0" dirty="0">
                <a:solidFill>
                  <a:srgbClr val="262626"/>
                </a:solidFill>
              </a:rPr>
              <a:t>[</a:t>
            </a:r>
            <a:r>
              <a:rPr sz="1000" b="0" dirty="0" err="1">
                <a:solidFill>
                  <a:srgbClr val="262626"/>
                </a:solidFill>
              </a:rPr>
              <a:t>이어하기</a:t>
            </a:r>
            <a:r>
              <a:rPr sz="1000" b="0" dirty="0">
                <a:solidFill>
                  <a:srgbClr val="262626"/>
                </a:solidFill>
              </a:rPr>
              <a:t>] </a:t>
            </a:r>
            <a:r>
              <a:rPr sz="1000" b="0" dirty="0" err="1">
                <a:solidFill>
                  <a:srgbClr val="262626"/>
                </a:solidFill>
              </a:rPr>
              <a:t>완료</a:t>
            </a:r>
            <a:r>
              <a:rPr sz="1000" b="0" dirty="0">
                <a:solidFill>
                  <a:srgbClr val="262626"/>
                </a:solidFill>
              </a:rPr>
              <a:t> Area </a:t>
            </a:r>
            <a:r>
              <a:rPr sz="1000" b="0" dirty="0" err="1">
                <a:solidFill>
                  <a:srgbClr val="262626"/>
                </a:solidFill>
              </a:rPr>
              <a:t>보존</a:t>
            </a:r>
            <a:r>
              <a:rPr sz="1000" b="0" dirty="0">
                <a:solidFill>
                  <a:srgbClr val="262626"/>
                </a:solidFill>
              </a:rPr>
              <a:t>,</a:t>
            </a:r>
          </a:p>
          <a:p>
            <a:pPr algn="l"/>
            <a:r>
              <a:rPr sz="1000" b="0" dirty="0" err="1">
                <a:solidFill>
                  <a:srgbClr val="262626"/>
                </a:solidFill>
              </a:rPr>
              <a:t>미완료만</a:t>
            </a:r>
            <a:r>
              <a:rPr sz="1000" b="0" dirty="0">
                <a:solidFill>
                  <a:srgbClr val="262626"/>
                </a:solidFill>
              </a:rPr>
              <a:t> </a:t>
            </a:r>
            <a:r>
              <a:rPr sz="1000" b="0" dirty="0" err="1">
                <a:solidFill>
                  <a:srgbClr val="262626"/>
                </a:solidFill>
              </a:rPr>
              <a:t>재개</a:t>
            </a:r>
            <a:endParaRPr sz="1000" b="0" dirty="0">
              <a:solidFill>
                <a:srgbClr val="262626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74736" y="5404104"/>
            <a:ext cx="1143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000" b="1">
                <a:solidFill>
                  <a:srgbClr val="9B1B30"/>
                </a:solidFill>
              </a:rPr>
              <a:t>10/09 예정</a:t>
            </a:r>
          </a:p>
          <a:p>
            <a:pPr algn="ctr"/>
            <a:r>
              <a:rPr sz="1000" b="0">
                <a:solidFill>
                  <a:srgbClr val="262626"/>
                </a:solidFill>
              </a:rPr>
              <a:t>OT-08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1081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262626"/>
                </a:solidFill>
              </a:rPr>
              <a:t>타워 램프</a:t>
            </a:r>
          </a:p>
        </p:txBody>
      </p:sp>
      <p:sp>
        <p:nvSpPr>
          <p:cNvPr id="36" name="Oval 35"/>
          <p:cNvSpPr/>
          <p:nvPr/>
        </p:nvSpPr>
        <p:spPr>
          <a:xfrm>
            <a:off x="1417320" y="614476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91640" y="6108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녹색  정상 작업</a:t>
            </a:r>
          </a:p>
        </p:txBody>
      </p:sp>
      <p:sp>
        <p:nvSpPr>
          <p:cNvPr id="38" name="Oval 37"/>
          <p:cNvSpPr/>
          <p:nvPr/>
        </p:nvSpPr>
        <p:spPr>
          <a:xfrm>
            <a:off x="3383280" y="6144768"/>
            <a:ext cx="201168" cy="20116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0" y="6108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황색  일시정지 · 대기</a:t>
            </a:r>
          </a:p>
        </p:txBody>
      </p:sp>
      <p:sp>
        <p:nvSpPr>
          <p:cNvPr id="40" name="Oval 39"/>
          <p:cNvSpPr/>
          <p:nvPr/>
        </p:nvSpPr>
        <p:spPr>
          <a:xfrm>
            <a:off x="5349240" y="6144768"/>
            <a:ext cx="201168" cy="20116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23560" y="6108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262626"/>
                </a:solidFill>
              </a:rPr>
              <a:t>적색  에러 · 비상정지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1397000"/>
            <a:ext cx="8128000" cy="1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800" b="1" dirty="0"/>
              <a:t>HD현대중공업 LNG 화물창 용접검사로봇</a:t>
            </a:r>
          </a:p>
          <a:p>
            <a:pPr algn="ctr"/>
            <a:r>
              <a:rPr lang="ko-KR" altLang="en-US" sz="2800" b="1" dirty="0"/>
              <a:t>사전 검증 및 PoC 실행 계획서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889000" y="2946400"/>
            <a:ext cx="8128000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404040"/>
                </a:solidFill>
              </a:rPr>
              <a:t>LAB 환경 선행 기능 검증 (10/02 ~ 10/12)</a:t>
            </a:r>
          </a:p>
          <a:p>
            <a:pPr algn="ctr">
              <a:spcBef>
                <a:spcPts val="400"/>
              </a:spcBef>
            </a:pPr>
            <a:r>
              <a:rPr lang="ko-KR" altLang="en-US" sz="1800" dirty="0">
                <a:solidFill>
                  <a:srgbClr val="404040"/>
                </a:solidFill>
              </a:rPr>
              <a:t>현장 사전 PoC 평가 계획 (10/13 ~ 10/23)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4038600"/>
            <a:ext cx="8128000" cy="431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000" b="1" dirty="0" err="1"/>
              <a:t>이노로보틱스</a:t>
            </a:r>
            <a:r>
              <a:rPr lang="ko-KR" altLang="en-US" sz="2000" b="1" dirty="0"/>
              <a:t> /  2026. 10. 06</a:t>
            </a:r>
          </a:p>
        </p:txBody>
      </p:sp>
    </p:spTree>
    <p:extLst>
      <p:ext uri="{BB962C8B-B14F-4D97-AF65-F5344CB8AC3E}">
        <p14:creationId xmlns:p14="http://schemas.microsoft.com/office/powerpoint/2010/main" val="3677329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139694A-49E2-641F-FE6A-B0A3488540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추진 개요 및 단계별 검증 전략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6FD-D7CB-3568-8D26-D90AF1C97F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번호 1"/>
          <p:cNvSpPr/>
          <p:nvPr/>
        </p:nvSpPr>
        <p:spPr>
          <a:xfrm>
            <a:off x="355600" y="1117600"/>
            <a:ext cx="355600" cy="3556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제목 배경 및 목적"/>
          <p:cNvSpPr txBox="1"/>
          <p:nvPr/>
        </p:nvSpPr>
        <p:spPr>
          <a:xfrm>
            <a:off x="812800" y="1117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배경 및 목적</a:t>
            </a:r>
          </a:p>
        </p:txBody>
      </p:sp>
      <p:sp>
        <p:nvSpPr>
          <p:cNvPr id="12" name="본문 배경 및 목적"/>
          <p:cNvSpPr txBox="1"/>
          <p:nvPr/>
        </p:nvSpPr>
        <p:spPr>
          <a:xfrm>
            <a:off x="355600" y="1574800"/>
            <a:ext cx="89789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LAB 선행 검증: </a:t>
            </a:r>
            <a:r>
              <a:rPr lang="ko-KR" altLang="en-US" sz="1400" dirty="0">
                <a:solidFill>
                  <a:schemeClr val="tx1"/>
                </a:solidFill>
              </a:rPr>
              <a:t>절대 위치오차는 측정하지 않고(줄자 실측 환경),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통신·기구학 동작·상대 반복정밀도·센서 오차 흡수력을 사전 검증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현장 사전 PoC: </a:t>
            </a:r>
            <a:r>
              <a:rPr lang="ko-KR" altLang="en-US" sz="1400" dirty="0">
                <a:solidFill>
                  <a:schemeClr val="tx1"/>
                </a:solidFill>
              </a:rPr>
              <a:t>0단/1단</a:t>
            </a:r>
            <a:r>
              <a:rPr lang="en-US" altLang="ko-KR" sz="1400" dirty="0">
                <a:solidFill>
                  <a:schemeClr val="tx1"/>
                </a:solidFill>
              </a:rPr>
              <a:t>/2</a:t>
            </a:r>
            <a:r>
              <a:rPr lang="ko-KR" altLang="en-US" sz="1400" dirty="0">
                <a:solidFill>
                  <a:schemeClr val="tx1"/>
                </a:solidFill>
              </a:rPr>
              <a:t>단</a:t>
            </a:r>
            <a:r>
              <a:rPr lang="en-US" altLang="ko-KR" sz="1400" dirty="0">
                <a:solidFill>
                  <a:schemeClr val="tx1"/>
                </a:solidFill>
              </a:rPr>
              <a:t>/3</a:t>
            </a:r>
            <a:r>
              <a:rPr lang="ko-KR" altLang="en-US" sz="1400" dirty="0"/>
              <a:t>단</a:t>
            </a:r>
            <a:r>
              <a:rPr lang="ko-KR" altLang="en-US" sz="1400" dirty="0">
                <a:solidFill>
                  <a:schemeClr val="tx1"/>
                </a:solidFill>
              </a:rPr>
              <a:t> 실제 선체의 바닥 단차, 코루게이션 왜곡, 하중분산판·기둥 간섭 하에서 실행 가능성(Feasibility)을 단계적으로 확증</a:t>
            </a:r>
          </a:p>
        </p:txBody>
      </p:sp>
      <p:sp>
        <p:nvSpPr>
          <p:cNvPr id="13" name="번호 2"/>
          <p:cNvSpPr/>
          <p:nvPr/>
        </p:nvSpPr>
        <p:spPr>
          <a:xfrm>
            <a:off x="355600" y="2616200"/>
            <a:ext cx="355600" cy="3556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제목 로드맵"/>
          <p:cNvSpPr txBox="1"/>
          <p:nvPr/>
        </p:nvSpPr>
        <p:spPr>
          <a:xfrm>
            <a:off x="812800" y="26162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2단계 검증 추진 로드맵</a:t>
            </a:r>
          </a:p>
        </p:txBody>
      </p:sp>
      <p:sp>
        <p:nvSpPr>
          <p:cNvPr id="20" name="카드 헤더 1단계"/>
          <p:cNvSpPr/>
          <p:nvPr/>
        </p:nvSpPr>
        <p:spPr>
          <a:xfrm>
            <a:off x="355600" y="3098800"/>
            <a:ext cx="4254500" cy="381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52400" tIns="0" rIns="1016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1단계  LAB 선행 검증 (10/02 ~ 10/12)</a:t>
            </a:r>
          </a:p>
        </p:txBody>
      </p:sp>
      <p:sp>
        <p:nvSpPr>
          <p:cNvPr id="21" name="카드 본문 1단계"/>
          <p:cNvSpPr/>
          <p:nvPr/>
        </p:nvSpPr>
        <p:spPr>
          <a:xfrm>
            <a:off x="355600" y="3479800"/>
            <a:ext cx="4254500" cy="2362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52400" tIns="127000" rIns="1524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검증 환경 </a:t>
            </a:r>
            <a:r>
              <a:rPr lang="ko-KR" altLang="en-US" sz="1400" dirty="0">
                <a:solidFill>
                  <a:schemeClr val="tx1"/>
                </a:solidFill>
              </a:rPr>
              <a:t>LAB 모의 환경(줄자 실측 벽면,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국소 테스트 지그)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중점 목표 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H/W 버튼·경광등·통신 규약 정상화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코봇 기구학(Singularity, Reach) 한계 사전 도출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3점/4점 시트 레시피·시퀀스 안정성 확보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대상 TC </a:t>
            </a:r>
            <a:r>
              <a:rPr lang="ko-KR" altLang="en-US" sz="1400" dirty="0">
                <a:solidFill>
                  <a:schemeClr val="tx1"/>
                </a:solidFill>
              </a:rPr>
              <a:t>FT 18건(FT-05B 제외) + OT 4건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22건 중 15건 완료 (10/04 기준)</a:t>
            </a:r>
          </a:p>
        </p:txBody>
      </p:sp>
      <p:sp>
        <p:nvSpPr>
          <p:cNvPr id="30" name="카드 헤더 2단계"/>
          <p:cNvSpPr/>
          <p:nvPr/>
        </p:nvSpPr>
        <p:spPr>
          <a:xfrm>
            <a:off x="5080000" y="3098800"/>
            <a:ext cx="4254500" cy="381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152400" tIns="0" rIns="1016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2단계  현장 사전 PoC (10/13 ~ 10/23)</a:t>
            </a:r>
          </a:p>
        </p:txBody>
      </p:sp>
      <p:sp>
        <p:nvSpPr>
          <p:cNvPr id="31" name="카드 본문 2단계"/>
          <p:cNvSpPr/>
          <p:nvPr/>
        </p:nvSpPr>
        <p:spPr>
          <a:xfrm>
            <a:off x="5080000" y="3479800"/>
            <a:ext cx="4254500" cy="2362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52400" tIns="127000" rIns="1524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검증 환경 </a:t>
            </a:r>
            <a:r>
              <a:rPr lang="ko-KR" altLang="en-US" sz="1400" dirty="0">
                <a:solidFill>
                  <a:schemeClr val="tx1"/>
                </a:solidFill>
              </a:rPr>
              <a:t>현대중공업 현장 선체 내부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단</a:t>
            </a:r>
            <a:r>
              <a:rPr lang="en-US" altLang="ko-KR" sz="1400" dirty="0">
                <a:solidFill>
                  <a:schemeClr val="tx1"/>
                </a:solidFill>
              </a:rPr>
              <a:t>/2</a:t>
            </a:r>
            <a:r>
              <a:rPr lang="ko-KR" altLang="en-US" sz="1400" dirty="0">
                <a:solidFill>
                  <a:schemeClr val="tx1"/>
                </a:solidFill>
              </a:rPr>
              <a:t>단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1단/0단 대상 구역)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중점 목표 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자동 검사 적용 가능 최대 영역 확보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가능한 전 영역 검사 시도, 가능/불가 판정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도면-SLAM 절대 캘리브레이션 실측</a:t>
            </a:r>
          </a:p>
          <a:p>
            <a:pPr marL="171450" indent="-171450" algn="l">
              <a:spcBef>
                <a:spcPts val="20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1440×1440 수동 Area 배치 도달성 검증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대상 TC </a:t>
            </a:r>
            <a:r>
              <a:rPr lang="ko-KR" altLang="en-US" sz="1400" dirty="0">
                <a:solidFill>
                  <a:schemeClr val="tx1"/>
                </a:solidFill>
              </a:rPr>
              <a:t>FT-05B(L2 정밀도) + 운영 테스트(OT) 현장 필수 전 항목</a:t>
            </a:r>
          </a:p>
        </p:txBody>
      </p:sp>
      <p:sp>
        <p:nvSpPr>
          <p:cNvPr id="40" name="단계 화살표"/>
          <p:cNvSpPr/>
          <p:nvPr/>
        </p:nvSpPr>
        <p:spPr>
          <a:xfrm>
            <a:off x="4699000" y="4597400"/>
            <a:ext cx="279400" cy="330200"/>
          </a:xfrm>
          <a:prstGeom prst="rightArrow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373703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2FB706-1CDB-63D1-93E7-F244D14725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테스트케이스 LAB / FIELD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A62513-DE91-0920-DBB3-424D418C694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분류 헤더 1"/>
          <p:cNvSpPr/>
          <p:nvPr/>
        </p:nvSpPr>
        <p:spPr>
          <a:xfrm>
            <a:off x="355600" y="1143000"/>
            <a:ext cx="2857500" cy="381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완료 · 17건</a:t>
            </a:r>
          </a:p>
        </p:txBody>
      </p:sp>
      <p:sp>
        <p:nvSpPr>
          <p:cNvPr id="11" name="분류 기준 1"/>
          <p:cNvSpPr/>
          <p:nvPr/>
        </p:nvSpPr>
        <p:spPr>
          <a:xfrm>
            <a:off x="355600" y="1524000"/>
            <a:ext cx="28575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LAB 15건 + 사전 테스트</a:t>
            </a:r>
            <a:br>
              <a:rPr lang="ko-KR" altLang="en-US" sz="1400" dirty="0">
                <a:solidFill>
                  <a:srgbClr val="595959"/>
                </a:solidFill>
              </a:rPr>
            </a:br>
            <a:r>
              <a:rPr lang="ko-KR" altLang="en-US" sz="1400" dirty="0">
                <a:solidFill>
                  <a:srgbClr val="595959"/>
                </a:solidFill>
              </a:rPr>
              <a:t>(9/7~9/10) 2건</a:t>
            </a:r>
          </a:p>
        </p:txBody>
      </p:sp>
      <p:sp>
        <p:nvSpPr>
          <p:cNvPr id="12" name="분류 목록 1"/>
          <p:cNvSpPr/>
          <p:nvPr/>
        </p:nvSpPr>
        <p:spPr>
          <a:xfrm>
            <a:off x="355600" y="2108200"/>
            <a:ext cx="2857500" cy="3683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27000" tIns="127000" rIns="76200" bIns="76200" rtlCol="0" anchor="t">
            <a:noAutofit/>
          </a:bodyPr>
          <a:lstStyle/>
          <a:p>
            <a:pPr marL="914400" indent="-914400" algn="l">
              <a:spcBef>
                <a:spcPts val="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FT-01~04</a:t>
            </a:r>
            <a:r>
              <a:rPr lang="ko-KR" altLang="en-US" sz="1400" dirty="0">
                <a:solidFill>
                  <a:schemeClr val="tx1"/>
                </a:solidFill>
              </a:rPr>
              <a:t>	통신 프로토콜 4종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FT-05A</a:t>
            </a:r>
            <a:r>
              <a:rPr lang="ko-KR" altLang="en-US" sz="1400" dirty="0">
                <a:solidFill>
                  <a:schemeClr val="tx1"/>
                </a:solidFill>
              </a:rPr>
              <a:t>	좌표계 변환 체인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FT-06</a:t>
            </a:r>
            <a:r>
              <a:rPr lang="ko-KR" altLang="en-US" sz="1400" dirty="0">
                <a:solidFill>
                  <a:schemeClr val="tx1"/>
                </a:solidFill>
              </a:rPr>
              <a:t>	RealSense·OMRON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데이터 취득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FT-07</a:t>
            </a:r>
            <a:r>
              <a:rPr lang="ko-KR" altLang="en-US" sz="1400" dirty="0">
                <a:solidFill>
                  <a:schemeClr val="tx1"/>
                </a:solidFill>
              </a:rPr>
              <a:t>	E-Stop·안전 인터록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FT-09, 10</a:t>
            </a:r>
            <a:r>
              <a:rPr lang="ko-KR" altLang="en-US" sz="1400" dirty="0">
                <a:solidFill>
                  <a:schemeClr val="tx1"/>
                </a:solidFill>
              </a:rPr>
              <a:t>	4점 레시피·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분기 판정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FT-14~17</a:t>
            </a:r>
            <a:r>
              <a:rPr lang="ko-KR" altLang="en-US" sz="1400" dirty="0">
                <a:solidFill>
                  <a:schemeClr val="tx1"/>
                </a:solidFill>
              </a:rPr>
              <a:t>	모드·버튼·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경광등·부저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OT-02B</a:t>
            </a:r>
            <a:r>
              <a:rPr lang="ko-KR" altLang="en-US" sz="1400" dirty="0">
                <a:solidFill>
                  <a:schemeClr val="tx1"/>
                </a:solidFill>
              </a:rPr>
              <a:t>	반복 정차 정밀도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OT-06</a:t>
            </a:r>
            <a:r>
              <a:rPr lang="ko-KR" altLang="en-US" sz="1400" dirty="0">
                <a:solidFill>
                  <a:schemeClr val="tx1"/>
                </a:solidFill>
              </a:rPr>
              <a:t>	다중 Task 연속 수행</a:t>
            </a:r>
          </a:p>
          <a:p>
            <a:pPr marL="914400" indent="-914400" algn="l">
              <a:spcBef>
                <a:spcPts val="600"/>
              </a:spcBef>
              <a:buNone/>
              <a:tabLst>
                <a:tab pos="914400" algn="l"/>
              </a:tabLst>
            </a:pPr>
            <a:r>
              <a:rPr lang="ko-KR" altLang="en-US" sz="1400" b="1" dirty="0">
                <a:solidFill>
                  <a:srgbClr val="595959"/>
                </a:solidFill>
              </a:rPr>
              <a:t>OT-14, 16</a:t>
            </a:r>
            <a:r>
              <a:rPr lang="ko-KR" altLang="en-US" sz="1400" dirty="0">
                <a:solidFill>
                  <a:schemeClr val="tx1"/>
                </a:solidFill>
              </a:rPr>
              <a:t>	세이프티 존·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바닥 단차 (9/7~10)</a:t>
            </a:r>
          </a:p>
        </p:txBody>
      </p:sp>
      <p:sp>
        <p:nvSpPr>
          <p:cNvPr id="13" name="분류 헤더 2"/>
          <p:cNvSpPr/>
          <p:nvPr/>
        </p:nvSpPr>
        <p:spPr>
          <a:xfrm>
            <a:off x="3416300" y="1143000"/>
            <a:ext cx="2413000" cy="381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LAB 잔여 · 7건</a:t>
            </a:r>
          </a:p>
        </p:txBody>
      </p:sp>
      <p:sp>
        <p:nvSpPr>
          <p:cNvPr id="14" name="분류 기준 2"/>
          <p:cNvSpPr/>
          <p:nvPr/>
        </p:nvSpPr>
        <p:spPr>
          <a:xfrm>
            <a:off x="3416300" y="1524000"/>
            <a:ext cx="24130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LAB에서</a:t>
            </a:r>
            <a:br>
              <a:rPr lang="ko-KR" altLang="en-US" sz="1400" dirty="0">
                <a:solidFill>
                  <a:srgbClr val="595959"/>
                </a:solidFill>
              </a:rPr>
            </a:br>
            <a:r>
              <a:rPr lang="ko-KR" altLang="en-US" sz="1400" dirty="0">
                <a:solidFill>
                  <a:srgbClr val="595959"/>
                </a:solidFill>
              </a:rPr>
              <a:t>10/05~10/09 진행</a:t>
            </a:r>
          </a:p>
        </p:txBody>
      </p:sp>
      <p:sp>
        <p:nvSpPr>
          <p:cNvPr id="15" name="분류 목록 2"/>
          <p:cNvSpPr/>
          <p:nvPr/>
        </p:nvSpPr>
        <p:spPr>
          <a:xfrm>
            <a:off x="3416300" y="2108200"/>
            <a:ext cx="2413000" cy="3683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27000" tIns="127000" rIns="76200" bIns="76200" rtlCol="0" anchor="t">
            <a:noAutofit/>
          </a:bodyPr>
          <a:lstStyle/>
          <a:p>
            <a:pPr marL="787400" indent="-787400" algn="l">
              <a:spcBef>
                <a:spcPts val="0"/>
              </a:spcBef>
              <a:buNone/>
              <a:tabLst>
                <a:tab pos="7874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FT-08</a:t>
            </a:r>
            <a:r>
              <a:rPr lang="ko-KR" altLang="en-US" sz="1400" dirty="0">
                <a:solidFill>
                  <a:schemeClr val="tx1"/>
                </a:solidFill>
              </a:rPr>
              <a:t>	3점 시트 레시피</a:t>
            </a:r>
          </a:p>
          <a:p>
            <a:pPr marL="787400" indent="-787400" algn="l">
              <a:spcBef>
                <a:spcPts val="600"/>
              </a:spcBef>
              <a:buNone/>
              <a:tabLst>
                <a:tab pos="7874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FT-11</a:t>
            </a:r>
            <a:r>
              <a:rPr lang="ko-KR" altLang="en-US" sz="1400" dirty="0">
                <a:solidFill>
                  <a:schemeClr val="tx1"/>
                </a:solidFill>
              </a:rPr>
              <a:t>	통신 단절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Fail-Safe</a:t>
            </a:r>
          </a:p>
          <a:p>
            <a:pPr marL="787400" indent="-787400" algn="l">
              <a:spcBef>
                <a:spcPts val="600"/>
              </a:spcBef>
              <a:buNone/>
              <a:tabLst>
                <a:tab pos="7874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FT-12</a:t>
            </a:r>
            <a:r>
              <a:rPr lang="ko-KR" altLang="en-US" sz="1400" dirty="0">
                <a:solidFill>
                  <a:schemeClr val="tx1"/>
                </a:solidFill>
              </a:rPr>
              <a:t>	비전 Freeze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Watchdog</a:t>
            </a:r>
          </a:p>
          <a:p>
            <a:pPr marL="787400" indent="-787400" algn="l">
              <a:spcBef>
                <a:spcPts val="600"/>
              </a:spcBef>
              <a:buNone/>
              <a:tabLst>
                <a:tab pos="7874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FT-13</a:t>
            </a:r>
            <a:r>
              <a:rPr lang="ko-KR" altLang="en-US" sz="1400" dirty="0">
                <a:solidFill>
                  <a:schemeClr val="tx1"/>
                </a:solidFill>
              </a:rPr>
              <a:t>	저전압 인터록</a:t>
            </a:r>
          </a:p>
          <a:p>
            <a:pPr marL="787400" indent="-787400" algn="l">
              <a:spcBef>
                <a:spcPts val="600"/>
              </a:spcBef>
              <a:buNone/>
              <a:tabLst>
                <a:tab pos="7874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FT-18</a:t>
            </a:r>
            <a:r>
              <a:rPr lang="ko-KR" altLang="en-US" sz="1400" dirty="0">
                <a:solidFill>
                  <a:schemeClr val="tx1"/>
                </a:solidFill>
              </a:rPr>
              <a:t>	툴 페이로드</a:t>
            </a:r>
          </a:p>
          <a:p>
            <a:pPr marL="787400" indent="-787400" algn="l">
              <a:spcBef>
                <a:spcPts val="600"/>
              </a:spcBef>
              <a:buNone/>
              <a:tabLst>
                <a:tab pos="7874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OT-05A</a:t>
            </a:r>
            <a:r>
              <a:rPr lang="ko-KR" altLang="en-US" sz="1400" dirty="0">
                <a:solidFill>
                  <a:schemeClr val="tx1"/>
                </a:solidFill>
              </a:rPr>
              <a:t>	오차 주입 보정</a:t>
            </a:r>
          </a:p>
          <a:p>
            <a:pPr marL="787400" indent="-787400" algn="l">
              <a:spcBef>
                <a:spcPts val="600"/>
              </a:spcBef>
              <a:buNone/>
              <a:tabLst>
                <a:tab pos="7874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OT-08</a:t>
            </a:r>
            <a:r>
              <a:rPr lang="ko-KR" altLang="en-US" sz="1400" dirty="0">
                <a:solidFill>
                  <a:schemeClr val="tx1"/>
                </a:solidFill>
              </a:rPr>
              <a:t>	Skip/Retry 복구</a:t>
            </a:r>
          </a:p>
        </p:txBody>
      </p:sp>
      <p:sp>
        <p:nvSpPr>
          <p:cNvPr id="16" name="분류 헤더 3"/>
          <p:cNvSpPr/>
          <p:nvPr/>
        </p:nvSpPr>
        <p:spPr>
          <a:xfrm>
            <a:off x="6032500" y="1143000"/>
            <a:ext cx="3302000" cy="381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FIELD 필수 · 15건</a:t>
            </a:r>
          </a:p>
        </p:txBody>
      </p:sp>
      <p:sp>
        <p:nvSpPr>
          <p:cNvPr id="17" name="분류 기준 3"/>
          <p:cNvSpPr/>
          <p:nvPr/>
        </p:nvSpPr>
        <p:spPr>
          <a:xfrm>
            <a:off x="6032500" y="1524000"/>
            <a:ext cx="3302000" cy="58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0" rIns="762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선체 Datum·실제 형상·</a:t>
            </a:r>
            <a:br>
              <a:rPr lang="ko-KR" altLang="en-US" sz="1400" dirty="0">
                <a:solidFill>
                  <a:srgbClr val="595959"/>
                </a:solidFill>
              </a:rPr>
            </a:br>
            <a:r>
              <a:rPr lang="ko-KR" altLang="en-US" sz="1400" dirty="0">
                <a:solidFill>
                  <a:srgbClr val="595959"/>
                </a:solidFill>
              </a:rPr>
              <a:t>표면·바닥 조건 필요</a:t>
            </a:r>
          </a:p>
        </p:txBody>
      </p:sp>
      <p:sp>
        <p:nvSpPr>
          <p:cNvPr id="18" name="분류 목록 3"/>
          <p:cNvSpPr/>
          <p:nvPr/>
        </p:nvSpPr>
        <p:spPr>
          <a:xfrm>
            <a:off x="6032500" y="2108200"/>
            <a:ext cx="3302000" cy="3683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27000" tIns="127000" rIns="76200" bIns="76200" rtlCol="0" anchor="t">
            <a:noAutofit/>
          </a:bodyPr>
          <a:lstStyle/>
          <a:p>
            <a:pPr marL="1092200" indent="-1092200" algn="l">
              <a:spcBef>
                <a:spcPts val="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FT-05B</a:t>
            </a:r>
            <a:r>
              <a:rPr lang="ko-KR" altLang="en-US" sz="1400" dirty="0">
                <a:solidFill>
                  <a:schemeClr val="tx1"/>
                </a:solidFill>
              </a:rPr>
              <a:t>	도면-SLAM(L2)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절대 캘리브레이션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OT-01</a:t>
            </a:r>
            <a:r>
              <a:rPr lang="ko-KR" altLang="en-US" sz="1400" dirty="0">
                <a:solidFill>
                  <a:schemeClr val="tx1"/>
                </a:solidFill>
              </a:rPr>
              <a:t>	도면 TASK 정합성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OT-02A</a:t>
            </a:r>
            <a:r>
              <a:rPr lang="ko-KR" altLang="en-US" sz="1400" dirty="0">
                <a:solidFill>
                  <a:schemeClr val="tx1"/>
                </a:solidFill>
              </a:rPr>
              <a:t>	1440×1440 Area 도달성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OT-03A~C</a:t>
            </a:r>
            <a:r>
              <a:rPr lang="ko-KR" altLang="en-US" sz="1400" dirty="0">
                <a:solidFill>
                  <a:schemeClr val="tx1"/>
                </a:solidFill>
              </a:rPr>
              <a:t>	챔퍼·바닥·천장 도달성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OT-04</a:t>
            </a:r>
            <a:r>
              <a:rPr lang="ko-KR" altLang="en-US" sz="1400" dirty="0">
                <a:solidFill>
                  <a:schemeClr val="tx1"/>
                </a:solidFill>
              </a:rPr>
              <a:t>	기둥·하중분산판 간섭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OT-05B, 09</a:t>
            </a:r>
            <a:r>
              <a:rPr lang="ko-KR" altLang="en-US" sz="1400" dirty="0">
                <a:solidFill>
                  <a:schemeClr val="tx1"/>
                </a:solidFill>
              </a:rPr>
              <a:t>	연속 검사·소요 시간(참고)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OT-07, 12</a:t>
            </a:r>
            <a:r>
              <a:rPr lang="ko-KR" altLang="en-US" sz="1400" dirty="0">
                <a:solidFill>
                  <a:schemeClr val="tx1"/>
                </a:solidFill>
              </a:rPr>
              <a:t>	표면 난반사 신뢰도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OT-10·11·13</a:t>
            </a:r>
            <a:r>
              <a:rPr lang="ko-KR" altLang="en-US" sz="1400" dirty="0">
                <a:solidFill>
                  <a:schemeClr val="tx1"/>
                </a:solidFill>
              </a:rPr>
              <a:t>	시트 궤적·리치</a:t>
            </a:r>
          </a:p>
          <a:p>
            <a:pPr marL="1092200" indent="-1092200" algn="l">
              <a:spcBef>
                <a:spcPts val="600"/>
              </a:spcBef>
              <a:buNone/>
              <a:tabLst>
                <a:tab pos="1092200" algn="l"/>
              </a:tabLst>
            </a:pPr>
            <a:r>
              <a:rPr lang="ko-KR" altLang="en-US" sz="1400" b="1" dirty="0">
                <a:solidFill>
                  <a:srgbClr val="9B1B30"/>
                </a:solidFill>
              </a:rPr>
              <a:t>OT-15</a:t>
            </a:r>
            <a:r>
              <a:rPr lang="ko-KR" altLang="en-US" sz="1400" dirty="0">
                <a:solidFill>
                  <a:schemeClr val="tx1"/>
                </a:solidFill>
              </a:rPr>
              <a:t>	케이블 트랙 텐션</a:t>
            </a:r>
          </a:p>
        </p:txBody>
      </p:sp>
      <p:sp>
        <p:nvSpPr>
          <p:cNvPr id="19" name="각주"/>
          <p:cNvSpPr txBox="1"/>
          <p:nvPr/>
        </p:nvSpPr>
        <p:spPr>
          <a:xfrm>
            <a:off x="355600" y="5918200"/>
            <a:ext cx="89789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완료 여부: 엑셀 TC 시트 "진행 완료 여부" 기준, OT-14·16(9/7~9/10 테스트), FT-09 완료 반영 (총 39건)</a:t>
            </a:r>
          </a:p>
        </p:txBody>
      </p:sp>
    </p:spTree>
    <p:extLst>
      <p:ext uri="{BB962C8B-B14F-4D97-AF65-F5344CB8AC3E}">
        <p14:creationId xmlns:p14="http://schemas.microsoft.com/office/powerpoint/2010/main" val="1852004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038B38E-49F4-87F0-B917-5B7B7EEE31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LAB 시험 환경 제약 조건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BFB7A-84E6-B782-0400-20150C597DF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제약 헤더 1"/>
          <p:cNvSpPr/>
          <p:nvPr/>
        </p:nvSpPr>
        <p:spPr>
          <a:xfrm>
            <a:off x="355600" y="1168400"/>
            <a:ext cx="4381500" cy="50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177800" tIns="0" rIns="127000" bIns="0" rtlCol="0" anchor="ctr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1   DRY-RUN 모드로 진행</a:t>
            </a:r>
          </a:p>
        </p:txBody>
      </p:sp>
      <p:sp>
        <p:nvSpPr>
          <p:cNvPr id="11" name="제약 내용 1"/>
          <p:cNvSpPr/>
          <p:nvPr/>
        </p:nvSpPr>
        <p:spPr>
          <a:xfrm>
            <a:off x="355600" y="1676400"/>
            <a:ext cx="4381500" cy="35814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77800" tIns="177800" rIns="127000" bIns="12700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제약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ko-KR" sz="1600" dirty="0"/>
              <a:t>LAB </a:t>
            </a:r>
            <a:r>
              <a:rPr lang="ko-KR" altLang="en-US" sz="1600" dirty="0"/>
              <a:t>환경에서 용접시트를 정밀하게 설치하기 어려워 </a:t>
            </a:r>
            <a:r>
              <a:rPr lang="ko-KR" altLang="en-US" sz="1600" dirty="0" err="1">
                <a:solidFill>
                  <a:schemeClr val="tx1"/>
                </a:solidFill>
              </a:rPr>
              <a:t>용접부</a:t>
            </a:r>
            <a:r>
              <a:rPr lang="ko-KR" altLang="en-US" sz="1600" dirty="0"/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탐색 ~ 검사 시퀀스 실행 불가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/>
              <a:t>또한 실제 선창과 조명</a:t>
            </a:r>
            <a:r>
              <a:rPr lang="en-US" altLang="ko-KR" sz="1600" dirty="0"/>
              <a:t>/</a:t>
            </a:r>
            <a:r>
              <a:rPr lang="ko-KR" altLang="en-US" sz="1600" dirty="0"/>
              <a:t>환경 차이로 모델 학습 필요</a:t>
            </a:r>
            <a:endParaRPr lang="ko-KR" alt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200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LAB 검증 범위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지령·통신, 코봇 모션·궤적,</a:t>
            </a:r>
            <a:br>
              <a:rPr lang="ko-KR" altLang="en-US" sz="1600" dirty="0">
                <a:solidFill>
                  <a:schemeClr val="tx1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레시피 로드, 인터록 등 시퀀스 흐름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FIELD 확인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실제 비드 탐색·판정</a:t>
            </a:r>
            <a:br>
              <a:rPr lang="ko-KR" altLang="en-US" sz="1600" dirty="0">
                <a:solidFill>
                  <a:schemeClr val="tx1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(OT-07, OT-10~13)</a:t>
            </a:r>
          </a:p>
        </p:txBody>
      </p:sp>
      <p:sp>
        <p:nvSpPr>
          <p:cNvPr id="12" name="제약 헤더 2"/>
          <p:cNvSpPr/>
          <p:nvPr/>
        </p:nvSpPr>
        <p:spPr>
          <a:xfrm>
            <a:off x="4953000" y="1168400"/>
            <a:ext cx="4381500" cy="50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177800" tIns="0" rIns="127000" bIns="0" rtlCol="0" anchor="ctr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2   임의 구성 데모 환경, 줄자 실측</a:t>
            </a:r>
          </a:p>
        </p:txBody>
      </p:sp>
      <p:sp>
        <p:nvSpPr>
          <p:cNvPr id="13" name="제약 내용 2"/>
          <p:cNvSpPr/>
          <p:nvPr/>
        </p:nvSpPr>
        <p:spPr>
          <a:xfrm>
            <a:off x="4953000" y="1676400"/>
            <a:ext cx="4381500" cy="35814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 wrap="square" lIns="177800" tIns="177800" rIns="127000" bIns="12700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제약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작업자가 줄자로 실측한 데모 환경이라</a:t>
            </a:r>
            <a:br>
              <a:rPr lang="ko-KR" altLang="en-US" sz="1600" dirty="0">
                <a:solidFill>
                  <a:schemeClr val="tx1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위치 정밀도를 검증하기 어려움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LAB 검증 범위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반복 정차 산포, 상대 오차 흡수</a:t>
            </a:r>
            <a:br>
              <a:rPr lang="ko-KR" altLang="en-US" sz="1600" dirty="0">
                <a:solidFill>
                  <a:schemeClr val="tx1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(OT-02B, OT-05A)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</a:rPr>
              <a:t>FIELD 확인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절대 캘리브레이션·좌표 정합성</a:t>
            </a:r>
            <a:br>
              <a:rPr lang="ko-KR" altLang="en-US" sz="1600" dirty="0">
                <a:solidFill>
                  <a:schemeClr val="tx1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(FT-05B, OT-01, OT-05B)</a:t>
            </a:r>
          </a:p>
        </p:txBody>
      </p:sp>
      <p:sp>
        <p:nvSpPr>
          <p:cNvPr id="14" name="결론"/>
          <p:cNvSpPr/>
          <p:nvPr/>
        </p:nvSpPr>
        <p:spPr>
          <a:xfrm>
            <a:off x="355600" y="5638800"/>
            <a:ext cx="8978900" cy="431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77800" tIns="0" rIns="127000" bIns="0" rtlCol="0" anchor="ctr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LAB 결과는 기능·시퀀스 동작 확인으로 한정하며, 검사 판정과 절대 위치 정밀도는 FIELD 단계에서 평가</a:t>
            </a:r>
          </a:p>
        </p:txBody>
      </p:sp>
    </p:spTree>
    <p:extLst>
      <p:ext uri="{BB962C8B-B14F-4D97-AF65-F5344CB8AC3E}">
        <p14:creationId xmlns:p14="http://schemas.microsoft.com/office/powerpoint/2010/main" val="3752068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792EE1-395E-C36B-A609-CFE514BD04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LAB 잔여 시험 7건 (10/05 ~ 10/09)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39FA8-342C-02AF-001F-D6B1D3734A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10" name="LAB 잔여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206511"/>
              </p:ext>
            </p:extLst>
          </p:nvPr>
        </p:nvGraphicFramePr>
        <p:xfrm>
          <a:off x="355600" y="1066800"/>
          <a:ext cx="8978900" cy="4572000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TC · 검증 항목</a:t>
                      </a:r>
                    </a:p>
                  </a:txBody>
                  <a:tcPr marL="63500" marR="50800" marT="50800" marB="508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시험 절차</a:t>
                      </a:r>
                    </a:p>
                  </a:txBody>
                  <a:tcPr marL="63500" marR="50800" marT="50800" marB="508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Pass 기준</a:t>
                      </a:r>
                    </a:p>
                  </a:txBody>
                  <a:tcPr marL="63500" marR="50800" marT="50800" marB="508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일정 · 소요</a:t>
                      </a:r>
                    </a:p>
                  </a:txBody>
                  <a:tcPr marL="63500" marR="50800" marT="50800" marB="508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FT-08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3점 시트(ㅏㅓㅗㅜ) 레시피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4방향 형상 지령 전송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Recipe ID 매핑 확인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방향별 고유 Recipe ID·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파라미터 1:1 로드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10/05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00" dirty="0">
                          <a:solidFill>
                            <a:srgbClr val="595959"/>
                          </a:solidFill>
                        </a:rPr>
                        <a:t>1</a:t>
                      </a: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일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FT-11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무선 통신 단절 Fail-Safe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WiFi 차단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타임아웃 경과 후 거동 확인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차체·코봇 즉시 안전 감속 정지,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복구 시 급발진 방지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10/06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0.5일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FT-12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비전 Freeze·이상치 Watchdog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비전 프로세스 Freeze 유도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예외 감지 확인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Watchdog 감지·에러 코드 발생,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코봇 즉시 중단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10/06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0.5일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FT-13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배터리 저전압 차단 인터록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배터리 15% 이하 모의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신규 검사 개시 지령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신규 검사 즉시 차단,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수행 Task 종료 후 Home 복귀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10/07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0.5일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FT-18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툴 무게 대비 코봇 페이로드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완조립 툴 TCP 체결·무게 입력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급가감속·반전 구동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토크 과부하 알람 없이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궤적 추종 완수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10/07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00" dirty="0">
                          <a:solidFill>
                            <a:srgbClr val="595959"/>
                          </a:solidFill>
                        </a:rPr>
                        <a:t>2</a:t>
                      </a: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시간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OT-05A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오차 주입 시 정차 오차 흡수력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±15 mm, ±1° 틀어지게 정차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센서 피드백 보정 확인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오차 흡수 후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용접선 시작점 정렬 완수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10/08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4~6시간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OT-08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작업 Skip·부분 Retry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ACS UI Task Skip 지시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잔여 진행 후 재검사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Skip 외 작업 정상 완수,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단일 Task 재검사 진입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10/09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1시간</a:t>
                      </a:r>
                    </a:p>
                  </a:txBody>
                  <a:tcPr marL="63500" marR="50800" marT="50800" marB="508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355600" y="5969000"/>
            <a:ext cx="7112000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10/10~10/11: 미통과 항목 대안 조치·재시험 버퍼, 10/12: LAB 결과서 작성</a:t>
            </a:r>
            <a:br>
              <a:rPr lang="ko-KR" altLang="en-US" sz="1100" dirty="0">
                <a:solidFill>
                  <a:srgbClr val="595959"/>
                </a:solidFill>
              </a:rPr>
            </a:br>
            <a:r>
              <a:rPr lang="ko-KR" altLang="en-US" sz="1100" dirty="0">
                <a:solidFill>
                  <a:srgbClr val="595959"/>
                </a:solidFill>
              </a:rPr>
              <a:t>LAB 결과 적용처: FT-08(LAB)·FT-09(완료) → OT-10~12, OT-05A → OT-05B</a:t>
            </a:r>
          </a:p>
        </p:txBody>
      </p:sp>
    </p:spTree>
    <p:extLst>
      <p:ext uri="{BB962C8B-B14F-4D97-AF65-F5344CB8AC3E}">
        <p14:creationId xmlns:p14="http://schemas.microsoft.com/office/powerpoint/2010/main" val="218627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9EEBB64-B280-47EC-BA84-B9D70A6A9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LAB 테스트 세부 일정 (10/02 ~ 10/12)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094E4-D6A4-9AB1-B168-8867B6C1C0C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10" name="세부 일정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915978"/>
              </p:ext>
            </p:extLst>
          </p:nvPr>
        </p:nvGraphicFramePr>
        <p:xfrm>
          <a:off x="355600" y="1143000"/>
          <a:ext cx="8978900" cy="4038600"/>
        </p:xfrm>
        <a:graphic>
          <a:graphicData uri="http://schemas.openxmlformats.org/drawingml/2006/table">
            <a:tbl>
              <a:tblPr firstRow="1"/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기완료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잔여 LAB 시험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대안 조치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정리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TC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10/02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10/03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10/04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10/05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10/06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10/07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10/08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10/09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10/10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10/11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10/12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595959"/>
                          </a:solidFill>
                        </a:rPr>
                        <a:t>완료 15건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rgbClr val="595959"/>
                          </a:solidFill>
                        </a:rPr>
                        <a:t>통신·인터록·버튼·센서 등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FT-08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3점 시트 레시피 매핑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FT-11, 12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통신 단절·비전 Freeze 대응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FT-13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배터리 저전압 차단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FT-18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툴 페이로드 정합성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OT-05A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오차 주입(±15 mm, ±1°) 보정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OT-08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Skip/Retry 예외 복구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</a:rPr>
                        <a:t>버퍼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미통과 항목 대안 조치·재시험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8C4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8C4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</a:rPr>
                        <a:t>결과 정리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TEST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완료 항목 정리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" name="범례 색 완료 (엑셀 표기 기준)"/>
          <p:cNvSpPr/>
          <p:nvPr/>
        </p:nvSpPr>
        <p:spPr>
          <a:xfrm>
            <a:off x="355600" y="5740400"/>
            <a:ext cx="177800" cy="177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endParaRPr lang="ko-KR" sz="1200" dirty="0"/>
          </a:p>
        </p:txBody>
      </p:sp>
      <p:sp>
        <p:nvSpPr>
          <p:cNvPr id="21" name="범례 완료 (엑셀 표기 기준)"/>
          <p:cNvSpPr txBox="1"/>
          <p:nvPr/>
        </p:nvSpPr>
        <p:spPr>
          <a:xfrm>
            <a:off x="609600" y="5689600"/>
            <a:ext cx="17399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완료 (엑셀 표기 기준)</a:t>
            </a:r>
          </a:p>
        </p:txBody>
      </p:sp>
      <p:sp>
        <p:nvSpPr>
          <p:cNvPr id="22" name="범례 색 잔여 시험"/>
          <p:cNvSpPr/>
          <p:nvPr/>
        </p:nvSpPr>
        <p:spPr>
          <a:xfrm>
            <a:off x="2654300" y="5740400"/>
            <a:ext cx="177800" cy="1778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endParaRPr lang="ko-KR" sz="1200" dirty="0"/>
          </a:p>
        </p:txBody>
      </p:sp>
      <p:sp>
        <p:nvSpPr>
          <p:cNvPr id="23" name="범례 잔여 시험"/>
          <p:cNvSpPr txBox="1"/>
          <p:nvPr/>
        </p:nvSpPr>
        <p:spPr>
          <a:xfrm>
            <a:off x="2908300" y="56896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잔여 시험</a:t>
            </a:r>
          </a:p>
        </p:txBody>
      </p:sp>
      <p:sp>
        <p:nvSpPr>
          <p:cNvPr id="24" name="범례 색 미통과 항목 대안 조치 버퍼"/>
          <p:cNvSpPr/>
          <p:nvPr/>
        </p:nvSpPr>
        <p:spPr>
          <a:xfrm>
            <a:off x="4000500" y="5740400"/>
            <a:ext cx="177800" cy="177800"/>
          </a:xfrm>
          <a:prstGeom prst="rect">
            <a:avLst/>
          </a:prstGeom>
          <a:solidFill>
            <a:srgbClr val="E8C4CB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endParaRPr lang="ko-KR" sz="1200" dirty="0"/>
          </a:p>
        </p:txBody>
      </p:sp>
      <p:sp>
        <p:nvSpPr>
          <p:cNvPr id="25" name="범례 미통과 항목 대안 조치 버퍼"/>
          <p:cNvSpPr txBox="1"/>
          <p:nvPr/>
        </p:nvSpPr>
        <p:spPr>
          <a:xfrm>
            <a:off x="4254500" y="5689600"/>
            <a:ext cx="2095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미통과 항목 대안 조치 버퍼</a:t>
            </a:r>
          </a:p>
        </p:txBody>
      </p:sp>
      <p:sp>
        <p:nvSpPr>
          <p:cNvPr id="26" name="범례 색 결과 정리"/>
          <p:cNvSpPr/>
          <p:nvPr/>
        </p:nvSpPr>
        <p:spPr>
          <a:xfrm>
            <a:off x="6654800" y="5740400"/>
            <a:ext cx="177800" cy="177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endParaRPr lang="ko-KR" sz="1200" dirty="0"/>
          </a:p>
        </p:txBody>
      </p:sp>
      <p:sp>
        <p:nvSpPr>
          <p:cNvPr id="27" name="범례 결과 정리"/>
          <p:cNvSpPr txBox="1"/>
          <p:nvPr/>
        </p:nvSpPr>
        <p:spPr>
          <a:xfrm>
            <a:off x="6908800" y="56896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결과 정리</a:t>
            </a:r>
          </a:p>
        </p:txBody>
      </p:sp>
    </p:spTree>
    <p:extLst>
      <p:ext uri="{BB962C8B-B14F-4D97-AF65-F5344CB8AC3E}">
        <p14:creationId xmlns:p14="http://schemas.microsoft.com/office/powerpoint/2010/main" val="2161196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FF8DAE-7081-7FCC-832A-58EE8BCA0B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LAB 검증 주요 착안점 및 현장 전달 이슈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2BAAA-3422-E535-2877-0D10205A9D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번호 1"/>
          <p:cNvSpPr/>
          <p:nvPr/>
        </p:nvSpPr>
        <p:spPr>
          <a:xfrm>
            <a:off x="355600" y="1168400"/>
            <a:ext cx="355600" cy="3556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제목 1"/>
          <p:cNvSpPr txBox="1"/>
          <p:nvPr/>
        </p:nvSpPr>
        <p:spPr>
          <a:xfrm>
            <a:off x="812800" y="11176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코봇(FR-05) 도달 한계 및</a:t>
            </a:r>
            <a:br>
              <a:rPr lang="ko-KR" altLang="en-US" sz="1600" b="1" dirty="0">
                <a:solidFill>
                  <a:schemeClr val="tx1"/>
                </a:solidFill>
              </a:rPr>
            </a:br>
            <a:r>
              <a:rPr lang="ko-KR" altLang="en-US" sz="1600" b="1" dirty="0">
                <a:solidFill>
                  <a:schemeClr val="tx1"/>
                </a:solidFill>
              </a:rPr>
              <a:t>정차 거리(Standoff) 해석</a:t>
            </a:r>
          </a:p>
        </p:txBody>
      </p:sp>
      <p:sp>
        <p:nvSpPr>
          <p:cNvPr id="12" name="현상"/>
          <p:cNvSpPr txBox="1"/>
          <p:nvPr/>
        </p:nvSpPr>
        <p:spPr>
          <a:xfrm>
            <a:off x="355600" y="17018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현상</a:t>
            </a:r>
          </a:p>
        </p:txBody>
      </p:sp>
      <p:sp>
        <p:nvSpPr>
          <p:cNvPr id="13" name="현상 본문"/>
          <p:cNvSpPr txBox="1"/>
          <p:nvPr/>
        </p:nvSpPr>
        <p:spPr>
          <a:xfrm>
            <a:off x="355600" y="1981200"/>
            <a:ext cx="431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코봇(FR-05) 베이스 높이 1,650 mm,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벽면 이격 1,500 mm 조건에서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높이 2,000 mm 검사, ±45° 코루게이션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추종 틸팅 시 Out of Reach 및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손목 관절(J4~J6) 한계·특이점 진입</a:t>
            </a:r>
          </a:p>
        </p:txBody>
      </p:sp>
      <p:sp>
        <p:nvSpPr>
          <p:cNvPr id="14" name="조정 캡션"/>
          <p:cNvSpPr txBox="1"/>
          <p:nvPr/>
        </p:nvSpPr>
        <p:spPr>
          <a:xfrm>
            <a:off x="355600" y="32766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AMR 정차 이격(Standoff) 조정</a:t>
            </a:r>
          </a:p>
        </p:txBody>
      </p:sp>
      <p:sp>
        <p:nvSpPr>
          <p:cNvPr id="15" name="기준 박스"/>
          <p:cNvSpPr/>
          <p:nvPr/>
        </p:nvSpPr>
        <p:spPr>
          <a:xfrm>
            <a:off x="355600" y="3581400"/>
            <a:ext cx="1524000" cy="76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도면 기준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1,500 mm</a:t>
            </a:r>
          </a:p>
        </p:txBody>
      </p:sp>
      <p:sp>
        <p:nvSpPr>
          <p:cNvPr id="16" name="조정 화살표"/>
          <p:cNvSpPr/>
          <p:nvPr/>
        </p:nvSpPr>
        <p:spPr>
          <a:xfrm>
            <a:off x="1968500" y="3810000"/>
            <a:ext cx="355600" cy="304800"/>
          </a:xfrm>
          <a:prstGeom prst="rightArrow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17" name="조정 박스"/>
          <p:cNvSpPr/>
          <p:nvPr/>
        </p:nvSpPr>
        <p:spPr>
          <a:xfrm>
            <a:off x="2413000" y="3581400"/>
            <a:ext cx="2260600" cy="762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FFFFFF"/>
                </a:solidFill>
              </a:rPr>
              <a:t>LAB 조정안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1,100~1,200 mm</a:t>
            </a:r>
          </a:p>
        </p:txBody>
      </p:sp>
      <p:sp>
        <p:nvSpPr>
          <p:cNvPr id="18" name="조치"/>
          <p:cNvSpPr txBox="1"/>
          <p:nvPr/>
        </p:nvSpPr>
        <p:spPr>
          <a:xfrm>
            <a:off x="355600" y="45212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LAB 조치 및 현장 적용안</a:t>
            </a:r>
          </a:p>
        </p:txBody>
      </p:sp>
      <p:sp>
        <p:nvSpPr>
          <p:cNvPr id="19" name="조치 본문"/>
          <p:cNvSpPr txBox="1"/>
          <p:nvPr/>
        </p:nvSpPr>
        <p:spPr>
          <a:xfrm>
            <a:off x="355600" y="4800600"/>
            <a:ext cx="431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손목 케이블 간섭을 고려해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Elbow-Down 자세 적용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3점/4점 시트는 분기별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스캔 분할 시퀀스 적용</a:t>
            </a:r>
          </a:p>
        </p:txBody>
      </p:sp>
      <p:sp>
        <p:nvSpPr>
          <p:cNvPr id="20" name="번호 2"/>
          <p:cNvSpPr/>
          <p:nvPr/>
        </p:nvSpPr>
        <p:spPr>
          <a:xfrm>
            <a:off x="4978400" y="1168400"/>
            <a:ext cx="355600" cy="3556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제목 2"/>
          <p:cNvSpPr txBox="1"/>
          <p:nvPr/>
        </p:nvSpPr>
        <p:spPr>
          <a:xfrm>
            <a:off x="5435600" y="1117600"/>
            <a:ext cx="38989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비전 카메라 검사 분기 시퀀스 확정</a:t>
            </a:r>
          </a:p>
        </p:txBody>
      </p:sp>
      <p:sp>
        <p:nvSpPr>
          <p:cNvPr id="22" name="시퀀스 설명"/>
          <p:cNvSpPr txBox="1"/>
          <p:nvPr/>
        </p:nvSpPr>
        <p:spPr>
          <a:xfrm>
            <a:off x="4978400" y="1701800"/>
            <a:ext cx="43561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3점(4갈래 방향) 및 4점 CROSS 시트의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촬영 시퀀스를 2D/3D 카메라 기본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작동 거리와 시야 기준으로 개발 완료</a:t>
            </a:r>
          </a:p>
        </p:txBody>
      </p:sp>
      <p:sp>
        <p:nvSpPr>
          <p:cNvPr id="23" name="수치 카드 400 mm"/>
          <p:cNvSpPr/>
          <p:nvPr/>
        </p:nvSpPr>
        <p:spPr>
          <a:xfrm>
            <a:off x="4978400" y="2616200"/>
            <a:ext cx="1308100" cy="14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6200" tIns="177800" rIns="76200" bIns="0" rtlCol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9B1B30"/>
                </a:solidFill>
              </a:rPr>
              <a:t>400 mm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작동 거리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(WD)</a:t>
            </a:r>
          </a:p>
        </p:txBody>
      </p:sp>
      <p:sp>
        <p:nvSpPr>
          <p:cNvPr id="24" name="카드 강조선"/>
          <p:cNvSpPr/>
          <p:nvPr/>
        </p:nvSpPr>
        <p:spPr>
          <a:xfrm>
            <a:off x="4978400" y="2616200"/>
            <a:ext cx="13081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5" name="수치 카드 30 mm"/>
          <p:cNvSpPr/>
          <p:nvPr/>
        </p:nvSpPr>
        <p:spPr>
          <a:xfrm>
            <a:off x="6502400" y="2616200"/>
            <a:ext cx="1308100" cy="14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6200" tIns="177800" rIns="76200" bIns="0" rtlCol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9B1B30"/>
                </a:solidFill>
              </a:rPr>
              <a:t>30 mm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시야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(FOV)</a:t>
            </a:r>
          </a:p>
        </p:txBody>
      </p:sp>
      <p:sp>
        <p:nvSpPr>
          <p:cNvPr id="26" name="카드 강조선"/>
          <p:cNvSpPr/>
          <p:nvPr/>
        </p:nvSpPr>
        <p:spPr>
          <a:xfrm>
            <a:off x="6502400" y="2616200"/>
            <a:ext cx="13081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7" name="수치 카드 ±20 mm"/>
          <p:cNvSpPr/>
          <p:nvPr/>
        </p:nvSpPr>
        <p:spPr>
          <a:xfrm>
            <a:off x="8026400" y="2616200"/>
            <a:ext cx="1308100" cy="14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6200" tIns="177800" rIns="76200" bIns="0" rtlCol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9B1B30"/>
                </a:solidFill>
              </a:rPr>
              <a:t>±20 mm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중심부 중복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스캔 마스킹</a:t>
            </a:r>
          </a:p>
        </p:txBody>
      </p:sp>
      <p:sp>
        <p:nvSpPr>
          <p:cNvPr id="28" name="카드 강조선"/>
          <p:cNvSpPr/>
          <p:nvPr/>
        </p:nvSpPr>
        <p:spPr>
          <a:xfrm>
            <a:off x="8026400" y="2616200"/>
            <a:ext cx="13081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9" name="시퀀스 불릿"/>
          <p:cNvSpPr txBox="1"/>
          <p:nvPr/>
        </p:nvSpPr>
        <p:spPr>
          <a:xfrm>
            <a:off x="4978400" y="4267200"/>
            <a:ext cx="43561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교차 중심부 중복 스캔 영역(±20 mm)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소프트웨어 마스킹 로직 LAB 검증 통과</a:t>
            </a:r>
          </a:p>
        </p:txBody>
      </p:sp>
    </p:spTree>
    <p:extLst>
      <p:ext uri="{BB962C8B-B14F-4D97-AF65-F5344CB8AC3E}">
        <p14:creationId xmlns:p14="http://schemas.microsoft.com/office/powerpoint/2010/main" val="217831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92EB38-690E-5B8C-7006-0763032218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3884"/>
            <a:ext cx="3619902" cy="424732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평가 기간 소요 사유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2D8B1-C796-999C-D598-B2B04FDBD98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번호 1"/>
          <p:cNvSpPr/>
          <p:nvPr/>
        </p:nvSpPr>
        <p:spPr>
          <a:xfrm>
            <a:off x="355600" y="1168400"/>
            <a:ext cx="330200" cy="3302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사유 1"/>
          <p:cNvSpPr txBox="1"/>
          <p:nvPr/>
        </p:nvSpPr>
        <p:spPr>
          <a:xfrm>
            <a:off x="812800" y="1193800"/>
            <a:ext cx="419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안전상 이유로 정차위치 전수평가 필요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각 단·선창 면별로 전 영역의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정차 위치를 최적화하고, 위치마다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코봇 도달성·관절 특이점을 전수 평가</a:t>
            </a:r>
          </a:p>
        </p:txBody>
      </p:sp>
      <p:sp>
        <p:nvSpPr>
          <p:cNvPr id="12" name="번호 2"/>
          <p:cNvSpPr/>
          <p:nvPr/>
        </p:nvSpPr>
        <p:spPr>
          <a:xfrm>
            <a:off x="355600" y="2590800"/>
            <a:ext cx="330200" cy="3302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사유 2"/>
          <p:cNvSpPr txBox="1"/>
          <p:nvPr/>
        </p:nvSpPr>
        <p:spPr>
          <a:xfrm>
            <a:off x="812800" y="2616200"/>
            <a:ext cx="419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현장 설치 상태에 좌우됨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기둥·바닥 플라이우드 설치 상태에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따라 정차 가능 위치가 달라져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영역별로 하나씩 직접 확인 필요</a:t>
            </a:r>
          </a:p>
        </p:txBody>
      </p:sp>
      <p:sp>
        <p:nvSpPr>
          <p:cNvPr id="14" name="번호 3"/>
          <p:cNvSpPr/>
          <p:nvPr/>
        </p:nvSpPr>
        <p:spPr>
          <a:xfrm>
            <a:off x="355600" y="4013200"/>
            <a:ext cx="330200" cy="3302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사유 3"/>
          <p:cNvSpPr txBox="1"/>
          <p:nvPr/>
        </p:nvSpPr>
        <p:spPr>
          <a:xfrm>
            <a:off x="812800" y="4038600"/>
            <a:ext cx="4191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복잡 형상부는 현장 평가 필수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상·하부 챔퍼부, 선수/선미 전·후면은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형상이 복잡해 시뮬레이션만으로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도달성 판단 불가</a:t>
            </a:r>
          </a:p>
        </p:txBody>
      </p:sp>
      <p:sp>
        <p:nvSpPr>
          <p:cNvPr id="16" name="결론"/>
          <p:cNvSpPr/>
          <p:nvPr/>
        </p:nvSpPr>
        <p:spPr>
          <a:xfrm>
            <a:off x="355600" y="5537200"/>
            <a:ext cx="89789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77800" tIns="0" rIns="127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정차 위치를 영역별로 현장에서 하나씩 확인해야 하므로 FIELD 평가 기간(10/13~10/23)이 길게 소요됨</a:t>
            </a:r>
          </a:p>
        </p:txBody>
      </p:sp>
      <p:sp>
        <p:nvSpPr>
          <p:cNvPr id="17" name="캡션 1"/>
          <p:cNvSpPr txBox="1"/>
          <p:nvPr/>
        </p:nvSpPr>
        <p:spPr>
          <a:xfrm>
            <a:off x="5334000" y="3327400"/>
            <a:ext cx="4000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관제 3D 뷰: 선창 전 영역의 Area·정차 배치</a:t>
            </a:r>
          </a:p>
        </p:txBody>
      </p:sp>
      <p:sp>
        <p:nvSpPr>
          <p:cNvPr id="18" name="캡션 2"/>
          <p:cNvSpPr txBox="1"/>
          <p:nvPr/>
        </p:nvSpPr>
        <p:spPr>
          <a:xfrm>
            <a:off x="5334000" y="51435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하부 챔퍼부 Area (L1)</a:t>
            </a:r>
          </a:p>
        </p:txBody>
      </p:sp>
      <p:sp>
        <p:nvSpPr>
          <p:cNvPr id="19" name="캡션 3"/>
          <p:cNvSpPr txBox="1"/>
          <p:nvPr/>
        </p:nvSpPr>
        <p:spPr>
          <a:xfrm>
            <a:off x="7112000" y="51435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바닥·벽면 Area (L4)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C0230A-7C38-2FBC-E5B0-56CF3A710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143000"/>
            <a:ext cx="3429000" cy="21542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31D991-9F47-36EC-FCC9-83C365176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3683000"/>
            <a:ext cx="1651000" cy="14044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E5063F-4D4B-6118-E0E9-2CBC2D0C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3683000"/>
            <a:ext cx="1651000" cy="14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80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75DB725-A44D-3CBF-CF9E-8BD7353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검사계획 수동 작성과 자동화 방향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5AA30-AEE3-EA6B-79C5-634B6A25D93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헤더 1"/>
          <p:cNvSpPr/>
          <p:nvPr/>
        </p:nvSpPr>
        <p:spPr>
          <a:xfrm>
            <a:off x="355600" y="1143000"/>
            <a:ext cx="4572000" cy="330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12700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사전 PoC: 검사계획 수동 작성</a:t>
            </a:r>
          </a:p>
        </p:txBody>
      </p:sp>
      <p:sp>
        <p:nvSpPr>
          <p:cNvPr id="11" name="내용 1"/>
          <p:cNvSpPr txBox="1"/>
          <p:nvPr/>
        </p:nvSpPr>
        <p:spPr>
          <a:xfrm>
            <a:off x="355600" y="1549400"/>
            <a:ext cx="4572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면별 1440×1440 영역의 4점 좌표(u,v) 수동 입력</a:t>
            </a:r>
          </a:p>
          <a:p>
            <a:pPr marL="228600" indent="-228600" algn="l">
              <a:spcBef>
                <a:spcPts val="5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현장 도달성·특이점 결과에 따라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영역 크기·위치·정차 이격 수동 조정</a:t>
            </a:r>
          </a:p>
          <a:p>
            <a:pPr marL="228600" indent="-228600" algn="l">
              <a:spcBef>
                <a:spcPts val="5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영역별 용접라인 작업(시작/끝점) 수동 등록 후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검사계획 재배포</a:t>
            </a:r>
          </a:p>
        </p:txBody>
      </p:sp>
      <p:sp>
        <p:nvSpPr>
          <p:cNvPr id="12" name="버퍼"/>
          <p:cNvSpPr/>
          <p:nvPr/>
        </p:nvSpPr>
        <p:spPr>
          <a:xfrm>
            <a:off x="355600" y="3048000"/>
            <a:ext cx="4572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016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9B1B30"/>
                </a:solidFill>
              </a:rPr>
              <a:t>선창 전체 평가용 버퍼 기간 필요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전 단 × 10개 면(A·B·F·PL·PM·PU·SL·SM·SU·T)의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영역 최적화와 계획 반영을 수동으로 반복</a:t>
            </a:r>
          </a:p>
        </p:txBody>
      </p:sp>
      <p:sp>
        <p:nvSpPr>
          <p:cNvPr id="13" name="헤더 2"/>
          <p:cNvSpPr/>
          <p:nvPr/>
        </p:nvSpPr>
        <p:spPr>
          <a:xfrm>
            <a:off x="355600" y="4140200"/>
            <a:ext cx="4572000" cy="3302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12700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고도화·실운영: 검사계획 작성 자동화</a:t>
            </a:r>
          </a:p>
        </p:txBody>
      </p:sp>
      <p:sp>
        <p:nvSpPr>
          <p:cNvPr id="14" name="내용 2"/>
          <p:cNvSpPr txBox="1"/>
          <p:nvPr/>
        </p:nvSpPr>
        <p:spPr>
          <a:xfrm>
            <a:off x="355600" y="4546600"/>
            <a:ext cx="4572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도면 기반 Area 자동 분할·정차점 자동 산출</a:t>
            </a:r>
          </a:p>
          <a:p>
            <a:pPr marL="228600" indent="-228600" algn="l">
              <a:spcBef>
                <a:spcPts val="5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도달성·관절 특이점 시뮬레이션 자동 검증</a:t>
            </a:r>
          </a:p>
          <a:p>
            <a:pPr marL="228600" indent="-228600" algn="l">
              <a:spcBef>
                <a:spcPts val="500"/>
              </a:spcBef>
              <a:buFont typeface="+mj-lt"/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현장 평가 결과를 반영한 자동 재계획</a:t>
            </a:r>
          </a:p>
        </p:txBody>
      </p:sp>
      <p:sp>
        <p:nvSpPr>
          <p:cNvPr id="15" name="캡션 1"/>
          <p:cNvSpPr txBox="1"/>
          <p:nvPr/>
        </p:nvSpPr>
        <p:spPr>
          <a:xfrm>
            <a:off x="5143500" y="3350742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검사계획 화면: 영역 4점 좌표·작업 수동 등록</a:t>
            </a:r>
          </a:p>
        </p:txBody>
      </p:sp>
      <p:sp>
        <p:nvSpPr>
          <p:cNvPr id="16" name="캡션 2"/>
          <p:cNvSpPr txBox="1"/>
          <p:nvPr/>
        </p:nvSpPr>
        <p:spPr>
          <a:xfrm>
            <a:off x="5143500" y="5889625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전개도: 선창 면별 영역·작업 배치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4A2E9C-243A-EB09-DD47-D94CC62A9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143000"/>
            <a:ext cx="3810000" cy="21442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B71779-5D8B-840E-AFC0-775461A6E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3683000"/>
            <a:ext cx="3810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4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FF915E7-33DE-638D-7466-4F50EB0E44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2단계: 현장 사전 PoC 실행 계획 (10/13 ~ 10/23)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A89750-D286-B945-C73C-992EF64E7B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강조 바 1"/>
          <p:cNvSpPr/>
          <p:nvPr/>
        </p:nvSpPr>
        <p:spPr>
          <a:xfrm>
            <a:off x="355600" y="1143000"/>
            <a:ext cx="38100" cy="1016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11" name="단계 1"/>
          <p:cNvSpPr txBox="1"/>
          <p:nvPr/>
        </p:nvSpPr>
        <p:spPr>
          <a:xfrm>
            <a:off x="508000" y="1143000"/>
            <a:ext cx="2336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10/13 ~ 10/15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셋업·시퀀스</a:t>
            </a:r>
            <a:br>
              <a:rPr lang="ko-KR" altLang="en-US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완수 검증</a:t>
            </a:r>
          </a:p>
        </p:txBody>
      </p:sp>
      <p:sp>
        <p:nvSpPr>
          <p:cNvPr id="12" name="세부 1"/>
          <p:cNvSpPr txBox="1"/>
          <p:nvPr/>
        </p:nvSpPr>
        <p:spPr>
          <a:xfrm>
            <a:off x="2997200" y="1143000"/>
            <a:ext cx="63373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FT-05B, OT-01: </a:t>
            </a:r>
            <a:r>
              <a:rPr lang="ko-KR" altLang="en-US" sz="1400" dirty="0">
                <a:solidFill>
                  <a:schemeClr val="tx1"/>
                </a:solidFill>
              </a:rPr>
              <a:t>CAD ↔ SLAM(L2) 절대 캘리브레이션, 도면 TASK 좌표 정합성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OT-07: </a:t>
            </a:r>
            <a:r>
              <a:rPr lang="ko-KR" altLang="en-US" sz="1400" dirty="0">
                <a:solidFill>
                  <a:schemeClr val="tx1"/>
                </a:solidFill>
              </a:rPr>
              <a:t>현장 스테인리스/인바 반사광 하 비드 판정 (10/14)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OT-05B: </a:t>
            </a:r>
            <a:r>
              <a:rPr lang="ko-KR" altLang="en-US" sz="1400" dirty="0">
                <a:solidFill>
                  <a:schemeClr val="tx1"/>
                </a:solidFill>
              </a:rPr>
              <a:t>현장 정차 오차 하 검사 시퀀스 100% 완수 (10/15)</a:t>
            </a:r>
          </a:p>
        </p:txBody>
      </p:sp>
      <p:cxnSp>
        <p:nvCxnSpPr>
          <p:cNvPr id="13" name="구분선"/>
          <p:cNvCxnSpPr/>
          <p:nvPr/>
        </p:nvCxnSpPr>
        <p:spPr>
          <a:xfrm>
            <a:off x="355600" y="2247900"/>
            <a:ext cx="89789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14" name="강조 바 2"/>
          <p:cNvSpPr/>
          <p:nvPr/>
        </p:nvSpPr>
        <p:spPr>
          <a:xfrm>
            <a:off x="355600" y="2336800"/>
            <a:ext cx="38100" cy="1016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15" name="단계 2"/>
          <p:cNvSpPr txBox="1"/>
          <p:nvPr/>
        </p:nvSpPr>
        <p:spPr>
          <a:xfrm>
            <a:off x="508000" y="2336800"/>
            <a:ext cx="2336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10/16 ~ 10/18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Area 포괄성·간섭·</a:t>
            </a:r>
            <a:br>
              <a:rPr lang="ko-KR" altLang="en-US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특수 형상부</a:t>
            </a:r>
          </a:p>
        </p:txBody>
      </p:sp>
      <p:sp>
        <p:nvSpPr>
          <p:cNvPr id="16" name="세부 2"/>
          <p:cNvSpPr txBox="1"/>
          <p:nvPr/>
        </p:nvSpPr>
        <p:spPr>
          <a:xfrm>
            <a:off x="2997200" y="2336800"/>
            <a:ext cx="63373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OT-02A, 04: </a:t>
            </a:r>
            <a:r>
              <a:rPr lang="ko-KR" altLang="en-US" sz="1400" dirty="0">
                <a:solidFill>
                  <a:schemeClr val="tx1"/>
                </a:solidFill>
              </a:rPr>
              <a:t>1440×1440 Area 도달성, 기둥·하중분산판 간섭 (10/16~17)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OT-03A~C: </a:t>
            </a:r>
            <a:r>
              <a:rPr lang="ko-KR" altLang="en-US" sz="1400" dirty="0">
                <a:solidFill>
                  <a:schemeClr val="tx1"/>
                </a:solidFill>
              </a:rPr>
              <a:t>상·하부 챔퍼, 바닥, 천장 도달성 (10/18)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OT-15: </a:t>
            </a:r>
            <a:r>
              <a:rPr lang="ko-KR" altLang="en-US" sz="1400" dirty="0">
                <a:solidFill>
                  <a:schemeClr val="tx1"/>
                </a:solidFill>
              </a:rPr>
              <a:t>기둥 주변·챔퍼부 평가 시 케이블 트랙 텐션 함께 측정</a:t>
            </a:r>
          </a:p>
        </p:txBody>
      </p:sp>
      <p:cxnSp>
        <p:nvCxnSpPr>
          <p:cNvPr id="17" name="구분선"/>
          <p:cNvCxnSpPr/>
          <p:nvPr/>
        </p:nvCxnSpPr>
        <p:spPr>
          <a:xfrm>
            <a:off x="355600" y="3441700"/>
            <a:ext cx="89789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18" name="강조 바 3"/>
          <p:cNvSpPr/>
          <p:nvPr/>
        </p:nvSpPr>
        <p:spPr>
          <a:xfrm>
            <a:off x="355600" y="3530600"/>
            <a:ext cx="38100" cy="5588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19" name="단계 3"/>
          <p:cNvSpPr txBox="1"/>
          <p:nvPr/>
        </p:nvSpPr>
        <p:spPr>
          <a:xfrm>
            <a:off x="508000" y="35306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10/19 ~ 10/21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3점/4점 시트</a:t>
            </a:r>
          </a:p>
        </p:txBody>
      </p:sp>
      <p:sp>
        <p:nvSpPr>
          <p:cNvPr id="20" name="세부 3"/>
          <p:cNvSpPr txBox="1"/>
          <p:nvPr/>
        </p:nvSpPr>
        <p:spPr>
          <a:xfrm>
            <a:off x="2997200" y="3530600"/>
            <a:ext cx="63373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OT-10~13: </a:t>
            </a:r>
            <a:r>
              <a:rPr lang="ko-KR" altLang="en-US" sz="1400" dirty="0">
                <a:solidFill>
                  <a:schemeClr val="tx1"/>
                </a:solidFill>
              </a:rPr>
              <a:t>시트 궤적·교차부·반사광·리치 (LAB FT-08·09 적용)</a:t>
            </a:r>
          </a:p>
        </p:txBody>
      </p:sp>
      <p:cxnSp>
        <p:nvCxnSpPr>
          <p:cNvPr id="21" name="구분선"/>
          <p:cNvCxnSpPr/>
          <p:nvPr/>
        </p:nvCxnSpPr>
        <p:spPr>
          <a:xfrm>
            <a:off x="355600" y="4178300"/>
            <a:ext cx="89789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2" name="강조 바 4"/>
          <p:cNvSpPr/>
          <p:nvPr/>
        </p:nvSpPr>
        <p:spPr>
          <a:xfrm>
            <a:off x="355600" y="4267200"/>
            <a:ext cx="38100" cy="5588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3" name="단계 4"/>
          <p:cNvSpPr txBox="1"/>
          <p:nvPr/>
        </p:nvSpPr>
        <p:spPr>
          <a:xfrm>
            <a:off x="508000" y="42672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10/22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참고 측정</a:t>
            </a:r>
          </a:p>
        </p:txBody>
      </p:sp>
      <p:sp>
        <p:nvSpPr>
          <p:cNvPr id="24" name="세부 4"/>
          <p:cNvSpPr txBox="1"/>
          <p:nvPr/>
        </p:nvSpPr>
        <p:spPr>
          <a:xfrm>
            <a:off x="2997200" y="4267200"/>
            <a:ext cx="63373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OT-09: </a:t>
            </a:r>
            <a:r>
              <a:rPr lang="ko-KR" altLang="en-US" sz="1400" dirty="0">
                <a:solidFill>
                  <a:schemeClr val="tx1"/>
                </a:solidFill>
              </a:rPr>
              <a:t>소요 시간·배터리 소모율 참고 측정 (목표 판정 제외)</a:t>
            </a:r>
          </a:p>
        </p:txBody>
      </p:sp>
      <p:cxnSp>
        <p:nvCxnSpPr>
          <p:cNvPr id="25" name="구분선"/>
          <p:cNvCxnSpPr/>
          <p:nvPr/>
        </p:nvCxnSpPr>
        <p:spPr>
          <a:xfrm>
            <a:off x="355600" y="4914900"/>
            <a:ext cx="89789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6" name="강조 바 5"/>
          <p:cNvSpPr/>
          <p:nvPr/>
        </p:nvSpPr>
        <p:spPr>
          <a:xfrm>
            <a:off x="355600" y="5003800"/>
            <a:ext cx="38100" cy="5588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7" name="단계 5"/>
          <p:cNvSpPr txBox="1"/>
          <p:nvPr/>
        </p:nvSpPr>
        <p:spPr>
          <a:xfrm>
            <a:off x="508000" y="50038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10/23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종합 평가</a:t>
            </a:r>
          </a:p>
        </p:txBody>
      </p:sp>
      <p:sp>
        <p:nvSpPr>
          <p:cNvPr id="28" name="세부 5"/>
          <p:cNvSpPr txBox="1"/>
          <p:nvPr/>
        </p:nvSpPr>
        <p:spPr>
          <a:xfrm>
            <a:off x="2997200" y="5003800"/>
            <a:ext cx="63373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영역별 자동 검사 가능/불가 판정, 작업계획 재분할 및 평가계획 수정</a:t>
            </a:r>
          </a:p>
        </p:txBody>
      </p:sp>
      <p:sp>
        <p:nvSpPr>
          <p:cNvPr id="29" name="각주"/>
          <p:cNvSpPr txBox="1"/>
          <p:nvPr/>
        </p:nvSpPr>
        <p:spPr>
          <a:xfrm>
            <a:off x="355600" y="6070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OT-14(라이다 세이프티 존), OT-16(바닥 단차)은 9/7~9/10 사전 테스트에서 검증 완료</a:t>
            </a:r>
          </a:p>
        </p:txBody>
      </p:sp>
    </p:spTree>
    <p:extLst>
      <p:ext uri="{BB962C8B-B14F-4D97-AF65-F5344CB8AC3E}">
        <p14:creationId xmlns:p14="http://schemas.microsoft.com/office/powerpoint/2010/main" val="1862982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5D2DD70-4191-F1E2-0175-E8AD51F83C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테스트 세부 일정 (10/13 ~ 10/23)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0C593B-3F47-E86E-B2DF-CB69C6DDE8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aphicFrame>
        <p:nvGraphicFramePr>
          <p:cNvPr id="10" name="세부 일정 표"/>
          <p:cNvGraphicFramePr>
            <a:graphicFrameLocks noGrp="1"/>
          </p:cNvGraphicFramePr>
          <p:nvPr/>
        </p:nvGraphicFramePr>
        <p:xfrm>
          <a:off x="355600" y="1092200"/>
          <a:ext cx="8978900" cy="4521200"/>
        </p:xfrm>
        <a:graphic>
          <a:graphicData uri="http://schemas.openxmlformats.org/drawingml/2006/table">
            <a:tbl>
              <a:tblPr firstRow="1"/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셋업·시퀀스 검증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Area·간섭·특수 형상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3점/4점 시트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참고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404040"/>
                          </a:solidFill>
                        </a:rPr>
                        <a:t>평가</a:t>
                      </a:r>
                    </a:p>
                  </a:txBody>
                  <a:tcPr marL="254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TC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10/13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10/14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10/15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10/16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10/17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10/18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10/19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10/20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10/21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10/22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10/23</a:t>
                      </a:r>
                    </a:p>
                  </a:txBody>
                  <a:tcPr marL="127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셋업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장비 반입·인터록·SLAM 지도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FT-05B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절대 캘리브레이션(L2)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OT-01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도면 TASK 좌표 정합성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OT-07, 05B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반사광·정차 오차 하 시퀀스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8C4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8C4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OT-02A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1440×1440 Area 포괄성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OT-04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기둥·하중분산판 간섭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OT-15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케이블 텐션 (기둥·챔퍼 병행)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OT-03A~C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챔퍼·바닥·천장 도달성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OT-10~13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시트 궤적·교차부·반사광·리치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8C4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8C4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8C4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OT-09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소요 시간·배터리 (참고)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</a:rPr>
                        <a:t>종합 평가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가능/불가 판정·최종 보고</a:t>
                      </a:r>
                    </a:p>
                  </a:txBody>
                  <a:tcPr marL="50800" marR="254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400" dirty="0"/>
                    </a:p>
                  </a:txBody>
                  <a:tcPr marL="50800" marR="25400" marT="0" marB="0" anchor="ctr">
                    <a:lnL w="635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0" name="범례 색 FIELD 필수"/>
          <p:cNvSpPr/>
          <p:nvPr/>
        </p:nvSpPr>
        <p:spPr>
          <a:xfrm>
            <a:off x="355600" y="6019800"/>
            <a:ext cx="177800" cy="1778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endParaRPr lang="ko-KR" sz="1200" dirty="0"/>
          </a:p>
        </p:txBody>
      </p:sp>
      <p:sp>
        <p:nvSpPr>
          <p:cNvPr id="21" name="범례 FIELD 필수"/>
          <p:cNvSpPr txBox="1"/>
          <p:nvPr/>
        </p:nvSpPr>
        <p:spPr>
          <a:xfrm>
            <a:off x="609600" y="5969000"/>
            <a:ext cx="838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FIELD 필수</a:t>
            </a:r>
          </a:p>
        </p:txBody>
      </p:sp>
      <p:sp>
        <p:nvSpPr>
          <p:cNvPr id="22" name="범례 색 LAB 결과 적용 항목"/>
          <p:cNvSpPr/>
          <p:nvPr/>
        </p:nvSpPr>
        <p:spPr>
          <a:xfrm>
            <a:off x="1803400" y="6019800"/>
            <a:ext cx="177800" cy="177800"/>
          </a:xfrm>
          <a:prstGeom prst="rect">
            <a:avLst/>
          </a:prstGeom>
          <a:solidFill>
            <a:srgbClr val="E8C4CB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endParaRPr lang="ko-KR" sz="1200" dirty="0"/>
          </a:p>
        </p:txBody>
      </p:sp>
      <p:sp>
        <p:nvSpPr>
          <p:cNvPr id="23" name="범례 LAB 결과 적용 항목"/>
          <p:cNvSpPr txBox="1"/>
          <p:nvPr/>
        </p:nvSpPr>
        <p:spPr>
          <a:xfrm>
            <a:off x="2057400" y="59690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LAB 결과 적용 항목</a:t>
            </a:r>
          </a:p>
        </p:txBody>
      </p:sp>
      <p:sp>
        <p:nvSpPr>
          <p:cNvPr id="24" name="범례 색 종합 평가·보고"/>
          <p:cNvSpPr/>
          <p:nvPr/>
        </p:nvSpPr>
        <p:spPr>
          <a:xfrm>
            <a:off x="3784600" y="6019800"/>
            <a:ext cx="177800" cy="1778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endParaRPr lang="ko-KR" sz="1200" dirty="0"/>
          </a:p>
        </p:txBody>
      </p:sp>
      <p:sp>
        <p:nvSpPr>
          <p:cNvPr id="25" name="범례 종합 평가·보고"/>
          <p:cNvSpPr txBox="1"/>
          <p:nvPr/>
        </p:nvSpPr>
        <p:spPr>
          <a:xfrm>
            <a:off x="4038600" y="5969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종합 평가·보고</a:t>
            </a:r>
          </a:p>
        </p:txBody>
      </p:sp>
    </p:spTree>
    <p:extLst>
      <p:ext uri="{BB962C8B-B14F-4D97-AF65-F5344CB8AC3E}">
        <p14:creationId xmlns:p14="http://schemas.microsoft.com/office/powerpoint/2010/main" val="3167221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0288082-1F99-E99D-CA37-F1AED7ECC6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상세 검증 ① 셋업·도면 정합성 (10/13 ~ 10/14)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88F02-C571-BD6D-A6B7-8D197A1249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10" name="상세 검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6794"/>
              </p:ext>
            </p:extLst>
          </p:nvPr>
        </p:nvGraphicFramePr>
        <p:xfrm>
          <a:off x="355600" y="1092200"/>
          <a:ext cx="8978900" cy="3144520"/>
        </p:xfrm>
        <a:graphic>
          <a:graphicData uri="http://schemas.openxmlformats.org/drawingml/2006/table">
            <a:tbl>
              <a:tblPr first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TC · 검증 항목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사전 조건 · 시험 절차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Pass 기준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실패 시 대안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일정 · 소요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FT-05B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도면-SLAM(L2)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절대 캘리브레이션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실제 선체 CAD 도면·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SLAM 지도 로드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선체 Datum 기준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L2 캘리브레이션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위치 오차 측정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절대 변환 오차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허용공차 이내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복수 Datum 재측량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SLAM 랜드마크 재매핑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아핀 변환 재연산·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지도 갱신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10/13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0.5일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OT-01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도면 TASK 절대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좌표 일치성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수기 입력 용접선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TASK 좌표 로드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TASK 좌표로 코봇 이동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비드 중심선 오차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실측(5~10개소)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도면 좌표 대비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비드 중심 오차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±20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mm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 이내</a:t>
                      </a:r>
                      <a:endParaRPr lang="en-US" altLang="ko-KR" sz="13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리뷰 카메라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FOV)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구역 DATA 재측량 후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일괄 시프트 재적용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10/14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2시간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355600" y="60706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OT-14(라이다 세이프티 존), OT-16(바닥 단차)은 9/7~9/10 사전 테스트에서 검증 완료</a:t>
            </a:r>
          </a:p>
        </p:txBody>
      </p:sp>
    </p:spTree>
    <p:extLst>
      <p:ext uri="{BB962C8B-B14F-4D97-AF65-F5344CB8AC3E}">
        <p14:creationId xmlns:p14="http://schemas.microsoft.com/office/powerpoint/2010/main" val="917295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C6A38A-C80D-2FE1-8C00-8D24DAC0FF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상세 검증 ② 시퀀스 완수 검증 (10/14 ~ 10/15)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D59885-50A7-0F03-D249-2351FF3A6B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10" name="상세 검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318917"/>
              </p:ext>
            </p:extLst>
          </p:nvPr>
        </p:nvGraphicFramePr>
        <p:xfrm>
          <a:off x="355600" y="1092200"/>
          <a:ext cx="8978900" cy="3144520"/>
        </p:xfrm>
        <a:graphic>
          <a:graphicData uri="http://schemas.openxmlformats.org/drawingml/2006/table">
            <a:tbl>
              <a:tblPr first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TC · 검증 항목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사전 조건 · 시험 절차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Pass 기준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실패 시 대안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일정 · 소요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OT-07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현장 조명·반사광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판정 신뢰도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실제 스테인리스</a:t>
                      </a:r>
                      <a:r>
                        <a:rPr lang="en-US" altLang="ko-KR" sz="1300" dirty="0">
                          <a:solidFill>
                            <a:srgbClr val="595959"/>
                          </a:solidFill>
                        </a:rPr>
                        <a:t> </a:t>
                      </a:r>
                      <a:r>
                        <a:rPr lang="ko-KR" altLang="en-US" sz="1300" dirty="0" err="1">
                          <a:solidFill>
                            <a:srgbClr val="595959"/>
                          </a:solidFill>
                        </a:rPr>
                        <a:t>용접선</a:t>
                      </a: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, </a:t>
                      </a:r>
                      <a:endParaRPr lang="en-US" altLang="ko-KR" sz="1300" dirty="0">
                        <a:solidFill>
                          <a:srgbClr val="595959"/>
                        </a:solidFill>
                      </a:endParaRPr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현장 조명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실제 반사광 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비전 캡처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용접 위치 검출 결과 확인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용접선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 위치로 이동</a:t>
                      </a:r>
                      <a:endParaRPr lang="en-US" altLang="ko-KR" sz="13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카메라 파라미터·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AI 모델 학습 튜닝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10/14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4시간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OT-05B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현장 정차 절대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오차 하 검사 완수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실제 선체 바닥 슬립·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주행 환경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(LAB OT-05A 보정 적용)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실제 Area 주행·정차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오차 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시퀀스 완수 확인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SLAM 오차를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센서 체인이 흡수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시퀀스 100% 완수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SLAM 매칭 신뢰도 튜닝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판재 경계선 기준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상대 오프셋 알고리즘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패치·실증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10/15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4~6시간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355600" y="60706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시퀀스 완수 여부를 먼저 확인한 뒤 Area 포괄성·간섭 평가(10/16~)로 진행</a:t>
            </a:r>
          </a:p>
        </p:txBody>
      </p:sp>
    </p:spTree>
    <p:extLst>
      <p:ext uri="{BB962C8B-B14F-4D97-AF65-F5344CB8AC3E}">
        <p14:creationId xmlns:p14="http://schemas.microsoft.com/office/powerpoint/2010/main" val="4133726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C077D84-34E4-8278-6E4F-F5834E16CA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상세 검증 ③ Area 포괄성·간섭·케이블 (10/16 ~ 10/18)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BAF4A4-98E8-30C6-4A0B-0C3E5AAE12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graphicFrame>
        <p:nvGraphicFramePr>
          <p:cNvPr id="10" name="상세 검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0136"/>
              </p:ext>
            </p:extLst>
          </p:nvPr>
        </p:nvGraphicFramePr>
        <p:xfrm>
          <a:off x="355600" y="1092200"/>
          <a:ext cx="8978900" cy="4541520"/>
        </p:xfrm>
        <a:graphic>
          <a:graphicData uri="http://schemas.openxmlformats.org/drawingml/2006/table">
            <a:tbl>
              <a:tblPr first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TC · 검증 항목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사전 조건 · 시험 절차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Pass 기준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실패 시 대안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일정 · 소요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OT-02A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1440×1440 Area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다중 TASK 포괄성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1개 Area에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다수 TASK 할당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Area 정차 위치로 이동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정지 상태에서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전 TASK 스캔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단일 정차로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Area 내 전 TASK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도달 완료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[국소] Pose 편심 이동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(1.5시간)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[광범위] 1000×1000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이하 재분할·재배포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10/16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2시간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2일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OT-04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기둥·하중분산판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간섭, Standoff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내부 기둥·하중분산판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턱 위치 구역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정차 좌표로 AMR 주행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차체·바퀴 간섭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여부 실측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안전 이격 100 mm↑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단차 없는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평탄면 정차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장애물 Costmap 반영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정차점 평행 이동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간섭 TASK를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인접 Area로 재할당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10/16~17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2일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4시간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OT-15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케이블 트랙(Dresser)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텐션·꼬임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상·하부 챔퍼부,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기둥 주변 다관절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복합 회전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복합 회전 궤적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연속 실행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케이블 쓸림·텐션 실측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최소 굴곡 반경 준수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차체 간섭·마찰 없음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가이드 </a:t>
                      </a:r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브래킷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 조정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관절 가동 리미트 축소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10/17~18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0.5일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0.5일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각주"/>
          <p:cNvSpPr txBox="1"/>
          <p:nvPr/>
        </p:nvSpPr>
        <p:spPr>
          <a:xfrm>
            <a:off x="355600" y="60706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595959"/>
                </a:solidFill>
              </a:rPr>
              <a:t>OT-15는 우려 부위 평가와 함께 측정: 기둥 주변(OT-04, 10/17), 상·하부 챔퍼(OT-03A·B, 10/18)</a:t>
            </a:r>
          </a:p>
        </p:txBody>
      </p:sp>
    </p:spTree>
    <p:extLst>
      <p:ext uri="{BB962C8B-B14F-4D97-AF65-F5344CB8AC3E}">
        <p14:creationId xmlns:p14="http://schemas.microsoft.com/office/powerpoint/2010/main" val="67539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35155C-593D-F377-183F-7306313F3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상세 검증 ④ 특수 형상부 도달성 (10/18)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3580E-1F25-45A4-C847-DDCFA7BA2D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aphicFrame>
        <p:nvGraphicFramePr>
          <p:cNvPr id="10" name="상세 검증 표"/>
          <p:cNvGraphicFramePr>
            <a:graphicFrameLocks noGrp="1"/>
          </p:cNvGraphicFramePr>
          <p:nvPr/>
        </p:nvGraphicFramePr>
        <p:xfrm>
          <a:off x="355600" y="1092200"/>
          <a:ext cx="8978900" cy="4541520"/>
        </p:xfrm>
        <a:graphic>
          <a:graphicData uri="http://schemas.openxmlformats.org/drawingml/2006/table">
            <a:tbl>
              <a:tblPr first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TC · 검증 항목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사전 조건 · 시험 절차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Pass 기준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실패 시 대안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일정 · 소요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OT-03A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챔퍼 경사면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코봇 작업성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챔퍼 용접 TASK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포함 Area 정차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경사각에 맞춰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툴 법선 정렬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비드 전 구간 이동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툴 법선 90±5° 유지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특이점·간섭 없음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챔퍼 전용 Area 분리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사선 정차각·Standoff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가변 계산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궤적 재티칭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10/18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2시간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2일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OT-03B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바닥·하부 접합부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리치 및 간섭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바닥 인접 최하단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TASK 포함 Area 정차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바닥 근접 비드로 강하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바닥면 스캔 시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코봇 자세 확인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바닥면 간극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30 mm 이상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특이점 없음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Elbow-Down 자세 변경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역기구학 해 재선택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후퇴 오프셋 설정·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회피 티칭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10/18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2시간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OT-03C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천장·상부 최외곽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최대 신장 한계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천장 인접 최상단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TASK 포함 Area 정차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최상단 높이까지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암 신장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특이점 진입 확인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스트로크 95% 이내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특이점 없음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상단 TASK 배제 또는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상단 전용 근접 Area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신설, Standoff 재계산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작업 계획 재배포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10/18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2시간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907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5DC153D-50C8-3D9E-7173-3805B2CB00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상세 검증 ⑤ 3점/4점 시트 형상 (10/19 ~ 10/20)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B1830-965B-EF4D-8041-C1CFCC63E94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aphicFrame>
        <p:nvGraphicFramePr>
          <p:cNvPr id="10" name="상세 검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495483"/>
              </p:ext>
            </p:extLst>
          </p:nvPr>
        </p:nvGraphicFramePr>
        <p:xfrm>
          <a:off x="355600" y="1092200"/>
          <a:ext cx="8978900" cy="4541520"/>
        </p:xfrm>
        <a:graphic>
          <a:graphicData uri="http://schemas.openxmlformats.org/drawingml/2006/table">
            <a:tbl>
              <a:tblPr first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TC · 검증 항목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사전 조건 · 시험 절차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Pass 기준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실패 시 대안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일정 · 소요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OT-10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3점 시트(ㅏㅓㅗㅜ)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궤적·툴 자세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실제 시트 위치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(LAB FT-08 레시피)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형상별 궤적 구동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손목 관절 회전각·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특이점 확인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특이점 없음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TCP 법선이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비드 면에 수직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4개 형상 모션 재티칭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분기선 진입 순서 변경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툴 틸팅 10° 허용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10/19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1일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0.5일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OT-11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4점(십자) 교차부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연속 궤적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현장 4점 교차부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(LAB FT-09·10 적용)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십자 교차부 구동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중복 스캔 시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비전 판정 확인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케이블 꼬임 없이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연속 주행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교차점 중복 처리 정상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4방향 분할 스캔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궤적으로 수정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교차부 20 mm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마스킹 적용·실측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10/20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4시간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3시간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OT-12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시트 복합 형상부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반사광·단차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실제 선체 3점/4점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시트 용접부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실제 시트에서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레시피 구동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분기 코너 판정 확인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코너부 난반사에서도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오검출 없이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비드 판정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코너 전용 ROI·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레이저 교차 판정 패치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10/20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4시간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0.5일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392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55090C-49F3-41BE-069C-D03931B639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FIELD 상세 검증 ⑥ 시트 리치·참고 측정 (10/21 ~ 10/22)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3C0D4F-C45B-155A-0E3D-D2DF9624EF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graphicFrame>
        <p:nvGraphicFramePr>
          <p:cNvPr id="10" name="상세 검증 표"/>
          <p:cNvGraphicFramePr>
            <a:graphicFrameLocks noGrp="1"/>
          </p:cNvGraphicFramePr>
          <p:nvPr/>
        </p:nvGraphicFramePr>
        <p:xfrm>
          <a:off x="355600" y="1092200"/>
          <a:ext cx="8978900" cy="3144520"/>
        </p:xfrm>
        <a:graphic>
          <a:graphicData uri="http://schemas.openxmlformats.org/drawingml/2006/table">
            <a:tbl>
              <a:tblPr first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TC · 검증 항목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사전 조건 · 시험 절차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Pass 기준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실패 시 대안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일정 · 소요</a:t>
                      </a:r>
                    </a:p>
                  </a:txBody>
                  <a:tcPr marL="63500" marR="50800" marT="76200" marB="762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9B1B3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OT-13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시트별 정차 여유도·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툴 리치 한계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장애물 회피 정차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상태의 현장 시트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회피 정차 Pose로 이동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분기선 끝단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Reach 실측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시트 최외곽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분기 끝단까지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작업 반경 내 포함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단일 정차 불가 시트는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2회 정차로 분할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수동 작업 계획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재배치·동기화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10/21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 1일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9B1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9B1B30"/>
                          </a:solidFill>
                        </a:rPr>
                        <a:t>OT-09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Takt Time·배터리</a:t>
                      </a:r>
                      <a:br>
                        <a:rPr lang="ko-KR" altLang="en-US" sz="13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b="1" dirty="0">
                          <a:solidFill>
                            <a:schemeClr val="tx1"/>
                          </a:solidFill>
                        </a:rPr>
                        <a:t>소모율 (참고)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1단 전역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검사 환경</a:t>
                      </a:r>
                    </a:p>
                    <a:p>
                      <a:pPr marL="0" indent="0">
                        <a:spcBef>
                          <a:spcPts val="4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① 총 검사 소요 시간 측정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② 배터리 잔량 비교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참고 측정 (판정 제외)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소요 시간·배터리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소모율 기록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Area 이동 TSP 최적화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코봇 속도 상향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배터리 충전 사이클</a:t>
                      </a:r>
                      <a:br>
                        <a:rPr lang="ko-KR" altLang="en-US" sz="13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재수립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b="1" dirty="0">
                          <a:solidFill>
                            <a:srgbClr val="9B1B30"/>
                          </a:solidFill>
                        </a:rPr>
                        <a:t>10/22</a:t>
                      </a:r>
                    </a:p>
                    <a:p>
                      <a:pPr marL="0" indent="0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시험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4~6시간</a:t>
                      </a:r>
                      <a:br>
                        <a:rPr lang="ko-KR" altLang="en-US" sz="1300" dirty="0">
                          <a:solidFill>
                            <a:srgbClr val="595959"/>
                          </a:solidFill>
                        </a:rPr>
                      </a:br>
                      <a:r>
                        <a:rPr lang="ko-KR" altLang="en-US" sz="1300" dirty="0">
                          <a:solidFill>
                            <a:srgbClr val="595959"/>
                          </a:solidFill>
                        </a:rPr>
                        <a:t>대안 1일</a:t>
                      </a:r>
                    </a:p>
                  </a:txBody>
                  <a:tcPr marL="63500" marR="50800" marT="76200" marB="76200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642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CA8B262-25FD-F434-06C2-B20405E029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700" y="266700"/>
            <a:ext cx="7874000" cy="419100"/>
          </a:xfrm>
        </p:spPr>
        <p:txBody>
          <a:bodyPr/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산출물 및 향후 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63E392-865C-8D0E-9E86-31D07FFDAD3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9D38BF-033B-430D-8161-2CB3A99929C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10" name="번호 1"/>
          <p:cNvSpPr/>
          <p:nvPr/>
        </p:nvSpPr>
        <p:spPr>
          <a:xfrm>
            <a:off x="355600" y="1117600"/>
            <a:ext cx="355600" cy="3556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제목 산출물"/>
          <p:cNvSpPr txBox="1"/>
          <p:nvPr/>
        </p:nvSpPr>
        <p:spPr>
          <a:xfrm>
            <a:off x="812800" y="1117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PoC 주요 산출물</a:t>
            </a:r>
          </a:p>
        </p:txBody>
      </p:sp>
      <p:sp>
        <p:nvSpPr>
          <p:cNvPr id="20" name="산출물 카드 1"/>
          <p:cNvSpPr/>
          <p:nvPr/>
        </p:nvSpPr>
        <p:spPr>
          <a:xfrm>
            <a:off x="355600" y="1574800"/>
            <a:ext cx="2070100" cy="226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524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9B1B30"/>
                </a:solidFill>
              </a:rPr>
              <a:t>10/12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LAB</a:t>
            </a:r>
            <a:br>
              <a:rPr lang="ko-KR" altLang="en-US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검증 결과서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H/W 인터페이스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점검표, </a:t>
            </a:r>
            <a:r>
              <a:rPr lang="en-US" altLang="ko-KR" sz="1400" dirty="0">
                <a:solidFill>
                  <a:schemeClr val="tx1"/>
                </a:solidFill>
              </a:rPr>
              <a:t>LAB </a:t>
            </a:r>
            <a:r>
              <a:rPr lang="ko-KR" altLang="en-US" sz="1400" dirty="0" err="1">
                <a:solidFill>
                  <a:schemeClr val="tx1"/>
                </a:solidFill>
              </a:rPr>
              <a:t>수직벽</a:t>
            </a:r>
            <a:r>
              <a:rPr lang="en-US" altLang="ko-KR" sz="1400" dirty="0">
                <a:solidFill>
                  <a:schemeClr val="tx1"/>
                </a:solidFill>
              </a:rPr>
              <a:t>,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챔퍼부</a:t>
            </a:r>
            <a:r>
              <a:rPr lang="ko-KR" altLang="en-US" sz="1400" dirty="0">
                <a:solidFill>
                  <a:schemeClr val="tx1"/>
                </a:solidFill>
              </a:rPr>
              <a:t> 평가</a:t>
            </a:r>
            <a:r>
              <a:rPr lang="en-US" altLang="ko-KR" sz="1400" dirty="0">
                <a:solidFill>
                  <a:schemeClr val="tx1"/>
                </a:solidFill>
              </a:rPr>
              <a:t>,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1" name="카드 강조선 1"/>
          <p:cNvSpPr/>
          <p:nvPr/>
        </p:nvSpPr>
        <p:spPr>
          <a:xfrm>
            <a:off x="355600" y="1574800"/>
            <a:ext cx="20701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3" name="산출물 카드 2"/>
          <p:cNvSpPr/>
          <p:nvPr/>
        </p:nvSpPr>
        <p:spPr>
          <a:xfrm>
            <a:off x="2654300" y="1574800"/>
            <a:ext cx="2070100" cy="226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524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9B1B30"/>
                </a:solidFill>
              </a:rPr>
              <a:t>10/18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현장 정차</a:t>
            </a:r>
            <a:br>
              <a:rPr lang="ko-KR" altLang="en-US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도달성 맵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Area별 정차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가능/불가 구역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분류도, Standoff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권고 치수표</a:t>
            </a:r>
          </a:p>
        </p:txBody>
      </p:sp>
      <p:sp>
        <p:nvSpPr>
          <p:cNvPr id="24" name="카드 강조선 2"/>
          <p:cNvSpPr/>
          <p:nvPr/>
        </p:nvSpPr>
        <p:spPr>
          <a:xfrm>
            <a:off x="2654300" y="1574800"/>
            <a:ext cx="20701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6" name="산출물 카드 3"/>
          <p:cNvSpPr/>
          <p:nvPr/>
        </p:nvSpPr>
        <p:spPr>
          <a:xfrm>
            <a:off x="4953000" y="1574800"/>
            <a:ext cx="2070100" cy="226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524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9B1B30"/>
                </a:solidFill>
              </a:rPr>
              <a:t>10/20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작업계획</a:t>
            </a:r>
            <a:br>
              <a:rPr lang="ko-KR" altLang="en-US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수정안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1440×1440 Area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재분할 데이터,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특수면(챔퍼/바닥)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전용 경로 계획</a:t>
            </a:r>
          </a:p>
        </p:txBody>
      </p:sp>
      <p:sp>
        <p:nvSpPr>
          <p:cNvPr id="27" name="카드 강조선 3"/>
          <p:cNvSpPr/>
          <p:nvPr/>
        </p:nvSpPr>
        <p:spPr>
          <a:xfrm>
            <a:off x="4953000" y="1574800"/>
            <a:ext cx="20701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29" name="산출물 카드 4"/>
          <p:cNvSpPr/>
          <p:nvPr/>
        </p:nvSpPr>
        <p:spPr>
          <a:xfrm>
            <a:off x="7251700" y="1574800"/>
            <a:ext cx="2070100" cy="226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52400" rIns="1016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9B1B30"/>
                </a:solidFill>
              </a:rPr>
              <a:t>10/23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최종 PoC</a:t>
            </a:r>
            <a:br>
              <a:rPr lang="ko-KR" altLang="en-US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평가 보고서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영역별 자동 검사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가능/불가 판정 결과,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적용 가능 최대 영역,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검사 신뢰도 데이터</a:t>
            </a:r>
          </a:p>
        </p:txBody>
      </p:sp>
      <p:sp>
        <p:nvSpPr>
          <p:cNvPr id="30" name="카드 강조선 4"/>
          <p:cNvSpPr/>
          <p:nvPr/>
        </p:nvSpPr>
        <p:spPr>
          <a:xfrm>
            <a:off x="7251700" y="1574800"/>
            <a:ext cx="20701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/>
          </a:p>
        </p:txBody>
      </p:sp>
      <p:sp>
        <p:nvSpPr>
          <p:cNvPr id="40" name="번호 2"/>
          <p:cNvSpPr/>
          <p:nvPr/>
        </p:nvSpPr>
        <p:spPr>
          <a:xfrm>
            <a:off x="355600" y="4038600"/>
            <a:ext cx="355600" cy="355600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제목 기대 효과"/>
          <p:cNvSpPr txBox="1"/>
          <p:nvPr/>
        </p:nvSpPr>
        <p:spPr>
          <a:xfrm>
            <a:off x="812800" y="403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기대 효과</a:t>
            </a:r>
          </a:p>
        </p:txBody>
      </p:sp>
      <p:sp>
        <p:nvSpPr>
          <p:cNvPr id="42" name="효과 박스 1"/>
          <p:cNvSpPr/>
          <p:nvPr/>
        </p:nvSpPr>
        <p:spPr>
          <a:xfrm>
            <a:off x="355600" y="4495800"/>
            <a:ext cx="4394200" cy="1168400"/>
          </a:xfrm>
          <a:prstGeom prst="rect">
            <a:avLst/>
          </a:prstGeom>
          <a:noFill/>
          <a:ln w="19050">
            <a:solidFill>
              <a:srgbClr val="9B1B30"/>
            </a:solidFill>
          </a:ln>
        </p:spPr>
        <p:txBody>
          <a:bodyPr wrap="square" lIns="177800" tIns="152400" rIns="1524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현장 오류 사전 제거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사전 LAB 검증으로 현장 오류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(통신, H/W, 시퀀스) </a:t>
            </a:r>
            <a:r>
              <a:rPr lang="ko-KR" altLang="en-US" sz="1400" b="1" dirty="0">
                <a:solidFill>
                  <a:schemeClr val="tx1"/>
                </a:solidFill>
              </a:rPr>
              <a:t>90% 이상</a:t>
            </a:r>
            <a:r>
              <a:rPr lang="ko-KR" altLang="en-US" sz="1400" dirty="0">
                <a:solidFill>
                  <a:schemeClr val="tx1"/>
                </a:solidFill>
              </a:rPr>
              <a:t> 제거</a:t>
            </a:r>
          </a:p>
        </p:txBody>
      </p:sp>
      <p:sp>
        <p:nvSpPr>
          <p:cNvPr id="43" name="효과 박스 2"/>
          <p:cNvSpPr/>
          <p:nvPr/>
        </p:nvSpPr>
        <p:spPr>
          <a:xfrm>
            <a:off x="4940300" y="4495800"/>
            <a:ext cx="4394200" cy="1168400"/>
          </a:xfrm>
          <a:prstGeom prst="rect">
            <a:avLst/>
          </a:prstGeom>
          <a:noFill/>
          <a:ln w="19050">
            <a:solidFill>
              <a:srgbClr val="9B1B30"/>
            </a:solidFill>
          </a:ln>
        </p:spPr>
        <p:txBody>
          <a:bodyPr wrap="square" lIns="177800" tIns="152400" rIns="152400" bIns="1016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9B1B30"/>
                </a:solidFill>
              </a:rPr>
              <a:t>실증 일정 지연 방지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현장 특화 위험 요소(코루게이션,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컴플라이언트 휠, 수동 도면)에</a:t>
            </a:r>
            <a:br>
              <a:rPr lang="ko-KR" altLang="en-US" sz="1400" dirty="0">
                <a:solidFill>
                  <a:schemeClr val="tx1"/>
                </a:solidFill>
              </a:rPr>
            </a:br>
            <a:r>
              <a:rPr lang="ko-KR" altLang="en-US" sz="1400" dirty="0">
                <a:solidFill>
                  <a:schemeClr val="tx1"/>
                </a:solidFill>
              </a:rPr>
              <a:t>즉각 대안 적용</a:t>
            </a:r>
          </a:p>
        </p:txBody>
      </p:sp>
    </p:spTree>
    <p:extLst>
      <p:ext uri="{BB962C8B-B14F-4D97-AF65-F5344CB8AC3E}">
        <p14:creationId xmlns:p14="http://schemas.microsoft.com/office/powerpoint/2010/main" val="59280110"/>
      </p:ext>
    </p:extLst>
  </p:cSld>
  <p:clrMapOvr>
    <a:masterClrMapping/>
  </p:clrMapOvr>
</p:sld>
</file>

<file path=ppt/theme/theme1.xml><?xml version="1.0" encoding="utf-8"?>
<a:theme xmlns:a="http://schemas.openxmlformats.org/drawingml/2006/main" name="회사 소개서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8EEAC5-7F5B-3444-96A0-C44574EB934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4efbc1d-d8b0-47bf-acc5-8ea62de54e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3151</TotalTime>
  <Words>5041</Words>
  <Application>Microsoft Macintosh PowerPoint</Application>
  <PresentationFormat>A4 용지(210x297mm)</PresentationFormat>
  <Paragraphs>922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Arial</vt:lpstr>
      <vt:lpstr>Calibri</vt:lpstr>
      <vt:lpstr>Calibri Light</vt:lpstr>
      <vt:lpstr>회사 소개서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김선미</dc:creator>
  <cp:lastModifiedBy>성곤 김</cp:lastModifiedBy>
  <cp:revision>55</cp:revision>
  <dcterms:created xsi:type="dcterms:W3CDTF">2024-12-18T02:03:32Z</dcterms:created>
  <dcterms:modified xsi:type="dcterms:W3CDTF">2026-10-04T13:27:46Z</dcterms:modified>
</cp:coreProperties>
</file>