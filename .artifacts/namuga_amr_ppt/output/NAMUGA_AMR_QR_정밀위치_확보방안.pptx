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ff069e6ec5643b8" /><Relationship Type="http://schemas.openxmlformats.org/officeDocument/2006/relationships/extended-properties" Target="/docProps/app.xml" Id="R2555c73b5d1e4ee7" /><Relationship Type="http://schemas.openxmlformats.org/officeDocument/2006/relationships/officeDocument" Target="/ppt/presentation.xml" Id="Rbd266796be2d42f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486a656a4c461c"/>
  </p:sldMasterIdLst>
  <p:notesMasterIdLst>
    <p:notesMasterId xmlns:r="http://schemas.openxmlformats.org/officeDocument/2006/relationships" r:id="R00e4918586e543c4"/>
  </p:notesMasterIdLst>
  <p:sldIdLst>
    <p:sldId xmlns:r="http://schemas.openxmlformats.org/officeDocument/2006/relationships" id="256" r:id="R28683d20ca8c41fe"/>
    <p:sldId xmlns:r="http://schemas.openxmlformats.org/officeDocument/2006/relationships" id="257" r:id="R221fe707e32d49ff"/>
    <p:sldId xmlns:r="http://schemas.openxmlformats.org/officeDocument/2006/relationships" id="258" r:id="Rd83a90eedc584589"/>
    <p:sldId xmlns:r="http://schemas.openxmlformats.org/officeDocument/2006/relationships" id="259" r:id="R9373d7f312a44296"/>
    <p:sldId xmlns:r="http://schemas.openxmlformats.org/officeDocument/2006/relationships" id="260" r:id="R39f1404be49a459c"/>
    <p:sldId xmlns:r="http://schemas.openxmlformats.org/officeDocument/2006/relationships" id="261" r:id="R3ad2d68c0dcf42d9"/>
  </p:sldIdLst>
  <p:sldSz cx="9906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22eab3480994532" /><Relationship Type="http://schemas.openxmlformats.org/officeDocument/2006/relationships/slideMaster" Target="/ppt/slideMasters/slideMaster1.xml" Id="Rc3486a656a4c461c" /><Relationship Type="http://schemas.openxmlformats.org/officeDocument/2006/relationships/notesMaster" Target="/ppt/notesMasters/notesMaster1.xml" Id="R00e4918586e543c4" /><Relationship Type="http://schemas.openxmlformats.org/officeDocument/2006/relationships/presProps" Target="/ppt/presProps.xml" Id="Raaec608360884082" /><Relationship Type="http://schemas.openxmlformats.org/officeDocument/2006/relationships/tableStyles" Target="/ppt/tableStyles.xml" Id="R49bafb98f95a4310" /><Relationship Type="http://schemas.openxmlformats.org/officeDocument/2006/relationships/slide" Target="/ppt/slides/slide1.xml" Id="R28683d20ca8c41fe" /><Relationship Type="http://schemas.openxmlformats.org/officeDocument/2006/relationships/slide" Target="/ppt/slides/slide2.xml" Id="R221fe707e32d49ff" /><Relationship Type="http://schemas.openxmlformats.org/officeDocument/2006/relationships/slide" Target="/ppt/slides/slide3.xml" Id="Rd83a90eedc584589" /><Relationship Type="http://schemas.openxmlformats.org/officeDocument/2006/relationships/slide" Target="/ppt/slides/slide4.xml" Id="R9373d7f312a44296" /><Relationship Type="http://schemas.openxmlformats.org/officeDocument/2006/relationships/slide" Target="/ppt/slides/slide5.xml" Id="R39f1404be49a459c" /><Relationship Type="http://schemas.openxmlformats.org/officeDocument/2006/relationships/slide" Target="/ppt/slides/slide6.xml" Id="R3ad2d68c0dcf42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f24a45e0b3b434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80131de0a74f20" /><Relationship Type="http://schemas.openxmlformats.org/officeDocument/2006/relationships/notesMaster" Target="/ppt/notesMasters/notesMaster1.xml" Id="R8579bf33b51b45b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4ecdd6f60e9462d" /><Relationship Type="http://schemas.openxmlformats.org/officeDocument/2006/relationships/notesMaster" Target="/ppt/notesMasters/notesMaster1.xml" Id="R3830dc6fbc8e46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09cbc2895f54a8c" /><Relationship Type="http://schemas.openxmlformats.org/officeDocument/2006/relationships/notesMaster" Target="/ppt/notesMasters/notesMaster1.xml" Id="Rba92e439bbbe4e3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5aff416b0d443fe" /><Relationship Type="http://schemas.openxmlformats.org/officeDocument/2006/relationships/notesMaster" Target="/ppt/notesMasters/notesMaster1.xml" Id="R45b40e4d693c47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9c167336f53487d" /><Relationship Type="http://schemas.openxmlformats.org/officeDocument/2006/relationships/notesMaster" Target="/ppt/notesMasters/notesMaster1.xml" Id="R0a75d3c6f94b41b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034eef30a54000" /><Relationship Type="http://schemas.openxmlformats.org/officeDocument/2006/relationships/notesMaster" Target="/ppt/notesMasters/notesMaster1.xml" Id="R104a7516b78b46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본 자료는 NAMUGA_AMR 구현 코드와 인터페이스 문서를 기반으로 작성함. 정량 성능은 현장 POC에서 검증 필요.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AMR/Service/MoveSequenceRunner.cs, CameraService.cs, CobotService.cs; docs/MainSequence.md; docs/cobot_interface.md.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±50 mm는 사용자가 요청한 정차 오차 범위. 최종 정밀도 수치는 제공되지 않아 POC 검증 항목으로 명시함.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CameraService.cs lines implementing pinhole conversion, 5×5 depth median and preprocessing; MoveSequenceRunner.cs implementing 5 samples, medians, PortOffset/ModelOffset and AI0–AI2 writes.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docs/MainSequence.md; MoveSequenceRunner.cs (Steps 1–10, QR read, pickup/place selection, magazine detection and I/O checks). The current code includes last-value fallback when all five QR samples fail; production acceptance should define whether fallback is allowed.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정량 합격 공차와 회전 허용 범위는 사용자 입력이 없어 고객 요구사항으로 남김. 반복 횟수는 검증 계획 제안이며 실제 POC 협의 시 조정 가능.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131477c93134b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c77492022ce4ac2" /><Relationship Type="http://schemas.openxmlformats.org/officeDocument/2006/relationships/slideLayout" Target="/ppt/slideLayouts/slideLayout1.xml" Id="Rf4d013acdc9d4b2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4d013acdc9d4b2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5f2e47bf11440b" /><Relationship Type="http://schemas.openxmlformats.org/officeDocument/2006/relationships/notesSlide" Target="/ppt/notesSlides/notesSlide1.xml" Id="R9f73c08708cc42c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a2ce399b8b40b2" /><Relationship Type="http://schemas.openxmlformats.org/officeDocument/2006/relationships/notesSlide" Target="/ppt/notesSlides/notesSlide2.xml" Id="R1bd1aa743294411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1790f2139ce479d" /><Relationship Type="http://schemas.openxmlformats.org/officeDocument/2006/relationships/notesSlide" Target="/ppt/notesSlides/notesSlide3.xml" Id="Rca33c4bbbc74410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320ff4c5a940f7" /><Relationship Type="http://schemas.openxmlformats.org/officeDocument/2006/relationships/notesSlide" Target="/ppt/notesSlides/notesSlide4.xml" Id="R0265dda5b1c040f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5710455f8bd4f77" /><Relationship Type="http://schemas.openxmlformats.org/officeDocument/2006/relationships/notesSlide" Target="/ppt/notesSlides/notesSlide5.xml" Id="Rb28d5203226447f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b6df52579746ea" /><Relationship Type="http://schemas.openxmlformats.org/officeDocument/2006/relationships/notesSlide" Target="/ppt/notesSlides/notesSlide6.xml" Id="R3121603f4809497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3725E6-CD1C-41BD-98FB-68D44851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71450"/>
            <a:ext cx="1428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750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07168-DAB2-4B92-A151-34684A0E2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2858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EAB32A-FA2B-4087-9D75-3491B056B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619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2837FB-50E9-4EBA-81C2-FAFD6208D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52625"/>
            <a:ext cx="79057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제어 구성 및 QR 기반</a:t>
            </a:r>
          </a:p>
          <a:p xmlns:a="http://schemas.openxmlformats.org/drawingml/2006/main">
            <a:pPr algn="l">
              <a:defRPr sz="22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매거진 PICKUP / PLACE 위치 정밀도 확보 방안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BD2779-80AE-484F-B32B-D966A58BB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95625"/>
            <a:ext cx="762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AMR 정차 오차 ±50 mm를 비전 보정으로 흡수하는 시스템 설계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CCF28F-FEF2-4253-B014-788E4B8F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552825"/>
            <a:ext cx="65722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시스템 개요 · 보정 원리 · 작업 시퀀스 · 검증 기준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597455-056E-4000-B637-D628C783A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82391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8550774-C9C5-4491-8A00-238FA92ED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386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NAMUGA  |  2026. 10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7A527-0B0C-4674-BC5A-BFB9B2E1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57212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424"/>
          </a:bodyPr>
          <a:lstStyle xmlns:a="http://schemas.openxmlformats.org/drawingml/2006/main"/>
          <a:p xmlns:a="http://schemas.openxmlformats.org/drawingml/2006/main">
            <a:pPr algn="r">
              <a:defRPr sz="1650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49AD27-2E8E-407B-9F7F-E0872B599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9055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QR Guided Precision Handling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DD65AB-6FEF-41FF-8960-67AA2233B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048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Copyright © NAMUGA. 2026. All Rights Reserved.</a:t>
            </a:r>
          </a:p>
        </p:txBody>
      </p:sp>
    </p:spTree>
    <p:extLst>
      <p:ext uri="{BB962C8B-B14F-4D97-AF65-F5344CB8AC3E}">
        <p14:creationId xmlns:p14="http://schemas.microsoft.com/office/powerpoint/2010/main" val="20664089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DEBAE4E-0FAB-4D33-A168-ED13C3EAA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NAMUGA AMR 제어 구성도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4F0C0F-2B98-471B-9628-63ED302C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관제 명령부터 협동로봇 위치 보정까지 단일 시퀀스로 연계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2FB8AB-925C-41A2-A29E-EE319BC2A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CF219A-5D16-4ED9-AFC3-06A642BF4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B05E3E-DDEF-4AE7-B956-7B5104FD5F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25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Precision Handling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DFF16C7-3CC2-45DF-B70B-8A5EEA64D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1FCE8A8-A325-489F-BBA4-9371C63FD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04875"/>
            <a:ext cx="76200" cy="519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544CD-BBA1-4CE6-8AF1-C8A6F614F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86900" y="2286000"/>
            <a:ext cx="4000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0E6D05-EB0F-43D7-81D0-66836985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048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Copyright © NAMUGA. 2026. All Rights Reserved.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31AC90-D7D7-45A4-BA77-A97AC8476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6572250"/>
            <a:ext cx="257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653EDD5-5E1A-4D2A-B135-67448DBD2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0125"/>
            <a:ext cx="18097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D24DB7-321E-45DA-92BF-79C567C03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066800"/>
            <a:ext cx="1619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417"/>
          </a:bodyPr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ACS 관제 서버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76378-5FDC-4980-99B2-1D74D2DB5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333500"/>
            <a:ext cx="1619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333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moveCmd · actionCmd</a:t>
            </a:r>
          </a:p>
          <a:p xmlns:a="http://schemas.openxmlformats.org/drawingml/2006/main">
            <a:pPr algn="ctr">
              <a:defRPr sz="750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7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MQTT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4CA826F-B73B-406B-807C-61ACAB2EF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895350"/>
            <a:ext cx="3571875" cy="933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18E33-0253-48C5-B62C-2F79F656E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000125"/>
            <a:ext cx="3228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444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AMR 통합 제어 PC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CF1847-1145-4B20-BEE6-53D0E69D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1333500"/>
            <a:ext cx="32289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Main Sequence · 상태 관리 · 오프셋 계산 · 이력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A01044-7DF2-4EF4-81AA-F5F1F29A0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000125"/>
            <a:ext cx="1619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3FB64B-5653-41FE-A21B-C21D6897D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076325"/>
            <a:ext cx="1390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AMR Controller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D53AB8-42FC-477A-BBEC-1927D55CB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333500"/>
            <a:ext cx="13906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Node 이동 · 정차</a:t>
            </a:r>
          </a:p>
          <a:p xmlns:a="http://schemas.openxmlformats.org/drawingml/2006/main">
            <a:pPr algn="ctr">
              <a:def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상태 / 알람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9D8AAF-B8F2-46EF-90B9-2CC995A74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9850" y="1209675"/>
            <a:ext cx="514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solidFill>
              <a:srgbClr val="9B1B30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98D525C-CDE6-48C5-939A-1892503E1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4125" y="981075"/>
            <a:ext cx="6953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Wi-Fi / MQTT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09B3C1-4A9D-4412-925B-EFF5E179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1209675"/>
            <a:ext cx="5143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solidFill>
              <a:srgbClr val="595959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479E88F-BCC6-4615-AF43-7E1CECD4E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981075"/>
            <a:ext cx="7143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595959"/>
                </a:solidFill>
                <a:latin typeface="Arial"/>
                <a:ea typeface="Arial"/>
                <a:cs typeface="Arial"/>
              </a:rPr>
              <a:t>Modbus TCP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E5C3BB-BAF9-4B8D-A3C5-2D1E194FA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6CCBA0-0C29-4D02-884D-78E1D8409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336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0718637-7AC2-46DA-8EE5-1B91F87F0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13360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통합 제어 PC 내부 서비스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C26A33-1F54-4427-A149-3DBAA304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57175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F1"/>
          </a:solidFill>
          <a:ln xmlns:a="http://schemas.openxmlformats.org/drawingml/2006/main" w="9525">
            <a:solidFill>
              <a:srgbClr val="9B1B30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3963FE7-DD59-4850-85B0-72EFC51C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479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MainSequence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A01663-80D6-4D4A-BF3A-C4D1A9002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895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10단계 작업 상태머신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E28B01-C689-40F0-9FB9-1A3A9DF32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80987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401A0A-D983-4DA7-8893-C55C1C29E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5125" y="257175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349CFDE-D8AB-467D-817B-D014A942D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6479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CameraService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7D11BF3-B5EF-4053-8B34-EAC777CD5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9425" y="2895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RGB·Depth / QR 좌표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F5F522-0132-48CE-9A87-B3C2CAB69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280987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EE3692C-6FC3-46FF-A2A7-FB5782D36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57175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D614EBC-02A8-4B4F-86A9-4DC6658F2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6479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Offset Service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6D9C37-C716-4288-926A-E73C7353D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5425" y="2895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Port + Model 보정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142A648-AD6C-42B3-B1C2-5804A681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809875"/>
            <a:ext cx="19050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415181C-1535-44FA-B352-BD894E8D3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77125" y="2571750"/>
            <a:ext cx="19812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0C97281-8561-4A5D-B212-71048BBC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647950"/>
            <a:ext cx="17526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487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CobotService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E8BC5E0-35CD-420B-8390-6513240F7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1425" y="2895600"/>
            <a:ext cx="1752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DI/DO·AI 레지스터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112E811-90FA-4367-900E-308878F95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7453A5A-6ADC-4608-8A93-CB09CA0E6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6004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37DA09A-DC0E-4567-B4F6-B2784084A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6004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현장 장치 및 데이터 흐름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BD8436-03F5-43FF-BAA8-0D1DB931A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0386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95CDE91-3E73-41AE-A08E-F942034F5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433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RGB-D 카메라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F1CBE51-0E44-401A-8407-0C0156365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QR 중심점 · 회전각</a:t>
            </a:r>
          </a:p>
          <a:p xmlns:a="http://schemas.openxmlformats.org/drawingml/2006/main">
            <a:pPr algn="ctr">
              <a:defRPr sz="82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Depth 기반 실제 거리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C802665-0C29-463E-943E-571B17955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0386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133DB28-E270-495D-AAFA-B726B1162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143375"/>
            <a:ext cx="1809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협동로봇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E641BA7-788C-4964-956E-09B3C266D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438650"/>
            <a:ext cx="180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AI0: dx · AI1: dy</a:t>
            </a:r>
          </a:p>
          <a:p xmlns:a="http://schemas.openxmlformats.org/drawingml/2006/main">
            <a:pPr algn="ctr">
              <a:defRPr sz="82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AI2: dθ ×100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AA87C97-FA77-498B-82FE-0E5F93D2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4038600"/>
            <a:ext cx="1857375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A976925-CE92-4BBE-9859-0DDB0631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143375"/>
            <a:ext cx="16097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556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I/O · 안전 장치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DE60673-F54B-453A-B8F0-905220C31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438650"/>
            <a:ext cx="160972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Busy · Complete · Error</a:t>
            </a:r>
          </a:p>
          <a:p xmlns:a="http://schemas.openxmlformats.org/drawingml/2006/main">
            <a:pPr algn="ctr">
              <a:defRPr sz="82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인터록 / 비상정지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20185A0-F973-4E76-A0A1-1F9A8BC00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410075"/>
            <a:ext cx="781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solidFill>
              <a:srgbClr val="9B1B30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150E177-FE76-4B2A-AA56-54FEE8EB2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191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좌표 보정값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B244B5-8D89-4E4F-A5E0-ABE69D5678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410075"/>
            <a:ext cx="781050" cy="2286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595959"/>
          </a:solidFill>
          <a:ln xmlns:a="http://schemas.openxmlformats.org/drawingml/2006/main" w="0">
            <a:solidFill>
              <a:srgbClr val="595959"/>
            </a:solidFill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32E271-0BAE-473C-97BF-77103532A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4191000"/>
            <a:ext cx="666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동작 상태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FB95944-43F6-43B0-BC53-73FE6C54A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429250"/>
            <a:ext cx="8810625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F1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183577A-B297-40D8-8AA8-EA4D4C56E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524500"/>
            <a:ext cx="1428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111"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핵심 제어 경계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D857D84-E401-4868-AE05-625FA059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81675"/>
            <a:ext cx="8334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AMR의 절대 정차 위치는 이동 제어가 담당하고, 매거진 작업점의 잔여 오차는 QR 좌표를 읽어 협동로봇의 접근 경로에 반영합니다.</a:t>
            </a:r>
          </a:p>
        </p:txBody>
      </p:sp>
    </p:spTree>
    <p:extLst>
      <p:ext uri="{BB962C8B-B14F-4D97-AF65-F5344CB8AC3E}">
        <p14:creationId xmlns:p14="http://schemas.microsoft.com/office/powerpoint/2010/main" val="95585662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F2AEAA0-562E-4C6D-BF7F-74E500B72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±50 mm 정차 오차를 흡수하는 2단계 위치 결정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0B65C7-9414-4F15-B61E-7CAFF8E3F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AMR은 작업 가능 영역에 진입하고, QR 보정이 실제 PICKUP / PLACE 기준점을 복원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CEC726-1768-41AA-A35E-CE1E71184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EEA795-D3B6-41EE-8CED-845CA41ED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583B32-6BA8-47C1-A551-F4F70D765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25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Precision Handling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5DF698-686B-417C-98B0-BD3C3B9DB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29A974-83CF-43B5-BB73-D707B88BC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04875"/>
            <a:ext cx="76200" cy="519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65A49B-E50E-4D09-A33C-E5E75EFC7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86900" y="2286000"/>
            <a:ext cx="4000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7FDA12C-20AC-4BAD-A772-9D0F9ED3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048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Copyright © NAMUGA. 2026. All Rights Reserved.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B8FFE2-2055-4C07-A340-C3E374F37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6572250"/>
            <a:ext cx="257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111FD92-36F0-41CC-B854-FE67C0A45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0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1E0B4F-6A17-4E46-95E0-74318F6E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01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2C737E2-FAA7-413E-9CBE-3D821FEDE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0012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1차 위치 결정: AMR 정차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306AE4-9A69-40BB-A1C9-24F4D3767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76375"/>
            <a:ext cx="3762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40CD35A-57DC-4C1E-B21C-19C4EC0E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809750"/>
            <a:ext cx="0" cy="22383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C5717AC-A921-47EA-857F-BAB0F408F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924175"/>
            <a:ext cx="228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4E7C28-A7FA-44BA-A28A-3FE6AFA0D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2209800"/>
            <a:ext cx="1428750" cy="1428750"/>
          </a:xfrm>
          <a:prstGeom xmlns:a="http://schemas.openxmlformats.org/drawingml/2006/main" prst="roundRect">
            <a:avLst>
              <a:gd name="adj" fmla="val 5333"/>
            </a:avLst>
          </a:prstGeom>
          <a:noFill xmlns:a="http://schemas.openxmlformats.org/drawingml/2006/main"/>
          <a:ln xmlns:a="http://schemas.openxmlformats.org/drawingml/2006/main" w="9525">
            <a:solidFill>
              <a:srgbClr val="9B1B30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D56F76-B726-4EC1-86A1-FFFA741B9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625" y="2628900"/>
            <a:ext cx="12382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±50 mm</a:t>
            </a:r>
          </a:p>
          <a:p xmlns:a="http://schemas.openxmlformats.org/drawingml/2006/main">
            <a:pPr algn="ctr">
              <a:defRPr sz="13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정차 오차 영역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CA638A-AEF0-4D3E-B4CC-9DD167AFF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2675" y="2705100"/>
            <a:ext cx="4381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636DDC-7192-434C-A5B8-2DD06C1D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1725" y="2819400"/>
            <a:ext cx="400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AMR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7659D5D-F588-4CC3-8B22-82F85B6F6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4575" y="1838325"/>
            <a:ext cx="514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목표 노드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E926B42-BE93-4E15-90B7-90E8A7464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000500"/>
            <a:ext cx="3190875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주행 제어는 QR 카메라가</a:t>
            </a:r>
          </a:p>
          <a:p xmlns:a="http://schemas.openxmlformats.org/drawingml/2006/main">
            <a:pPr algn="ctr">
              <a:defRPr sz="9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대상을 볼 수 있는 범위까지 정차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B55F5A-2649-49ED-9BD5-71C4AA034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714625"/>
            <a:ext cx="523875" cy="2667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solidFill>
              <a:srgbClr val="9B1B30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48FE55-AF6E-4318-91BE-AD65D2AE0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067050"/>
            <a:ext cx="647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잔여 오차</a:t>
            </a:r>
          </a:p>
          <a:p xmlns:a="http://schemas.openxmlformats.org/drawingml/2006/main">
            <a:pPr algn="ctr">
              <a:def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측정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54FB8F4-A24E-48DE-87E7-2AAC690AF0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000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F2DE2D9-369A-4F0A-8969-E0C3B1965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0001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A47D894-E8B6-40EA-A640-7E29ADF75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1000125"/>
            <a:ext cx="3486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2차 위치 결정: QR 비전 보정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687D0F-1031-4833-9FDB-10E3BD9B2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1476375"/>
            <a:ext cx="385762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7D738BE-138E-4804-AF2F-4E8F6FE5A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90700"/>
            <a:ext cx="2095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04040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BCE514-DC2A-498C-AE32-DDC927276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1952625"/>
            <a:ext cx="0" cy="13811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5F8C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9069AF-FF6A-454C-B9ED-B88CA1BB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479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315F8C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F591B94-9D1A-4E5A-8583-E36451FD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5075" y="1971675"/>
            <a:ext cx="12858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296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315F8C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315F8C"/>
                </a:solidFill>
                <a:latin typeface="Apple SD Gothic Neo"/>
                <a:ea typeface="Apple SD Gothic Neo"/>
                <a:cs typeface="Apple SD Gothic Neo"/>
              </a:rPr>
              <a:t>카메라 중심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F5F7B6A-2537-4FEB-97C8-67833A06B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324100"/>
            <a:ext cx="5524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E7D5B"/>
            </a:solidFill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EDDC3A8-CBC5-405A-8637-1EAEAA8D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45745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64BE5D-3C6B-4349-9B7F-BEEEF24FDD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628900"/>
            <a:ext cx="1143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E7D5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8A8565F-E904-437B-B03A-C15D9FDF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00325"/>
            <a:ext cx="447675" cy="476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27A15"/>
            </a:solidFill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240DA3-A4FE-48DF-8C07-3689E2BC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924175"/>
            <a:ext cx="5905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2E7D5B"/>
                </a:solidFill>
                <a:latin typeface="Apple SD Gothic Neo"/>
                <a:ea typeface="Apple SD Gothic Neo"/>
                <a:cs typeface="Apple SD Gothic Neo"/>
              </a:rPr>
              <a:t>QR 중심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9A361F9-9A08-4BE5-A2EE-8001E22DB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66925"/>
            <a:ext cx="6096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C27A15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C27A15"/>
                </a:solidFill>
                <a:latin typeface="Arial"/>
                <a:ea typeface="Arial"/>
                <a:cs typeface="Arial"/>
              </a:rPr>
              <a:t>Δx, Δy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D526E24-20E7-4450-94E9-63EFEA13D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390775"/>
            <a:ext cx="1714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C67685-CA53-4B45-8017-494386456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90700"/>
            <a:ext cx="8763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F1"/>
          </a:solidFill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79ED19-BDD1-4A9D-B037-DDC99499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1924050"/>
            <a:ext cx="6477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산출값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70A59C-C766-4689-8190-AF0582DE2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266950"/>
            <a:ext cx="6477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7512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dx [mm]</a:t>
            </a:r>
          </a:p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dy [mm]</a:t>
            </a:r>
          </a:p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dθ [deg]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0B27FC4-0CCE-4196-99FE-6E604D888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86100"/>
            <a:ext cx="6477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협동로봇</a:t>
            </a:r>
          </a:p>
          <a:p xmlns:a="http://schemas.openxmlformats.org/drawingml/2006/main">
            <a:pPr algn="ctr">
              <a:defRPr sz="750" b="1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경로 보정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7AD0D2D-2F93-43B9-8321-EEB178939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3790950"/>
            <a:ext cx="3286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카메라 좌표에서 측정한 잔여 위치·각도 오차를</a:t>
            </a:r>
          </a:p>
          <a:p xmlns:a="http://schemas.openxmlformats.org/drawingml/2006/main">
            <a:pPr algn="ctr">
              <a:defRPr sz="9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협동로봇의 PICKUP / PLACE 기준 위치에 합산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70EF27F-5383-41D7-AD9B-02D5CB3FD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048250"/>
            <a:ext cx="8715375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F1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5046F4A-3F2B-42D6-B68C-52959AF0F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81600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정밀도 확보 조건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C2F38D1-2697-476C-AB9D-AE075363D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95925"/>
            <a:ext cx="828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① QR이 카메라 시야와 유효 Depth 범위 안에 위치   ② QR 좌표계와 로봇 작업 좌표계의 부호·축 방향 일치   ③ 보정 후 접근 경로가 기구 간섭 없이 실행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B72CC7D-3846-4DCB-B20C-D42DEDC17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19775"/>
            <a:ext cx="82867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±50 mm는 AMR 정차 허용 범위이며, 최종 작업 정밀도는 카메라 보정·로봇 반복도·치공구 공차를 포함해 POC에서 확인합니다.</a:t>
            </a:r>
          </a:p>
        </p:txBody>
      </p:sp>
    </p:spTree>
    <p:extLst>
      <p:ext uri="{BB962C8B-B14F-4D97-AF65-F5344CB8AC3E}">
        <p14:creationId xmlns:p14="http://schemas.microsoft.com/office/powerpoint/2010/main" val="197214474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BAD4940-F6F3-4A58-868A-CDEF2353E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QR 좌표 산출 및 보정값 생성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AFF22B-3339-4A83-93E6-3EFB74B52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RGB-D 영상의 픽셀 오차를 실제 거리로 변환하고 포트·모델별 편차를 추가 보정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B49FF56-0319-4417-8DF3-25A22685B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5B2CE2-0D59-4773-81C1-F72D4DF21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D0AA1A-EDFE-417F-8184-49E308C7F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25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Precision Handling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9925AAD-2D1B-45DF-AFF4-226C96E87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6E386D-D517-4FEF-9AC7-5B1C8C2E4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04875"/>
            <a:ext cx="76200" cy="519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6D5CA1-F386-4832-A363-47E226167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86900" y="2286000"/>
            <a:ext cx="4000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E8071D-4E08-4308-917E-BB00AD3E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048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Copyright © NAMUGA. 2026. All Rights Reserved.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C965A4-3EC8-42B5-BEBD-15A0329A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6572250"/>
            <a:ext cx="257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298BBF-254F-4047-B70F-B47072A3C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000125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418FB3-6F3A-4394-AAFD-6AA0F355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095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E9BA10-EA35-49D5-BCC7-299183E86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333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QR 검출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CB66E1A-5CFB-4BB0-9E54-3D279840C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192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원본·이진화·적응형</a:t>
            </a:r>
          </a:p>
          <a:p xmlns:a="http://schemas.openxmlformats.org/drawingml/2006/main">
            <a:pPr algn="l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전처리로 인식 안정화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850C47-2F75-4569-A8E3-4E4EB02F2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9325" y="1409700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0167AA2-17D1-46A7-BF9D-6538C7B6F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8875" y="1000125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7F97EA-A750-432B-8F26-0E785236B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095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5EDF75-3891-444D-983D-B0EC06F35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333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중심·각도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05B6AB-F60C-4C2A-AEDD-DA386ECE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6192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4개 꼭짓점으로</a:t>
            </a:r>
          </a:p>
          <a:p xmlns:a="http://schemas.openxmlformats.org/drawingml/2006/main">
            <a:pPr algn="l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중심점과 회전각 계산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4A14B4-2F1D-4F60-ACD9-C9EE937CE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4325" y="1409700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926039-8120-40E4-A8EB-4936957D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000125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2334425-5A6D-4E90-A20D-BBCCBFD57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095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CB9C6EC-D578-4A72-AB4B-89A0329D1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333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Depth 변환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F8D505D-2BF1-4ACD-A310-71043A860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16192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중심 주변 5×5</a:t>
            </a:r>
          </a:p>
          <a:p xmlns:a="http://schemas.openxmlformats.org/drawingml/2006/main">
            <a:pPr algn="l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Depth 중앙값 사용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6AB417-AE91-496F-894A-BAF12009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409700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5182C33-39B8-4808-B6C7-7E60B5321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000125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02A1DD4-B81F-433A-8429-9728CE94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095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4C8FB4-CF17-42B4-8E1E-78B6376B1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333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5회 샘플링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6AB285-0B26-4108-B305-8EC1947C5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16192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200 ms 안정화 후</a:t>
            </a:r>
          </a:p>
          <a:p xmlns:a="http://schemas.openxmlformats.org/drawingml/2006/main">
            <a:pPr algn="l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100 ms 간격 중앙값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19030E8-4587-43C9-9DCF-1B778B2D4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1409700"/>
            <a:ext cx="1524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AAF887-2636-4E8C-8757-AB6D06D12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000125"/>
            <a:ext cx="16383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F1"/>
          </a:solidFill>
          <a:ln xmlns:a="http://schemas.openxmlformats.org/drawingml/2006/main" w="9525">
            <a:solidFill>
              <a:srgbClr val="9B1B30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0853BA-8DA5-4A32-99A4-6FD6F0E46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095375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667"/>
          </a:bodyPr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50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51795C-9378-4F33-84B2-615666C9F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333500"/>
            <a:ext cx="1409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오프셋 합산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FAF6BFF-8F4A-4F0B-B088-776D49E9B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8175" y="1619250"/>
            <a:ext cx="1409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PortOffset + ModelOffset</a:t>
            </a:r>
          </a:p>
          <a:p xmlns:a="http://schemas.openxmlformats.org/drawingml/2006/main">
            <a:pPr algn="l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포함 후 레지스터 전달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4B3F4E-EE8D-45EB-A057-00C373E5C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9CAB4E1-9E67-48D2-9C35-C738A5079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419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111121E-DC71-4D3A-B196-EAFDAE35B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4193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실거리 변환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584326-995D-414A-8A2B-D7FC73A54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09875"/>
            <a:ext cx="41910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E719A5-ACB3-40EE-817A-8AB88238F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0003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dx = (uQR − uc) × Z / fx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0087F5-3A78-404C-8D13-66E68B6C2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81375"/>
            <a:ext cx="3714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dy = (vQR − vc) × Z / fy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7780D9F-E005-4DC9-BFA7-F1063E838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81425"/>
            <a:ext cx="3714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50"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Z: QR 중심 Depth 중앙값    fx, fy: 카메라 초점거리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DEE782-AC36-4298-8377-36E9E99C0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193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6F7B92-F65D-4118-A3EF-610D8D9C0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193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5AE7AF-D3F9-4129-9F78-A125854AE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975" y="24193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최종 보정값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F91E84-1387-4A9D-8E20-25B2EE064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09875"/>
            <a:ext cx="4238625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F1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7416BAA-C01A-4EA4-92A9-EF540CFCA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3009900"/>
            <a:ext cx="381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보정값 = QR 측정값 + 포트 보정 + 모델 보정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E60507-8194-46A6-A96B-7270448BC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476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PortOffset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FE6FC3D-C4E1-4E5C-9963-97E60DCE1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3743325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노드·LEFT/RIGHT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A5DF1CC-806A-42CD-9CB5-FDD265C1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5337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19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+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6487476-605D-4594-B671-85F8D0477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476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ModelOffset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CF0F0E0-8276-4AD7-995C-4B090E811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3743325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LOAD / UNLOAD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9DA7F76-8121-42E1-A759-74A71773C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3533775"/>
            <a:ext cx="266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3192"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=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D08F87-6C5D-48F6-B126-ECBA32F82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476625"/>
            <a:ext cx="1000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AI0 / AI1 / AI2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B22D893-B1E2-467E-8801-B9AFAE717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3743325"/>
            <a:ext cx="10001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7778"/>
          </a:bodyPr>
          <a:lstStyle xmlns:a="http://schemas.openxmlformats.org/drawingml/2006/main"/>
          <a:p xmlns:a="http://schemas.openxmlformats.org/drawingml/2006/main">
            <a:pPr algn="ctr">
              <a:defRPr sz="675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75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mm / mm / 0.01°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F60908A-44A9-4DEA-AFD9-535521668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148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661C7FE-A409-4427-9D4E-EC63E1995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148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6D84FA7-EA66-4F23-A7FC-A440F0644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51485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신호 인터페이스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8B21553-C21F-4714-B2BD-2B616688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8810625" cy="1162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B59E335-DE37-481C-A88E-B86EE77298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905375"/>
            <a:ext cx="8810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614212D-0EB4-4216-82AB-33A283857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43475"/>
            <a:ext cx="1285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5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레지스터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CEB0DC9-75B5-4F66-B96D-CDA7D588A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4943475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5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값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B8C3D9-8A4F-42F3-A38A-714A099B6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4943475"/>
            <a:ext cx="1047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5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단위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5D7559D-55F5-48A4-8292-2BFB64F5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943475"/>
            <a:ext cx="4524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35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적용 내용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B1AB138-3245-40AF-AA90-EA4EDBB91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1970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AI0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D1F0DBD5-A147-4DFD-98E4-067B13E0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2197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dx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B9BA135-3F9F-412A-81D2-ECD9DB93C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2197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62626"/>
                </a:solidFill>
                <a:latin typeface="Arial"/>
                <a:ea typeface="Arial"/>
                <a:cs typeface="Arial"/>
              </a:rPr>
              <a:t>mm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C3292E6B-419C-449A-91DF-62A28AEC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19700"/>
            <a:ext cx="452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카메라 X 방향 + 포트/모델 보정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DA9294A-BE45-4B8C-9485-56E909467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486400"/>
            <a:ext cx="87915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89E70BC-8CA6-4ACE-AFDC-5CEC6A20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8640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AI1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408F8272-7613-4969-8C50-A4B91576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4864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dy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448DD1DA-7C3B-4315-B168-76BCEB3D1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4864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62626"/>
                </a:solidFill>
                <a:latin typeface="Arial"/>
                <a:ea typeface="Arial"/>
                <a:cs typeface="Arial"/>
              </a:rPr>
              <a:t>mm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D8F1A20-5F23-4566-8ADC-F2C703E7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486400"/>
            <a:ext cx="452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카메라 Y 방향 + 포트/모델 보정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82C2497F-A86E-47DB-B490-29FD44315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753100"/>
            <a:ext cx="12858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AI2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D4CC85C-D5F9-4743-BDE5-F8BC42C56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8375" y="575310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788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dθ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F681944-D492-4DBB-A1D6-9A415F18F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753100"/>
            <a:ext cx="1047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0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788" b="0">
                <a:solidFill>
                  <a:srgbClr val="262626"/>
                </a:solidFill>
                <a:latin typeface="Arial"/>
                <a:ea typeface="Arial"/>
                <a:cs typeface="Arial"/>
              </a:rPr>
              <a:t>0.01°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8FE2100-DB4B-49C5-B8D7-C35C653E9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753100"/>
            <a:ext cx="45243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QR 상단 변 회전각 + 포트/모델 보정</a:t>
            </a:r>
          </a:p>
        </p:txBody>
      </p:sp>
    </p:spTree>
    <p:extLst>
      <p:ext uri="{BB962C8B-B14F-4D97-AF65-F5344CB8AC3E}">
        <p14:creationId xmlns:p14="http://schemas.microsoft.com/office/powerpoint/2010/main" val="16584256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F33F0E95-8B72-4ABF-8BA1-674EB3622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QR 보정 기반 매거진 PICKUP / PLACE 시퀀스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82ED9-86D9-40C6-A0C1-C3C7191AA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작업 직전에 QR을 다시 읽고 보정값을 적용해 정차 편차와 작업별 편차를 분리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E1EBFD6-3B5B-41A1-BB07-FCCC1FFB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CF3C18-EA03-43E7-BFF9-6430ABC2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675CF2-80B4-4ADF-BC10-727DEE1CA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25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Precision Handling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7FBC473-B35A-4CEF-991B-3E2E3462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5A87EA-2898-4FB5-8C79-0D16183D8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04875"/>
            <a:ext cx="76200" cy="519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00FE40-720A-414A-B6C5-FE847F649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86900" y="2286000"/>
            <a:ext cx="4000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B5C633-E487-4D16-964B-FB18F8B78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048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Copyright © NAMUGA. 2026. All Rights Reserved.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E34C09-1BD9-409B-B62B-B82D273C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6572250"/>
            <a:ext cx="257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51B7681-86A4-4BA3-B6DB-39122244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" y="1219200"/>
            <a:ext cx="1162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6EF362-C0CA-46D8-853B-BFA2BFCF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304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64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670644-B129-4871-B8FC-A73F5ED86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5525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이동 명령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DED7609-0D9E-401A-B7F0-02F5C83B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" y="188595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ACS moveCmd</a:t>
            </a:r>
          </a:p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Node · Port · Job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A8E626-65C2-475E-85B8-CF7E96866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9725" y="1743075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2143F9-8AB2-48C0-89D2-4C4EBD2F2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1219200"/>
            <a:ext cx="1162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CC722D8-0C77-4017-AADE-CF4A3B3D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304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64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0F635A7-605E-44A8-B314-6757CD218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5525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AMR 이동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D76F4B-1AE1-4469-81E6-50E522E0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188595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목표 노드 도착</a:t>
            </a:r>
          </a:p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±50 mm 범위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F360A1E-5EAA-4B14-B460-CBCF07AB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1743075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0E7D60C-07BA-46B3-AC74-F7CE4F226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1219200"/>
            <a:ext cx="1162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5CBCCF-C230-4714-B37E-36792F18F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304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64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6E7CC45-CF3C-4C09-A289-A6C79C19E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5525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QR 스캔 위치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1874F4A-3B16-4D1F-9C20-758D9ED0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188595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협동로봇 DI16/17</a:t>
            </a:r>
          </a:p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카메라 시야 정렬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FE0EDB0-8D20-4DDD-B20A-902123812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743075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7E7EFB-C581-4F10-86AA-D9EB2D4B9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219200"/>
            <a:ext cx="1162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F1"/>
          </a:solidFill>
          <a:ln xmlns:a="http://schemas.openxmlformats.org/drawingml/2006/main" w="9525">
            <a:solidFill>
              <a:srgbClr val="9B1B30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9B31F24-02AB-4266-8380-5D040CA65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304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64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15961F6-E781-44BE-AAB4-B76CB73F9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5525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QR 보정 계산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3AF1954-872D-49DB-87DC-B9E43DB86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8595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dx · dy · dθ</a:t>
            </a:r>
          </a:p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포트/모델 보정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977117A-3E10-41FA-AF46-2ABA2730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743075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solidFill>
              <a:srgbClr val="9B1B30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63A6D8-9AB7-4FD7-8C0D-B76414598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34075" y="1219200"/>
            <a:ext cx="1162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9941E7-98C0-40B4-91F4-D0D40E90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304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64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AF21D24-02B8-4EEF-98A8-66F385B99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5525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PICKUP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7FB77BE-EEE7-4A00-B906-38E7D4C63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325" y="188595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보정 좌표로 접근</a:t>
            </a:r>
          </a:p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그립 후 완료 확인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6D3C85C-94AB-409E-8664-B4FC88DFE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4225" y="1743075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D4637E-CD8B-4627-9BD8-29B01919F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219200"/>
            <a:ext cx="1162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01F8E66-FD00-46BD-86BC-A40EC8C40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304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64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1E841DA-1C4D-4576-8110-39F52D8FB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5525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PLACE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97DE47-6F36-426B-B9DC-E29101308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188595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대상 슬롯 이동</a:t>
            </a:r>
          </a:p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놓기 후 완료 확인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D0F19B2-3DD3-4406-AAA6-F46D5B95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743075"/>
            <a:ext cx="133350" cy="1714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FBFBF"/>
          </a:solidFill>
          <a:ln xmlns:a="http://schemas.openxmlformats.org/drawingml/2006/main" w="0">
            <a:solidFill>
              <a:srgbClr val="BFBFBF"/>
            </a:solidFill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BBB002E-0E28-437E-BA14-D29E963B9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6325" y="1219200"/>
            <a:ext cx="116205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4ACF79F-059E-49B1-ABBB-6C9E312A8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304925"/>
            <a:ext cx="323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64"/>
          </a:bodyPr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9B1B30"/>
                </a:solidFill>
                <a:latin typeface="Arial"/>
                <a:ea typeface="Arial"/>
                <a:cs typeface="Arial"/>
              </a:defRPr>
            </a:pPr>
            <a:r>
              <a:rPr sz="713" b="1">
                <a:solidFill>
                  <a:srgbClr val="9B1B30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062CB6A-3AB8-4119-A9AC-6EB178EC8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552575"/>
            <a:ext cx="971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작업 완료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5368400-1721-4D1B-8521-350DC6CAE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1885950"/>
            <a:ext cx="971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상태 보고</a:t>
            </a:r>
          </a:p>
          <a:p xmlns:a="http://schemas.openxmlformats.org/drawingml/2006/main">
            <a:pPr algn="ctr">
              <a:def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13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다음 명령 대기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C574114-8D0B-4EBF-8187-7ABE97C6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7655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2352D6-9066-41E3-A588-E7F5F1D25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8765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73CBEF4-9C38-4F97-89AD-44B39826E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2876550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작업별 QR 재판독 원칙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EA6CC05-2A69-48B8-9286-DF6289EB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276600"/>
            <a:ext cx="8810625" cy="1085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CEA61F-EEEF-40C4-AF3D-6A1CE31BE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19475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PICKUP 전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2C334B6-86C8-4D81-A060-A604667EF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371850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현재 정차 자세를 기준으로 포트의 QR을 읽어 PICK 위치를 보정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CE66699-6674-44A4-A497-38F4E6E15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790950"/>
            <a:ext cx="8191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C59AC0FB-CEDF-4E0D-8CC9-F911C10D3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05250"/>
            <a:ext cx="1200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PLACE 전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F6874A6C-6B4C-4BE9-B173-565E4DFB5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3125" y="3857625"/>
            <a:ext cx="685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작업 방향과 모델에 맞는 오프셋을 적용해 PLACE 목표 위치를 보정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FB2E5B-6A7A-4B53-8338-F7BEF0C1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D761A2B-2165-4FC7-A77B-8DDB418EC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092D825-EB54-4A2C-814E-B0DB92821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4714875"/>
            <a:ext cx="3009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실행 조건과 인터록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7A6EE7F-928F-47D0-AA16-4784AA0C1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244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F1"/>
          </a:solidFill>
          <a:ln xmlns:a="http://schemas.openxmlformats.org/drawingml/2006/main" w="0">
            <a:noFill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EEDB0C5-3B94-414E-9486-CD80858BB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5780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8F7A22E-F514-4233-8AF2-C45E9D56C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2482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265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11B8A20-AC4D-4AEE-B9A8-F9F382EC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" y="52197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QR 인식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6BCA945-41FA-41AF-ACBF-DC62EEB47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" y="5543550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3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유효 샘플 확보 및 좌표 산출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46562E1-EF04-4504-A8CA-1B9758EBC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51244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69116901-4B90-4162-9C91-08E87198E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25780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FE8E9EA-72D4-44A6-8A2B-125DDCA9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2482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265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1A68387-93D8-45B1-9C62-BDA30B72F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52197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로봇 상태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3EEB114-9D56-445D-8110-E5095FA8F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62275" y="5543550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3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Busy / Complete / Error 확인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465BF75-93BA-4489-9F18-C892C9E7F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8725" y="51244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82F6E7C9-924E-4B55-8C78-F7EFA7DE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25780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2251FE0A-B997-4DCC-8BFD-D061EAE3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2482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265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32432B7-0491-4C01-9018-AECDDB204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52197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매거진 확인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0FCD4D8-B266-4669-B194-35F58F8D7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5543550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3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Depth ROI로 존재 여부 판정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9775327-BA5C-4717-8E77-6D5753119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48525" y="5124450"/>
            <a:ext cx="20002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17D1D4F2-E927-4C73-8436-BA9D2D63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57800"/>
            <a:ext cx="20955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F15923C-3271-43A1-A364-DCEE0E308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248275"/>
            <a:ext cx="2095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32659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8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✓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6220CA6-3EA7-4D95-B51C-4D8D5BCE7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6675" y="5219700"/>
            <a:ext cx="1409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38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안전 조건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CFC30FE-A778-406A-A704-6B195842C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81875" y="5543550"/>
            <a:ext cx="17335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3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35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I/O 인터록과 비상정지 상태 확인</a:t>
            </a:r>
          </a:p>
        </p:txBody>
      </p:sp>
    </p:spTree>
    <p:extLst>
      <p:ext uri="{BB962C8B-B14F-4D97-AF65-F5344CB8AC3E}">
        <p14:creationId xmlns:p14="http://schemas.microsoft.com/office/powerpoint/2010/main" val="4674726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0742D2B-4CC8-4726-94CE-186187E3E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190500"/>
            <a:ext cx="685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위치 정밀도 검증 기준 및 POC 계획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6CAC6D-D56B-49C7-A624-CFA4DDA1C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42925"/>
            <a:ext cx="666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0">
                <a:solidFill>
                  <a:srgbClr val="595959"/>
                </a:solidFill>
                <a:latin typeface="Apple SD Gothic Neo"/>
                <a:ea typeface="Apple SD Gothic Neo"/>
                <a:cs typeface="Apple SD Gothic Neo"/>
              </a:rPr>
              <a:t>±50 mm 전 구간에서 QR 검출, 보정 적용, 매거진 작업 성공을 반복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181029-AFB3-491B-8B68-065191EBC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33350"/>
            <a:ext cx="1333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Confidential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729C31-78FA-49DE-B61C-97303EC2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85750"/>
            <a:ext cx="17145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897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62626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262626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4AE0A4-FFA1-4074-BE24-EF3D7EC92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76250"/>
            <a:ext cx="1714500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56250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595959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595959"/>
                </a:solidFill>
                <a:latin typeface="Arial"/>
                <a:ea typeface="Arial"/>
                <a:cs typeface="Arial"/>
              </a:rPr>
              <a:t>Precision Handling System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4389411-C66F-4EA3-9D61-634B8199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85800"/>
            <a:ext cx="914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B43C96-FFE2-4224-A7BE-B275204B1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904875"/>
            <a:ext cx="76200" cy="5191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C3BBFDA-2B21-447D-97BA-815385F20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9486900" y="2286000"/>
            <a:ext cx="40005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6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NAMUGA AMR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5D4CAFD-4C51-40A8-BAC7-D457B5652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6572250"/>
            <a:ext cx="4476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1048"/>
          </a:bodyPr>
          <a:lstStyle xmlns:a="http://schemas.openxmlformats.org/drawingml/2006/main"/>
          <a:p xmlns:a="http://schemas.openxmlformats.org/drawingml/2006/main">
            <a:pPr algn="l">
              <a:defRPr sz="563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563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Copyright © NAMUGA. 2026. All Rights Reserved.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440D9B-2695-4F70-A622-2A8C2A286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6572250"/>
            <a:ext cx="2571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r">
              <a:defRPr sz="600" b="0">
                <a:solidFill>
                  <a:srgbClr val="BFBFBF"/>
                </a:solidFill>
                <a:latin typeface="Arial"/>
                <a:ea typeface="Arial"/>
                <a:cs typeface="Arial"/>
              </a:defRPr>
            </a:pPr>
            <a:r>
              <a:rPr sz="600" b="0">
                <a:solidFill>
                  <a:srgbClr val="BFBFBF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93AF75-85AB-48F3-87B4-B0D9E26A5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0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BC2B2E-AC67-41BA-89A6-D7609F404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0001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646FB20-0557-4633-8643-E4AA74DC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100012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시험 매트릭스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E84972-C4A2-4475-853D-1FDE539C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9700"/>
            <a:ext cx="5524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FBFB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EA1F8D5-5638-4BB3-BB9A-D0BDF61D4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409700"/>
            <a:ext cx="552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18D4F5-8F00-4545-9A19-761B788EF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457325"/>
            <a:ext cx="1238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시험 항목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7147B0-B458-4131-99C0-77940A77C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457325"/>
            <a:ext cx="1000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조건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22DFA8E-B271-4C8C-BF28-B3E5A189F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457325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반복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380D00-96F3-4285-AE51-F2ED70900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457325"/>
            <a:ext cx="166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88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판정 지표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39C381-8FA7-458A-BC5E-13D7F2938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526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정차 오프셋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27257C-6E90-4FE3-8466-65EA9FCAB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175260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X/Y ±50 mm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650AA7-B5BC-4598-9059-B9B17D779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17526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각 조건 10회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5371ED-6A97-4A13-892A-2770C87F7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75260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QR 검출률 · 보정값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60D5165-265F-4D64-84BC-47FC1A272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095500"/>
            <a:ext cx="550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E138AB1-27C4-4F9F-9C53-198C2B524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955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회전 편차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C759F34-4709-4913-9DEE-4E3BED9DE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9550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±θ 조건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858B4F8-7B20-4EFB-9685-75C6AF66B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0955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각 조건 10회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348310-0B4D-4114-B90E-043B5C15D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09550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각도 오차 · 접근 안정성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560E17E-B745-4B1D-8DEF-20DD0F60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4384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PICKUP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BD38848-38B3-4837-95E4-12D14E1B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43840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좌/우 슬롯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FBA848-C4DD-436B-88FA-4C229310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4384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LOAD/UNLOAD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D235093-03FE-40AB-996D-9350AC248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43840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그립 성공 · 간섭 없음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C76217-33C3-47D9-B5F1-7714BF394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81300"/>
            <a:ext cx="55054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0DF8A94-6A91-43A6-B040-944571E4F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7813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PLACE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5B70D8C-AABE-4890-9021-608755E8F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78130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좌/우 슬롯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30F7D48-E8A7-4749-BD16-3816B8BD8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27813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모델별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8AD65B-8629-4A39-866C-07C0C6496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8130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안착 편차 · 완료 신호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1B7348-3AA2-47AD-BCDB-B79291C4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124200"/>
            <a:ext cx="1238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환경 변화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372C30D-7FE1-4E3D-949B-6662631BD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124200"/>
            <a:ext cx="100012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조도·반사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D57AEB-F396-440B-B89A-D5DC97CC5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0" y="3124200"/>
            <a:ext cx="95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대표 조건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D4B2D1A-4011-43EB-AC05-9A11EB589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24200"/>
            <a:ext cx="1666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750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검출률 · 재시도율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4B9CD7D-4FA6-4D33-B6F8-2484F3D78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0012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F2C7295-B395-4537-BFC9-07E464A29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000125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C716571-5EF3-4F75-B39E-CE5198790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1000125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정밀도 오차 예산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A4E5E2E-3A69-4462-8783-C54CE8A56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140970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EFF1"/>
          </a:solidFill>
          <a:ln xmlns:a="http://schemas.openxmlformats.org/drawingml/2006/main" w="0">
            <a:noFill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342257B0-658A-4811-B756-1C73C4740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5811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카메라·Depth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D55E0CD-B6C2-4D73-B233-D0E897151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5811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픽셀/거리 노이즈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DF085E-7B4A-4563-814D-CBF0D689A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05000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C6CC"/>
            </a:solidFill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417BF4C-1DAB-4F08-B8F5-D639F35A3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9812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좌표 변환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E99CEA2F-BDC6-4795-A4E1-E003125AB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9812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축 방향·스케일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E09462E-B5F3-4171-8579-6F496335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05050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C6CC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D51E47D-8641-4BB6-85A3-8AAE4F44F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38125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협동로봇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EF3418B-8970-417C-B604-82A329EEB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38125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반복도·TCP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AABEA0B-02DA-45AB-8AF9-65CD05FAA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05100"/>
            <a:ext cx="24955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1C6CC"/>
            </a:solidFill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14D0D12-736C-4A1F-A835-BEDB601D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781300"/>
            <a:ext cx="1066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그리퍼/치공구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9AC1EA6-9E19-4820-A741-F7529F7EE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2781300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기구 공차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62631C8-736A-4F0F-A064-0AC25A7DF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81350"/>
            <a:ext cx="2495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9B1B30"/>
                </a:solidFill>
                <a:latin typeface="Apple SD Gothic Neo"/>
                <a:ea typeface="Apple SD Gothic Neo"/>
                <a:cs typeface="Apple SD Gothic Neo"/>
              </a:rPr>
              <a:t>최종 작업 정밀도 = 위 항목의 결합 결과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B7EE4AE-CE0C-4AFB-A70D-08F01B8CD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86200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CDC4EAB-8FA3-4CEC-8FDC-2D6AF0A26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88620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6667"/>
          </a:bodyPr>
          <a:lstStyle xmlns:a="http://schemas.openxmlformats.org/drawingml/2006/main"/>
          <a:p xmlns:a="http://schemas.openxmlformats.org/drawingml/2006/main">
            <a:pPr algn="ctr">
              <a:defRPr sz="6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6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AA794B4-020D-45D1-8551-37CABDA3E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" y="3886200"/>
            <a:ext cx="25336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308"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권장 합격 기준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4F8663E-0829-4998-A3B1-FE26C905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CC802E9-2E50-48FD-8435-0774ABF64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28625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검출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7C63E64-9578-4DA9-9FC8-20EF00E53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76725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시험 위치 전 구간에서 QR 식별 및 유효 Depth 확보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E82FF2BC-9C61-4B4F-8B1E-9ADC46B0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60D6D0A2-86BE-4E9C-9C37-3DE20D2E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714875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좌표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5FF22394-3298-4941-AAA7-4B62258CD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05350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보정값의 부호·크기가 인위 오프셋 방향과 일치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E3B5868-D91D-4660-AABC-C75FB9876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4040"/>
          </a:solidFill>
          <a:ln xmlns:a="http://schemas.openxmlformats.org/drawingml/2006/main" w="0">
            <a:noFill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6F56DAD-A02C-40AC-888F-62D0692BD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143500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작업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276DC8D-7DFC-435F-81F3-42384FAF3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133975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0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PICKUP / PLACE 성공 및 충돌·과도한 재접근 없음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522DA2E7-6B72-4252-9BB9-B86D3C5B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9334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F337DC07-00DF-41E7-83A0-08415F3B8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5572125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반복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46A156E-EDBF-4EC5-8BDB-319D589EE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562600"/>
            <a:ext cx="7715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63" b="1">
                <a:solidFill>
                  <a:srgbClr val="262626"/>
                </a:solidFill>
                <a:latin typeface="Apple SD Gothic Neo"/>
                <a:ea typeface="Apple SD Gothic Neo"/>
                <a:cs typeface="Apple SD Gothic Neo"/>
              </a:rPr>
              <a:t>동일 조건의 최종 안착 편차가 고객 요구 공차 이내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F683A8E-8152-4CBF-888E-381AE117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6143625"/>
            <a:ext cx="88106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B1B30"/>
          </a:solidFill>
          <a:ln xmlns:a="http://schemas.openxmlformats.org/drawingml/2006/main" w="0">
            <a:noFill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4F12EA5C-EB8A-4B2F-8559-B6A162DBF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6200775"/>
            <a:ext cx="8429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POC 결과로 카메라 시야, 허용 오프셋, 재시도 기준, 포트·모델 보정값을 확정한 뒤 양산 기준서에 반영</a:t>
            </a:r>
          </a:p>
        </p:txBody>
      </p:sp>
    </p:spTree>
    <p:extLst>
      <p:ext uri="{BB962C8B-B14F-4D97-AF65-F5344CB8AC3E}">
        <p14:creationId xmlns:p14="http://schemas.microsoft.com/office/powerpoint/2010/main" val="60643858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2026-10-04T13:41:18.3010000Z</dcterms:created>
  <dcterms:modified xsi:type="dcterms:W3CDTF">2026-10-04T13:41:18.3010000Z</dcterms:modified>
</coreProperties>
</file>