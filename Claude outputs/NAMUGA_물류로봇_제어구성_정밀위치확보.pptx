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</p:sldMasterIdLst>
  <p:notesMasterIdLst>
    <p:notesMasterId r:id="rId35"/>
  </p:notesMasterIdLst>
  <p:sldIdLst>
    <p:sldId id="371" r:id="rId2"/>
    <p:sldId id="372" r:id="rId8"/>
    <p:sldId id="373" r:id="rId9"/>
    <p:sldId id="374" r:id="rId10"/>
    <p:sldId id="387" r:id="rId23"/>
    <p:sldId id="375" r:id="rId11"/>
    <p:sldId id="376" r:id="rId12"/>
    <p:sldId id="377" r:id="rId13"/>
    <p:sldId id="378" r:id="rId14"/>
    <p:sldId id="379" r:id="rId15"/>
  </p:sldIdLst>
  <p:sldSz cx="9906000" cy="6858000" type="A4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99"/>
    <a:srgbClr val="37A8C3"/>
    <a:srgbClr val="79C7D9"/>
    <a:srgbClr val="9E6E2E"/>
    <a:srgbClr val="CC0000"/>
    <a:srgbClr val="FF9966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6819" autoAdjust="0"/>
    <p:restoredTop sz="94660"/>
  </p:normalViewPr>
  <p:slideViewPr>
    <p:cSldViewPr showGuides="1">
      <p:cViewPr varScale="1">
        <p:scale>
          <a:sx n="99" d="100"/>
          <a:sy n="99" d="100"/>
        </p:scale>
        <p:origin x="192" y="792"/>
      </p:cViewPr>
      <p:guideLst>
        <p:guide orient="horz" pos="2160"/>
        <p:guide pos="312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>
      <p:cViewPr varScale="1">
        <p:scale>
          <a:sx n="62" d="100"/>
          <a:sy n="62" d="100"/>
        </p:scale>
        <p:origin x="3041" y="69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35" Type="http://schemas.openxmlformats.org/officeDocument/2006/relationships/notesMaster" Target="notesMasters/notesMaster1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19822B-9FBB-4F9A-B0DD-39EF4D5B1653}" type="datetimeFigureOut">
              <a:rPr lang="ko-KR" altLang="en-US" smtClean="0"/>
              <a:t>2026. 10. 4.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69539A-A4CB-4789-A1D5-0941E3DC2B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65088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장치별 통신 방식(AMR 베이스 Modbus TCP, 그리퍼 툴 포트, 카메라 USB)은 현장 구성 기준으로 최종 확인 필요.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microsoft.com/office/2007/relationships/hdphoto" Target="../media/hdphoto1.wdp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19960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>
          <a:xfrm>
            <a:off x="1" y="2403141"/>
            <a:ext cx="200125" cy="2051718"/>
          </a:xfrm>
          <a:prstGeom prst="rect">
            <a:avLst/>
          </a:prstGeom>
          <a:solidFill>
            <a:srgbClr val="891E3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950"/>
          </a:p>
        </p:txBody>
      </p:sp>
      <p:sp>
        <p:nvSpPr>
          <p:cNvPr id="8" name="TextBox 7"/>
          <p:cNvSpPr txBox="1"/>
          <p:nvPr userDrawn="1"/>
        </p:nvSpPr>
        <p:spPr>
          <a:xfrm rot="5400000">
            <a:off x="-694767" y="3266103"/>
            <a:ext cx="2123210" cy="3257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517" b="1">
                <a:solidFill>
                  <a:srgbClr val="891E3A"/>
                </a:solidFill>
              </a:rPr>
              <a:t>www.innorobotics.co.kr</a:t>
            </a:r>
            <a:endParaRPr lang="ko-KR" altLang="en-US" sz="1517" b="1">
              <a:solidFill>
                <a:srgbClr val="891E3A"/>
              </a:solidFill>
            </a:endParaRPr>
          </a:p>
        </p:txBody>
      </p:sp>
      <p:pic>
        <p:nvPicPr>
          <p:cNvPr id="6" name="그림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701757" y="4867777"/>
            <a:ext cx="2502486" cy="793471"/>
          </a:xfrm>
          <a:prstGeom prst="rect">
            <a:avLst/>
          </a:prstGeom>
        </p:spPr>
      </p:pic>
      <p:sp>
        <p:nvSpPr>
          <p:cNvPr id="11" name="TextBox 10"/>
          <p:cNvSpPr txBox="1"/>
          <p:nvPr userDrawn="1"/>
        </p:nvSpPr>
        <p:spPr>
          <a:xfrm>
            <a:off x="3552713" y="5661248"/>
            <a:ext cx="28005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/>
              <a:t>Under Promise Over Deliver</a:t>
            </a:r>
            <a:endParaRPr lang="ko-KR" altLang="en-US" dirty="0"/>
          </a:p>
        </p:txBody>
      </p:sp>
      <p:sp>
        <p:nvSpPr>
          <p:cNvPr id="12" name="TextBox 11"/>
          <p:cNvSpPr txBox="1"/>
          <p:nvPr userDrawn="1"/>
        </p:nvSpPr>
        <p:spPr>
          <a:xfrm>
            <a:off x="5582929" y="6550223"/>
            <a:ext cx="44106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Copyright@INNOROBOTICS Inc. 2026. All Rights Reserved.</a:t>
            </a:r>
            <a:endParaRPr lang="ko-KR" altLang="en-US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" name="TextBox 12"/>
          <p:cNvSpPr txBox="1"/>
          <p:nvPr userDrawn="1"/>
        </p:nvSpPr>
        <p:spPr>
          <a:xfrm>
            <a:off x="8724820" y="83179"/>
            <a:ext cx="10732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Confidential</a:t>
            </a:r>
            <a:endParaRPr lang="ko-KR" altLang="en-US" sz="14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73061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내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직선 연결선 18"/>
          <p:cNvCxnSpPr/>
          <p:nvPr userDrawn="1"/>
        </p:nvCxnSpPr>
        <p:spPr>
          <a:xfrm flipV="1">
            <a:off x="83662" y="810332"/>
            <a:ext cx="9701996" cy="27317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텍스트 개체 틀 32"/>
          <p:cNvSpPr>
            <a:spLocks noGrp="1"/>
          </p:cNvSpPr>
          <p:nvPr>
            <p:ph type="body" sz="quarter" idx="12" hasCustomPrompt="1"/>
          </p:nvPr>
        </p:nvSpPr>
        <p:spPr>
          <a:xfrm>
            <a:off x="1119537" y="192855"/>
            <a:ext cx="603050" cy="2423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>
            <a:lvl1pPr marL="0" indent="0">
              <a:buNone/>
              <a:defRPr lang="ko-KR" altLang="en-US" sz="1083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lvl="0"/>
            <a:r>
              <a:rPr lang="ko-KR" altLang="en-US"/>
              <a:t>소제목</a:t>
            </a:r>
          </a:p>
        </p:txBody>
      </p:sp>
      <p:sp>
        <p:nvSpPr>
          <p:cNvPr id="35" name="내용 개체 틀 34"/>
          <p:cNvSpPr>
            <a:spLocks noGrp="1"/>
          </p:cNvSpPr>
          <p:nvPr>
            <p:ph sz="quarter" idx="13" hasCustomPrompt="1"/>
          </p:nvPr>
        </p:nvSpPr>
        <p:spPr>
          <a:xfrm>
            <a:off x="664679" y="1164762"/>
            <a:ext cx="8578321" cy="5400000"/>
          </a:xfrm>
          <a:prstGeom prst="rect">
            <a:avLst/>
          </a:prstGeom>
        </p:spPr>
        <p:txBody>
          <a:bodyPr/>
          <a:lstStyle>
            <a:lvl1pPr>
              <a:defRPr sz="2167" b="1"/>
            </a:lvl1pPr>
            <a:lvl2pPr>
              <a:defRPr sz="1950" b="1"/>
            </a:lvl2pPr>
            <a:lvl3pPr>
              <a:defRPr sz="1733" b="1"/>
            </a:lvl3pPr>
            <a:lvl4pPr>
              <a:defRPr sz="1517" b="1"/>
            </a:lvl4pPr>
            <a:lvl5pPr>
              <a:defRPr sz="1517" b="1"/>
            </a:lvl5pPr>
          </a:lstStyle>
          <a:p>
            <a:pPr lvl="0"/>
            <a:r>
              <a:rPr lang="ko-KR" altLang="en-US"/>
              <a:t>본문 작성</a:t>
            </a:r>
          </a:p>
        </p:txBody>
      </p:sp>
      <p:pic>
        <p:nvPicPr>
          <p:cNvPr id="36" name="그림 35"/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0" b="100000" l="0" r="100000">
                        <a14:foregroundMark x1="5014" y1="26923" x2="13686" y2="7265"/>
                        <a14:foregroundMark x1="15312" y1="7265" x2="25474" y2="25641"/>
                        <a14:foregroundMark x1="25474" y1="26923" x2="25474" y2="70940"/>
                        <a14:foregroundMark x1="25474" y1="70940" x2="22222" y2="77350"/>
                        <a14:foregroundMark x1="2981" y1="31197" x2="3388" y2="70940"/>
                        <a14:foregroundMark x1="12466" y1="46154" x2="16667" y2="57692"/>
                        <a14:foregroundMark x1="11518" y1="85470" x2="15312" y2="92308"/>
                        <a14:foregroundMark x1="11789" y1="44017" x2="16667" y2="40171"/>
                        <a14:foregroundMark x1="17615" y1="42308" x2="13144" y2="61538"/>
                        <a14:foregroundMark x1="11518" y1="82051" x2="18293" y2="91453"/>
                        <a14:foregroundMark x1="36585" y1="18376" x2="36179" y2="61966"/>
                        <a14:foregroundMark x1="45935" y1="61966" x2="45393" y2="16667"/>
                        <a14:foregroundMark x1="87263" y1="18376" x2="82791" y2="32906"/>
                        <a14:foregroundMark x1="34959" y1="78205" x2="35772" y2="87179"/>
                        <a14:foregroundMark x1="47832" y1="82479" x2="47832" y2="82479"/>
                        <a14:foregroundMark x1="54336" y1="82479" x2="54336" y2="82479"/>
                        <a14:foregroundMark x1="66531" y1="82479" x2="66531" y2="82479"/>
                        <a14:foregroundMark x1="72358" y1="81197" x2="72358" y2="81197"/>
                        <a14:foregroundMark x1="79539" y1="79060" x2="79539" y2="79060"/>
                        <a14:foregroundMark x1="89295" y1="79487" x2="89295" y2="79487"/>
                        <a14:foregroundMark x1="97290" y1="87179" x2="97290" y2="87179"/>
                        <a14:backgroundMark x1="36450" y1="80342" x2="36450" y2="80342"/>
                        <a14:backgroundMark x1="54878" y1="86752" x2="54878" y2="86752"/>
                        <a14:backgroundMark x1="54878" y1="77778" x2="54878" y2="77778"/>
                      </a14:backgroundRemoval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556695" y="413891"/>
            <a:ext cx="1143541" cy="334695"/>
          </a:xfrm>
          <a:prstGeom prst="rect">
            <a:avLst/>
          </a:prstGeom>
        </p:spPr>
      </p:pic>
      <p:sp>
        <p:nvSpPr>
          <p:cNvPr id="12" name="직사각형 11"/>
          <p:cNvSpPr/>
          <p:nvPr userDrawn="1"/>
        </p:nvSpPr>
        <p:spPr>
          <a:xfrm>
            <a:off x="9789537" y="4722112"/>
            <a:ext cx="116463" cy="1473481"/>
          </a:xfrm>
          <a:prstGeom prst="rect">
            <a:avLst/>
          </a:prstGeom>
          <a:solidFill>
            <a:srgbClr val="891E3A"/>
          </a:solidFill>
          <a:ln>
            <a:solidFill>
              <a:srgbClr val="891E3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950"/>
          </a:p>
        </p:txBody>
      </p:sp>
      <p:sp>
        <p:nvSpPr>
          <p:cNvPr id="13" name="TextBox 12"/>
          <p:cNvSpPr txBox="1"/>
          <p:nvPr userDrawn="1"/>
        </p:nvSpPr>
        <p:spPr>
          <a:xfrm rot="16200000">
            <a:off x="8864123" y="5329361"/>
            <a:ext cx="1584088" cy="2589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83" b="1">
                <a:solidFill>
                  <a:srgbClr val="891E3A"/>
                </a:solidFill>
              </a:rPr>
              <a:t>www.innorobotics.co.kr</a:t>
            </a:r>
            <a:endParaRPr lang="ko-KR" altLang="en-US" sz="1083" b="1">
              <a:solidFill>
                <a:srgbClr val="891E3A"/>
              </a:solidFill>
            </a:endParaRPr>
          </a:p>
        </p:txBody>
      </p:sp>
      <p:sp>
        <p:nvSpPr>
          <p:cNvPr id="14" name="TextBox 13"/>
          <p:cNvSpPr txBox="1"/>
          <p:nvPr userDrawn="1"/>
        </p:nvSpPr>
        <p:spPr>
          <a:xfrm>
            <a:off x="8722303" y="6233"/>
            <a:ext cx="10732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Confidential</a:t>
            </a:r>
            <a:endParaRPr lang="ko-KR" altLang="en-US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5" name="TextBox 14"/>
          <p:cNvSpPr txBox="1"/>
          <p:nvPr userDrawn="1"/>
        </p:nvSpPr>
        <p:spPr>
          <a:xfrm>
            <a:off x="8231246" y="802191"/>
            <a:ext cx="167475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Perfect</a:t>
            </a:r>
            <a:r>
              <a:rPr lang="en-US" altLang="ko-KR" sz="1400" baseline="0" dirty="0">
                <a:solidFill>
                  <a:schemeClr val="bg1">
                    <a:lumMod val="50000"/>
                  </a:schemeClr>
                </a:solidFill>
              </a:rPr>
              <a:t> No.1 Partner</a:t>
            </a:r>
            <a:endParaRPr lang="ko-KR" altLang="en-US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6" name="슬라이드 번호 개체 틀 5"/>
          <p:cNvSpPr>
            <a:spLocks noGrp="1"/>
          </p:cNvSpPr>
          <p:nvPr>
            <p:ph type="sldNum" sz="quarter" idx="14"/>
          </p:nvPr>
        </p:nvSpPr>
        <p:spPr>
          <a:xfrm>
            <a:off x="7264400" y="6356351"/>
            <a:ext cx="2311400" cy="365125"/>
          </a:xfrm>
        </p:spPr>
        <p:txBody>
          <a:bodyPr/>
          <a:lstStyle/>
          <a:p>
            <a:fld id="{869D38BF-033B-430D-8161-2CB3A99929C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629452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60771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6" r:id="rId2"/>
    <p:sldLayoutId id="2147483688" r:id="rId3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120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.jpg"/><Relationship Id="rId3" Type="http://schemas.openxmlformats.org/officeDocument/2006/relationships/image" Target="../media/image4.jpg"/><Relationship Id="rId4" Type="http://schemas.openxmlformats.org/officeDocument/2006/relationships/image" Target="../media/image5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6.jpg"/><Relationship Id="rId3" Type="http://schemas.openxmlformats.org/officeDocument/2006/relationships/image" Target="../media/image7.jpg"/><Relationship Id="rId4" Type="http://schemas.openxmlformats.org/officeDocument/2006/relationships/image" Target="../media/image8.jpg"/><Relationship Id="rId5" Type="http://schemas.openxmlformats.org/officeDocument/2006/relationships/image" Target="../media/image9.jpg"/><Relationship Id="rId6" Type="http://schemas.openxmlformats.org/officeDocument/2006/relationships/image" Target="../media/image10.jpg"/><Relationship Id="rId7" Type="http://schemas.openxmlformats.org/officeDocument/2006/relationships/notesSlide" Target="../notesSlides/notesSlide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1.jpg"/><Relationship Id="rId3" Type="http://schemas.openxmlformats.org/officeDocument/2006/relationships/image" Target="../media/image12.jpg"/><Relationship Id="rId4" Type="http://schemas.openxmlformats.org/officeDocument/2006/relationships/image" Target="../media/image13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5.jpg"/><Relationship Id="rId3" Type="http://schemas.openxmlformats.org/officeDocument/2006/relationships/image" Target="../media/image14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5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6.jpg"/><Relationship Id="rId3" Type="http://schemas.openxmlformats.org/officeDocument/2006/relationships/image" Target="../media/image16.jpg"/><Relationship Id="rId4" Type="http://schemas.openxmlformats.org/officeDocument/2006/relationships/image" Target="../media/image11.jpg"/><Relationship Id="rId5" Type="http://schemas.openxmlformats.org/officeDocument/2006/relationships/image" Target="../media/image13.jpg"/><Relationship Id="rId6" Type="http://schemas.openxmlformats.org/officeDocument/2006/relationships/image" Target="../media/image17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6.jpg"/><Relationship Id="rId3" Type="http://schemas.openxmlformats.org/officeDocument/2006/relationships/image" Target="../media/image12.jpg"/><Relationship Id="rId4" Type="http://schemas.openxmlformats.org/officeDocument/2006/relationships/image" Target="../media/image17.jpg"/><Relationship Id="rId5" Type="http://schemas.openxmlformats.org/officeDocument/2006/relationships/image" Target="../media/image4.jpg"/><Relationship Id="rId6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89000" y="1397000"/>
            <a:ext cx="8128000" cy="127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ko-KR" altLang="en-US" sz="2800" b="1" dirty="0"/>
              <a:t>NAMUGA 매거진 물류 로봇</a:t>
            </a:r>
          </a:p>
          <a:p>
            <a:pPr algn="ctr"/>
            <a:r>
              <a:rPr lang="ko-KR" altLang="en-US" sz="2800" b="1" dirty="0"/>
              <a:t>시스템 개요</a:t>
            </a:r>
          </a:p>
        </p:txBody>
      </p:sp>
      <p:sp>
        <p:nvSpPr>
          <p:cNvPr id="4" name="부제"/>
          <p:cNvSpPr txBox="1"/>
          <p:nvPr/>
        </p:nvSpPr>
        <p:spPr>
          <a:xfrm>
            <a:off x="889000" y="2946400"/>
            <a:ext cx="8128000" cy="762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ko-KR" altLang="en-US" sz="1800" dirty="0">
                <a:solidFill>
                  <a:srgbClr val="404040"/>
                </a:solidFill>
              </a:rPr>
              <a:t>제어 시스템 구성 · QR 기반 정밀 위치 확보 원리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9000" y="4038600"/>
            <a:ext cx="8128000" cy="431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ko-KR" altLang="en-US" sz="2000" b="1" dirty="0" err="1"/>
              <a:t>이노로보틱스</a:t>
            </a:r>
            <a:r>
              <a:rPr lang="ko-KR" altLang="en-US" sz="2000" b="1" dirty="0"/>
              <a:t> /  2026. 10</a:t>
            </a:r>
          </a:p>
        </p:txBody>
      </p:sp>
    </p:spTree>
    <p:extLst>
      <p:ext uri="{BB962C8B-B14F-4D97-AF65-F5344CB8AC3E}">
        <p14:creationId xmlns:p14="http://schemas.microsoft.com/office/powerpoint/2010/main" val="1681692429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>
          <a:xfrm>
            <a:off x="265176" y="265176"/>
            <a:ext cx="7872983" cy="420624"/>
          </a:xfrm>
        </p:spPr>
        <p:txBody>
          <a:bodyPr/>
          <a:lstStyle/>
          <a:p>
            <a:r>
              <a:rPr sz="2400" b="1">
                <a:solidFill>
                  <a:srgbClr val="1A1A1A"/>
                </a:solidFill>
              </a:rPr>
              <a:t>목차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CDE66FD-D7CB-3568-8D26-D90AF1C97F55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869D38BF-033B-430D-8161-2CB3A99929CC}" type="slidenum">
              <a:rPr lang="ko-KR" altLang="en-US" smtClean="0"/>
              <a:pPr/>
              <a:t>17</a:t>
            </a:fld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411480" y="1143000"/>
            <a:ext cx="4572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404040"/>
                </a:solidFill>
              </a:rPr>
              <a:t>Part 1  제어 시스템 구성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2880360"/>
            <a:ext cx="4572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9B1B30"/>
                </a:solidFill>
              </a:rPr>
              <a:t>Part 2  정밀 위치 확보 원리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444752"/>
            <a:ext cx="1664208" cy="129844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554480"/>
            <a:ext cx="1463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9B1B30"/>
                </a:solidFill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011680"/>
            <a:ext cx="14356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262626"/>
                </a:solidFill>
              </a:rPr>
              <a:t>로봇 구성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13432"/>
            <a:ext cx="148132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</a:rPr>
              <a:t>로봇 H/W · 작업 위치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21992" y="1444752"/>
            <a:ext cx="1664208" cy="129844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59152" y="1554480"/>
            <a:ext cx="1463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9B1B30"/>
                </a:solidFill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59152" y="2011680"/>
            <a:ext cx="14356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262626"/>
                </a:solidFill>
              </a:rPr>
              <a:t>역할 분담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59152" y="2313432"/>
            <a:ext cx="148132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</a:rPr>
              <a:t>관제 · 제어 · 실행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032504" y="1444752"/>
            <a:ext cx="1664208" cy="129844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69664" y="1554480"/>
            <a:ext cx="1463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9B1B30"/>
                </a:solidFill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69664" y="2011680"/>
            <a:ext cx="14356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262626"/>
                </a:solidFill>
              </a:rPr>
              <a:t>시스템 구성도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69664" y="2313432"/>
            <a:ext cx="148132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</a:rPr>
              <a:t>관제 · 무선망 · 설비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843016" y="1444752"/>
            <a:ext cx="1664208" cy="129844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80176" y="1554480"/>
            <a:ext cx="1463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9B1B30"/>
                </a:solidFill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80176" y="2011680"/>
            <a:ext cx="14356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262626"/>
                </a:solidFill>
              </a:rPr>
              <a:t>제어 구성도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80176" y="2313432"/>
            <a:ext cx="148132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</a:rPr>
              <a:t>로봇 내부 장치 연결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653527" y="1444752"/>
            <a:ext cx="1664208" cy="129844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90688" y="1554480"/>
            <a:ext cx="1463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9B1B30"/>
                </a:solidFill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90688" y="2011680"/>
            <a:ext cx="14356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262626"/>
                </a:solidFill>
              </a:rPr>
              <a:t>운영 개념도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90688" y="2313432"/>
            <a:ext cx="148132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</a:rPr>
              <a:t>작업대 → 이송 → 설비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" y="3182112"/>
            <a:ext cx="2103120" cy="129844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3291840"/>
            <a:ext cx="1463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9B1B30"/>
                </a:solidFill>
              </a:rP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3749039"/>
            <a:ext cx="18745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262626"/>
                </a:solidFill>
              </a:rPr>
              <a:t>정밀 위치 확보 원리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4050791"/>
            <a:ext cx="192023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</a:rPr>
              <a:t>AMR 정차 + QR 비전 보정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679192" y="3182112"/>
            <a:ext cx="2103120" cy="129844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816352" y="3291840"/>
            <a:ext cx="1463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9B1B30"/>
                </a:solidFill>
              </a:rPr>
              <a:t>07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816352" y="3749039"/>
            <a:ext cx="18745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262626"/>
                </a:solidFill>
              </a:rPr>
              <a:t>QR 좌표 · 보정값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816352" y="4050791"/>
            <a:ext cx="192023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</a:rPr>
              <a:t>픽셀 → 실거리 · 오프셋 합산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946904" y="3182112"/>
            <a:ext cx="2103120" cy="129844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84064" y="3291840"/>
            <a:ext cx="1463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9B1B30"/>
                </a:solidFill>
              </a:rPr>
              <a:t>08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84064" y="3749039"/>
            <a:ext cx="18745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262626"/>
                </a:solidFill>
              </a:rPr>
              <a:t>PICKUP / PLACE 시퀀스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84064" y="4050791"/>
            <a:ext cx="192023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</a:rPr>
              <a:t>작업 직전 QR 재판독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214616" y="3182112"/>
            <a:ext cx="2103120" cy="1298448"/>
          </a:xfrm>
          <a:prstGeom prst="rect">
            <a:avLst/>
          </a:prstGeom>
          <a:solidFill>
            <a:srgbClr val="9B1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51775" y="3291840"/>
            <a:ext cx="1463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핵심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51775" y="3749039"/>
            <a:ext cx="18745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±50 mm → QR 보정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51775" y="4050791"/>
            <a:ext cx="192023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정차 오차는 비전 보정으로 흡수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11480" y="4937760"/>
            <a:ext cx="8906256" cy="1097280"/>
          </a:xfrm>
          <a:prstGeom prst="rect">
            <a:avLst/>
          </a:prstGeom>
          <a:noFill/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85800" y="50474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9B1B30"/>
                </a:solidFill>
              </a:rPr>
              <a:t>이 자료의 목적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5800" y="5358384"/>
            <a:ext cx="8229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62626"/>
                </a:solidFill>
              </a:rPr>
              <a:t>매거진 물류 로봇의 제어 시스템 구성과, AMR 정차 오차를 QR 비전 보정으로 흡수하는 원리를 설명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262626"/>
                </a:solidFill>
              </a:rPr>
              <a:t>H/W 상세 사양은 생략, 제어 계층 · 장치 연결 · 위치 보정 절차 중심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>
          <a:xfrm>
            <a:off x="265176" y="265176"/>
            <a:ext cx="7872983" cy="420624"/>
          </a:xfrm>
        </p:spPr>
        <p:txBody>
          <a:bodyPr/>
          <a:lstStyle/>
          <a:p>
            <a:r>
              <a:rPr sz="2400" b="1">
                <a:solidFill>
                  <a:srgbClr val="1A1A1A"/>
                </a:solidFill>
              </a:rPr>
              <a:t>작업 대상과 로봇 구성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CDE66FD-D7CB-3568-8D26-D90AF1C97F55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869D38BF-033B-430D-8161-2CB3A99929CC}" type="slidenum">
              <a:rPr lang="ko-KR" altLang="en-US" smtClean="0"/>
              <a:pPr/>
              <a:t>17</a:t>
            </a:fld>
            <a:endParaRPr lang="ko-KR" altLang="en-US" dirty="0"/>
          </a:p>
        </p:txBody>
      </p:sp>
      <p:pic>
        <p:nvPicPr>
          <p:cNvPr id="5" name="Picture 4" descr="robot_full.jpg"/>
          <p:cNvPicPr>
            <a:picLocks noChangeAspect="1"/>
          </p:cNvPicPr>
          <p:nvPr/>
        </p:nvPicPr>
        <p:blipFill>
          <a:blip r:embed="rId2"/>
          <a:srcRect l="39" r="39"/>
          <a:stretch>
            <a:fillRect/>
          </a:stretch>
        </p:blipFill>
        <p:spPr>
          <a:xfrm>
            <a:off x="411480" y="1188720"/>
            <a:ext cx="2926080" cy="390448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1480" y="5166359"/>
            <a:ext cx="2926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7F7F7F"/>
                </a:solidFill>
              </a:rPr>
              <a:t>현장 설비 앞 매거진 물류 로봇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11880" y="1234440"/>
            <a:ext cx="2057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62626"/>
                </a:solidFill>
              </a:rPr>
              <a:t>협동로봇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11880" y="1499616"/>
            <a:ext cx="2057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</a:rPr>
              <a:t>FAIRINO · PICKUP / PLACE 동작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2225649" y="1371600"/>
            <a:ext cx="1331367" cy="637062"/>
          </a:xfrm>
          <a:prstGeom prst="line">
            <a:avLst/>
          </a:prstGeom>
          <a:ln w="12700">
            <a:solidFill>
              <a:srgbClr val="9B1B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2179929" y="1962942"/>
            <a:ext cx="91440" cy="91440"/>
          </a:xfrm>
          <a:prstGeom prst="ellipse">
            <a:avLst/>
          </a:prstGeom>
          <a:solidFill>
            <a:srgbClr val="9B1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11880" y="1892808"/>
            <a:ext cx="2057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62626"/>
                </a:solidFill>
              </a:rPr>
              <a:t>손목 RGB-D 카메라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2157984"/>
            <a:ext cx="2057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</a:rPr>
              <a:t>QR 판독 · Depth 거리 측정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1113739" y="2029968"/>
            <a:ext cx="2443277" cy="76306"/>
          </a:xfrm>
          <a:prstGeom prst="line">
            <a:avLst/>
          </a:prstGeom>
          <a:ln w="12700">
            <a:solidFill>
              <a:srgbClr val="9B1B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1068019" y="2060554"/>
            <a:ext cx="91440" cy="91440"/>
          </a:xfrm>
          <a:prstGeom prst="ellipse">
            <a:avLst/>
          </a:prstGeom>
          <a:solidFill>
            <a:srgbClr val="9B1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11880" y="2551176"/>
            <a:ext cx="2057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62626"/>
                </a:solidFill>
              </a:rPr>
              <a:t>전동 그리퍼 · 전용 핑거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1880" y="2816352"/>
            <a:ext cx="2057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</a:rPr>
              <a:t>DH-ROBOTICS · 매거진 파지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289304" y="2457678"/>
            <a:ext cx="2267712" cy="230658"/>
          </a:xfrm>
          <a:prstGeom prst="line">
            <a:avLst/>
          </a:prstGeom>
          <a:ln w="12700">
            <a:solidFill>
              <a:srgbClr val="9B1B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1243584" y="2411958"/>
            <a:ext cx="91440" cy="91440"/>
          </a:xfrm>
          <a:prstGeom prst="ellipse">
            <a:avLst/>
          </a:prstGeom>
          <a:solidFill>
            <a:srgbClr val="9B1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11880" y="3209544"/>
            <a:ext cx="2057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62626"/>
                </a:solidFill>
              </a:rPr>
              <a:t>매거진 적재 버퍼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11880" y="3474720"/>
            <a:ext cx="2057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</a:rPr>
              <a:t>3 슬롯 · 이송 중 매거진 보관</a:t>
            </a:r>
          </a:p>
        </p:txBody>
      </p:sp>
      <p:cxnSp>
        <p:nvCxnSpPr>
          <p:cNvPr id="21" name="Connector 20"/>
          <p:cNvCxnSpPr/>
          <p:nvPr/>
        </p:nvCxnSpPr>
        <p:spPr>
          <a:xfrm flipV="1">
            <a:off x="2020824" y="3346704"/>
            <a:ext cx="1536192" cy="692292"/>
          </a:xfrm>
          <a:prstGeom prst="line">
            <a:avLst/>
          </a:prstGeom>
          <a:ln w="12700">
            <a:solidFill>
              <a:srgbClr val="9B1B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1975104" y="3993276"/>
            <a:ext cx="91440" cy="91440"/>
          </a:xfrm>
          <a:prstGeom prst="ellipse">
            <a:avLst/>
          </a:prstGeom>
          <a:solidFill>
            <a:srgbClr val="9B1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11880" y="3867912"/>
            <a:ext cx="2057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62626"/>
                </a:solidFill>
              </a:rPr>
              <a:t>경광등 · 안전 I/O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11880" y="4133088"/>
            <a:ext cx="2057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</a:rPr>
              <a:t>상태 표시 · E-Stop · 인터록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2957169" y="3765682"/>
            <a:ext cx="599847" cy="239390"/>
          </a:xfrm>
          <a:prstGeom prst="line">
            <a:avLst/>
          </a:prstGeom>
          <a:ln w="12700">
            <a:solidFill>
              <a:srgbClr val="9B1B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2911449" y="3719962"/>
            <a:ext cx="91440" cy="91440"/>
          </a:xfrm>
          <a:prstGeom prst="ellipse">
            <a:avLst/>
          </a:prstGeom>
          <a:solidFill>
            <a:srgbClr val="9B1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11880" y="4526279"/>
            <a:ext cx="2057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62626"/>
                </a:solidFill>
              </a:rPr>
              <a:t>자율주행 AMR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11880" y="4791455"/>
            <a:ext cx="2057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</a:rPr>
              <a:t>ROBINNO-MA5 · Node 주행 / 정차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2225649" y="4624669"/>
            <a:ext cx="1331367" cy="38771"/>
          </a:xfrm>
          <a:prstGeom prst="line">
            <a:avLst/>
          </a:prstGeom>
          <a:ln w="12700">
            <a:solidFill>
              <a:srgbClr val="9B1B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2179929" y="4578949"/>
            <a:ext cx="91440" cy="91440"/>
          </a:xfrm>
          <a:prstGeom prst="ellipse">
            <a:avLst/>
          </a:prstGeom>
          <a:solidFill>
            <a:srgbClr val="9B1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table_qr.jpg"/>
          <p:cNvPicPr>
            <a:picLocks noChangeAspect="1"/>
          </p:cNvPicPr>
          <p:nvPr/>
        </p:nvPicPr>
        <p:blipFill>
          <a:blip r:embed="rId3"/>
          <a:srcRect l="4907" r="5998"/>
          <a:stretch>
            <a:fillRect/>
          </a:stretch>
        </p:blipFill>
        <p:spPr>
          <a:xfrm>
            <a:off x="5852160" y="1234440"/>
            <a:ext cx="1664208" cy="1325880"/>
          </a:xfrm>
          <a:prstGeom prst="rect">
            <a:avLst/>
          </a:prstGeom>
        </p:spPr>
      </p:pic>
      <p:pic>
        <p:nvPicPr>
          <p:cNvPr id="32" name="Picture 31" descr="port_qr.jpg"/>
          <p:cNvPicPr>
            <a:picLocks noChangeAspect="1"/>
          </p:cNvPicPr>
          <p:nvPr/>
        </p:nvPicPr>
        <p:blipFill>
          <a:blip r:embed="rId4"/>
          <a:srcRect t="394" b="169"/>
          <a:stretch>
            <a:fillRect/>
          </a:stretch>
        </p:blipFill>
        <p:spPr>
          <a:xfrm>
            <a:off x="7662672" y="1234440"/>
            <a:ext cx="1664208" cy="132588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5852160" y="2615184"/>
            <a:ext cx="166420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9B1B30"/>
                </a:solidFill>
              </a:rPr>
              <a:t>PICKUP 위치</a:t>
            </a:r>
          </a:p>
          <a:p>
            <a:pPr algn="l"/>
            <a:r>
              <a:rPr sz="1000" b="0">
                <a:solidFill>
                  <a:srgbClr val="595959"/>
                </a:solidFill>
              </a:rPr>
              <a:t>작업대 · QR 표식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62672" y="2615184"/>
            <a:ext cx="166420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9B1B30"/>
                </a:solidFill>
              </a:rPr>
              <a:t>PLACE 위치</a:t>
            </a:r>
          </a:p>
          <a:p>
            <a:pPr algn="l"/>
            <a:r>
              <a:rPr sz="1000" b="0">
                <a:solidFill>
                  <a:srgbClr val="595959"/>
                </a:solidFill>
              </a:rPr>
              <a:t>설비 로딩 포트 · QR 표식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852160" y="3200400"/>
            <a:ext cx="1097280" cy="12344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852160" y="3310128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9B1B30"/>
                </a:solidFill>
              </a:rPr>
              <a:t>±50 mm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97880" y="3749039"/>
            <a:ext cx="1005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</a:rPr>
              <a:t>AMR 정차</a:t>
            </a:r>
          </a:p>
          <a:p>
            <a:pPr algn="ctr"/>
            <a:r>
              <a:rPr sz="1000" b="0">
                <a:solidFill>
                  <a:srgbClr val="595959"/>
                </a:solidFill>
              </a:rPr>
              <a:t>허용 오차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059168" y="3200400"/>
            <a:ext cx="1097280" cy="12344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059168" y="3310128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9B1B30"/>
                </a:solidFill>
              </a:rPr>
              <a:t>QR 보정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04888" y="3749039"/>
            <a:ext cx="1005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</a:rPr>
              <a:t>작업 직전</a:t>
            </a:r>
          </a:p>
          <a:p>
            <a:pPr algn="ctr"/>
            <a:r>
              <a:rPr sz="1000" b="0">
                <a:solidFill>
                  <a:srgbClr val="595959"/>
                </a:solidFill>
              </a:rPr>
              <a:t>비전 재측정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266176" y="3200400"/>
            <a:ext cx="1097280" cy="12344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66176" y="3310128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9B1B30"/>
                </a:solidFill>
              </a:rPr>
              <a:t>3 슬롯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11896" y="3749039"/>
            <a:ext cx="1005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</a:rPr>
              <a:t>매거진</a:t>
            </a:r>
          </a:p>
          <a:p>
            <a:pPr algn="ctr"/>
            <a:r>
              <a:rPr sz="1000" b="0">
                <a:solidFill>
                  <a:srgbClr val="595959"/>
                </a:solidFill>
              </a:rPr>
              <a:t>버퍼 적재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852160" y="4617720"/>
            <a:ext cx="3474720" cy="1051560"/>
          </a:xfrm>
          <a:prstGeom prst="rect">
            <a:avLst/>
          </a:prstGeom>
          <a:solidFill>
            <a:srgbClr val="F6E8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989320" y="4681728"/>
            <a:ext cx="324612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9B1B30"/>
                </a:solidFill>
              </a:rPr>
              <a:t>작업 개요</a:t>
            </a:r>
          </a:p>
          <a:p>
            <a:pPr algn="l"/>
            <a:r>
              <a:rPr sz="1000" b="0">
                <a:solidFill>
                  <a:srgbClr val="262626"/>
                </a:solidFill>
              </a:rPr>
              <a:t>작업대 매거진 PICKUP → AMR 버퍼 적재</a:t>
            </a:r>
          </a:p>
          <a:p>
            <a:pPr algn="l"/>
            <a:r>
              <a:rPr sz="1000" b="0">
                <a:solidFill>
                  <a:srgbClr val="262626"/>
                </a:solidFill>
              </a:rPr>
              <a:t>→ 설비 앞 이동 → 로딩 포트 PLACE</a:t>
            </a:r>
          </a:p>
          <a:p>
            <a:pPr algn="l"/>
            <a:r>
              <a:rPr sz="1000" b="0">
                <a:solidFill>
                  <a:srgbClr val="262626"/>
                </a:solidFill>
              </a:rPr>
              <a:t>회수(UNLOAD)는 같은 흐름의 역순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>
          <a:xfrm>
            <a:off x="265176" y="265176"/>
            <a:ext cx="7872983" cy="420624"/>
          </a:xfrm>
        </p:spPr>
        <p:txBody>
          <a:bodyPr/>
          <a:lstStyle/>
          <a:p>
            <a:r>
              <a:rPr sz="2400" b="1">
                <a:solidFill>
                  <a:srgbClr val="1A1A1A"/>
                </a:solidFill>
              </a:rPr>
              <a:t>시스템 구성과 역할 분담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CDE66FD-D7CB-3568-8D26-D90AF1C97F55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869D38BF-033B-430D-8161-2CB3A99929CC}" type="slidenum">
              <a:rPr lang="ko-KR" altLang="en-US" smtClean="0"/>
              <a:pPr/>
              <a:t>17</a:t>
            </a:fld>
            <a:endParaRPr lang="ko-KR" altLang="en-US" dirty="0"/>
          </a:p>
        </p:txBody>
      </p:sp>
      <p:sp>
        <p:nvSpPr>
          <p:cNvPr id="5" name="Rectangle 4"/>
          <p:cNvSpPr/>
          <p:nvPr/>
        </p:nvSpPr>
        <p:spPr>
          <a:xfrm>
            <a:off x="411480" y="1600200"/>
            <a:ext cx="2697480" cy="777240"/>
          </a:xfrm>
          <a:prstGeom prst="rect">
            <a:avLst/>
          </a:prstGeom>
          <a:solidFill>
            <a:srgbClr val="9B1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91640"/>
            <a:ext cx="2331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관제 시스템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029968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ACS 서버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2377440"/>
            <a:ext cx="2697480" cy="23774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514600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262626"/>
                </a:solidFill>
              </a:rPr>
              <a:t>무엇을 · 어디로 · 언제</a:t>
            </a:r>
          </a:p>
        </p:txBody>
      </p:sp>
      <p:sp>
        <p:nvSpPr>
          <p:cNvPr id="10" name="Oval 9"/>
          <p:cNvSpPr/>
          <p:nvPr/>
        </p:nvSpPr>
        <p:spPr>
          <a:xfrm>
            <a:off x="612648" y="2999232"/>
            <a:ext cx="73152" cy="73152"/>
          </a:xfrm>
          <a:prstGeom prst="ellipse">
            <a:avLst/>
          </a:prstGeom>
          <a:solidFill>
            <a:srgbClr val="9B1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92608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262626"/>
                </a:solidFill>
              </a:rPr>
              <a:t>작업(Job) 생성 · 우선순위 관리</a:t>
            </a:r>
          </a:p>
        </p:txBody>
      </p:sp>
      <p:sp>
        <p:nvSpPr>
          <p:cNvPr id="12" name="Oval 11"/>
          <p:cNvSpPr/>
          <p:nvPr/>
        </p:nvSpPr>
        <p:spPr>
          <a:xfrm>
            <a:off x="612648" y="3410712"/>
            <a:ext cx="73152" cy="73152"/>
          </a:xfrm>
          <a:prstGeom prst="ellipse">
            <a:avLst/>
          </a:prstGeom>
          <a:solidFill>
            <a:srgbClr val="9B1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33756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262626"/>
                </a:solidFill>
              </a:rPr>
              <a:t>로봇 배차 · 경로 · 교통 제어</a:t>
            </a:r>
          </a:p>
        </p:txBody>
      </p:sp>
      <p:sp>
        <p:nvSpPr>
          <p:cNvPr id="14" name="Oval 13"/>
          <p:cNvSpPr/>
          <p:nvPr/>
        </p:nvSpPr>
        <p:spPr>
          <a:xfrm>
            <a:off x="612648" y="3822191"/>
            <a:ext cx="73152" cy="73152"/>
          </a:xfrm>
          <a:prstGeom prst="ellipse">
            <a:avLst/>
          </a:prstGeom>
          <a:solidFill>
            <a:srgbClr val="9B1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74904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262626"/>
                </a:solidFill>
              </a:rPr>
              <a:t>이동 · 작업 지시 전송</a:t>
            </a:r>
          </a:p>
        </p:txBody>
      </p:sp>
      <p:sp>
        <p:nvSpPr>
          <p:cNvPr id="16" name="Oval 15"/>
          <p:cNvSpPr/>
          <p:nvPr/>
        </p:nvSpPr>
        <p:spPr>
          <a:xfrm>
            <a:off x="612648" y="4233672"/>
            <a:ext cx="73152" cy="73152"/>
          </a:xfrm>
          <a:prstGeom prst="ellipse">
            <a:avLst/>
          </a:prstGeom>
          <a:solidFill>
            <a:srgbClr val="9B1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16052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262626"/>
                </a:solidFill>
              </a:rPr>
              <a:t>상태 · 알람 · 작업 이력 관리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520440" y="1600200"/>
            <a:ext cx="2697480" cy="777240"/>
          </a:xfrm>
          <a:prstGeom prst="rect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03320" y="1691640"/>
            <a:ext cx="2331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AMR 통합 제어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03320" y="2029968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로봇 탑재 제어 PC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20440" y="2377440"/>
            <a:ext cx="2697480" cy="23774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03320" y="2514600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262626"/>
                </a:solidFill>
              </a:rPr>
              <a:t>어떻게</a:t>
            </a:r>
          </a:p>
        </p:txBody>
      </p:sp>
      <p:sp>
        <p:nvSpPr>
          <p:cNvPr id="23" name="Oval 22"/>
          <p:cNvSpPr/>
          <p:nvPr/>
        </p:nvSpPr>
        <p:spPr>
          <a:xfrm>
            <a:off x="3721608" y="2999232"/>
            <a:ext cx="73152" cy="73152"/>
          </a:xfrm>
          <a:prstGeom prst="ellipse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86200" y="292608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262626"/>
                </a:solidFill>
              </a:rPr>
              <a:t>작업 상태머신 (MainSequence)</a:t>
            </a:r>
          </a:p>
        </p:txBody>
      </p:sp>
      <p:sp>
        <p:nvSpPr>
          <p:cNvPr id="25" name="Oval 24"/>
          <p:cNvSpPr/>
          <p:nvPr/>
        </p:nvSpPr>
        <p:spPr>
          <a:xfrm>
            <a:off x="3721608" y="3410712"/>
            <a:ext cx="73152" cy="73152"/>
          </a:xfrm>
          <a:prstGeom prst="ellipse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886200" y="333756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262626"/>
                </a:solidFill>
              </a:rPr>
              <a:t>QR 측정 · 보정값 계산</a:t>
            </a:r>
          </a:p>
        </p:txBody>
      </p:sp>
      <p:sp>
        <p:nvSpPr>
          <p:cNvPr id="27" name="Oval 26"/>
          <p:cNvSpPr/>
          <p:nvPr/>
        </p:nvSpPr>
        <p:spPr>
          <a:xfrm>
            <a:off x="3721608" y="3822191"/>
            <a:ext cx="73152" cy="73152"/>
          </a:xfrm>
          <a:prstGeom prst="ellipse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886200" y="374904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262626"/>
                </a:solidFill>
              </a:rPr>
              <a:t>AMR · 협동로봇 · I/O 연동</a:t>
            </a:r>
          </a:p>
        </p:txBody>
      </p:sp>
      <p:sp>
        <p:nvSpPr>
          <p:cNvPr id="29" name="Oval 28"/>
          <p:cNvSpPr/>
          <p:nvPr/>
        </p:nvSpPr>
        <p:spPr>
          <a:xfrm>
            <a:off x="3721608" y="4233672"/>
            <a:ext cx="73152" cy="73152"/>
          </a:xfrm>
          <a:prstGeom prst="ellipse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886200" y="416052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262626"/>
                </a:solidFill>
              </a:rPr>
              <a:t>인터록 · 결과 보고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629400" y="1600200"/>
            <a:ext cx="2697480" cy="777240"/>
          </a:xfrm>
          <a:prstGeom prst="rect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12280" y="1691640"/>
            <a:ext cx="2331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현장 실행 장치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12280" y="2029968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AMR · 협동로봇 · 비전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629400" y="2377440"/>
            <a:ext cx="2697480" cy="23774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12280" y="2514600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262626"/>
                </a:solidFill>
              </a:rPr>
              <a:t>실행</a:t>
            </a:r>
          </a:p>
        </p:txBody>
      </p:sp>
      <p:sp>
        <p:nvSpPr>
          <p:cNvPr id="36" name="Oval 35"/>
          <p:cNvSpPr/>
          <p:nvPr/>
        </p:nvSpPr>
        <p:spPr>
          <a:xfrm>
            <a:off x="6830568" y="2999232"/>
            <a:ext cx="73152" cy="73152"/>
          </a:xfrm>
          <a:prstGeom prst="ellipse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995160" y="292608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262626"/>
                </a:solidFill>
              </a:rPr>
              <a:t>Node 주행 · 정차 (AMR)</a:t>
            </a:r>
          </a:p>
        </p:txBody>
      </p:sp>
      <p:sp>
        <p:nvSpPr>
          <p:cNvPr id="38" name="Oval 37"/>
          <p:cNvSpPr/>
          <p:nvPr/>
        </p:nvSpPr>
        <p:spPr>
          <a:xfrm>
            <a:off x="6830568" y="3410712"/>
            <a:ext cx="73152" cy="73152"/>
          </a:xfrm>
          <a:prstGeom prst="ellipse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995160" y="333756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262626"/>
                </a:solidFill>
              </a:rPr>
              <a:t>보정 좌표로 PICK / PLACE (코봇)</a:t>
            </a:r>
          </a:p>
        </p:txBody>
      </p:sp>
      <p:sp>
        <p:nvSpPr>
          <p:cNvPr id="40" name="Oval 39"/>
          <p:cNvSpPr/>
          <p:nvPr/>
        </p:nvSpPr>
        <p:spPr>
          <a:xfrm>
            <a:off x="6830568" y="3822191"/>
            <a:ext cx="73152" cy="73152"/>
          </a:xfrm>
          <a:prstGeom prst="ellipse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995160" y="374904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262626"/>
                </a:solidFill>
              </a:rPr>
              <a:t>QR · Depth 측정 (RGB-D)</a:t>
            </a:r>
          </a:p>
        </p:txBody>
      </p:sp>
      <p:sp>
        <p:nvSpPr>
          <p:cNvPr id="42" name="Oval 41"/>
          <p:cNvSpPr/>
          <p:nvPr/>
        </p:nvSpPr>
        <p:spPr>
          <a:xfrm>
            <a:off x="6830568" y="4233672"/>
            <a:ext cx="73152" cy="73152"/>
          </a:xfrm>
          <a:prstGeom prst="ellipse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995160" y="416052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262626"/>
                </a:solidFill>
              </a:rPr>
              <a:t>경광등 · 부저 · E-Stop (I/O)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1480" y="1188720"/>
            <a:ext cx="2697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9B1B30"/>
                </a:solidFill>
              </a:rPr>
              <a:t>관제 계층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411480" y="1463040"/>
            <a:ext cx="2697480" cy="0"/>
          </a:xfrm>
          <a:prstGeom prst="line">
            <a:avLst/>
          </a:prstGeom>
          <a:ln w="12700">
            <a:solidFill>
              <a:srgbClr val="9B1B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3520440" y="1188720"/>
            <a:ext cx="5806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404040"/>
                </a:solidFill>
              </a:rPr>
              <a:t>로봇 계층 (AMR 탑재)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3520440" y="1463040"/>
            <a:ext cx="5806440" cy="0"/>
          </a:xfrm>
          <a:prstGeom prst="line">
            <a:avLst/>
          </a:prstGeom>
          <a:ln w="12700">
            <a:solidFill>
              <a:srgbClr val="4040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3127248" y="2697480"/>
            <a:ext cx="374904" cy="0"/>
          </a:xfrm>
          <a:prstGeom prst="line">
            <a:avLst/>
          </a:prstGeom>
          <a:ln w="19050">
            <a:solidFill>
              <a:srgbClr val="4040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H="1">
            <a:off x="3127248" y="3063240"/>
            <a:ext cx="374904" cy="0"/>
          </a:xfrm>
          <a:prstGeom prst="line">
            <a:avLst/>
          </a:prstGeom>
          <a:ln w="19050">
            <a:solidFill>
              <a:srgbClr val="7F7F7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6236208" y="2697480"/>
            <a:ext cx="374904" cy="0"/>
          </a:xfrm>
          <a:prstGeom prst="line">
            <a:avLst/>
          </a:prstGeom>
          <a:ln w="19050">
            <a:solidFill>
              <a:srgbClr val="4040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H="1">
            <a:off x="6236208" y="3063240"/>
            <a:ext cx="374904" cy="0"/>
          </a:xfrm>
          <a:prstGeom prst="line">
            <a:avLst/>
          </a:prstGeom>
          <a:ln w="19050">
            <a:solidFill>
              <a:srgbClr val="7F7F7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ectangle 51"/>
          <p:cNvSpPr/>
          <p:nvPr/>
        </p:nvSpPr>
        <p:spPr>
          <a:xfrm>
            <a:off x="411480" y="4937760"/>
            <a:ext cx="8915400" cy="685800"/>
          </a:xfrm>
          <a:prstGeom prst="rect">
            <a:avLst/>
          </a:prstGeom>
          <a:noFill/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94360" y="5001768"/>
            <a:ext cx="85953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262626"/>
                </a:solidFill>
              </a:rPr>
              <a:t>ACS → AMR   이동 · 작업 지시, AMR → ACS  상태 · 완료 · 알람 보고  (MQTT, Wi-Fi)</a:t>
            </a:r>
          </a:p>
          <a:p>
            <a:pPr algn="l"/>
            <a:r>
              <a:rPr sz="1150" b="1">
                <a:solidFill>
                  <a:srgbClr val="262626"/>
                </a:solidFill>
              </a:rPr>
              <a:t>AMR PC → 협동로봇   작업 지령 · 보정값 dx/dy/dθ 전달 (Modbus TCP, DI/DO · AI 레지스터)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11480" y="5715000"/>
            <a:ext cx="8915400" cy="457200"/>
          </a:xfrm>
          <a:prstGeom prst="rect">
            <a:avLst/>
          </a:prstGeom>
          <a:solidFill>
            <a:srgbClr val="9B1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>
                <a:solidFill>
                  <a:srgbClr val="FFFFFF"/>
                </a:solidFill>
              </a:rPr>
              <a:t>ACS는 “어디서 무엇을” 지시, 위치 정밀도는 로봇 내부에서 QR 보정으로 완결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>
          <a:xfrm>
            <a:off x="265176" y="265176"/>
            <a:ext cx="7872983" cy="420624"/>
          </a:xfrm>
        </p:spPr>
        <p:txBody>
          <a:bodyPr/>
          <a:lstStyle/>
          <a:p>
            <a:r>
              <a:rPr sz="2400" b="1">
                <a:solidFill>
                  <a:srgbClr val="1A1A1A"/>
                </a:solidFill>
              </a:rPr>
              <a:t>제어 구성도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CDE66FD-D7CB-3568-8D26-D90AF1C97F55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869D38BF-033B-430D-8161-2CB3A99929CC}" type="slidenum">
              <a:rPr lang="ko-KR" altLang="en-US" smtClean="0"/>
              <a:pPr/>
              <a:t>17</a:t>
            </a:fld>
            <a:endParaRPr lang="ko-KR" altLang="en-US" dirty="0"/>
          </a:p>
        </p:txBody>
      </p:sp>
      <p:sp>
        <p:nvSpPr>
          <p:cNvPr id="5" name="Rectangle 4"/>
          <p:cNvSpPr/>
          <p:nvPr/>
        </p:nvSpPr>
        <p:spPr>
          <a:xfrm>
            <a:off x="411480" y="1188720"/>
            <a:ext cx="2743200" cy="868680"/>
          </a:xfrm>
          <a:prstGeom prst="rect">
            <a:avLst/>
          </a:prstGeom>
          <a:solidFill>
            <a:srgbClr val="9B1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400" b="1">
                <a:solidFill>
                  <a:srgbClr val="FFFFFF"/>
                </a:solidFill>
              </a:rPr>
              <a:t>관제 서버  ACS</a:t>
            </a:r>
          </a:p>
          <a:p>
            <a:pPr algn="ctr"/>
            <a:r>
              <a:rPr sz="1100" b="0">
                <a:solidFill>
                  <a:srgbClr val="FFFFFF"/>
                </a:solidFill>
              </a:rPr>
              <a:t>작업 관리 · 배차 · 모니터링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0" y="1188720"/>
            <a:ext cx="2743200" cy="868680"/>
          </a:xfrm>
          <a:prstGeom prst="rect">
            <a:avLst/>
          </a:prstGeom>
          <a:solidFill>
            <a:srgbClr val="F2F2F2"/>
          </a:solidFill>
          <a:ln w="9525">
            <a:solidFill>
              <a:srgbClr val="59595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400" b="1">
                <a:solidFill>
                  <a:srgbClr val="262626"/>
                </a:solidFill>
              </a:rPr>
              <a:t>공정 설비</a:t>
            </a:r>
          </a:p>
          <a:p>
            <a:pPr algn="ctr"/>
            <a:r>
              <a:rPr sz="1100" b="0">
                <a:solidFill>
                  <a:srgbClr val="262626"/>
                </a:solidFill>
              </a:rPr>
              <a:t>작업대 · 설비 로딩 포트 (QR 표식)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" y="2377440"/>
            <a:ext cx="9052560" cy="3840480"/>
          </a:xfrm>
          <a:prstGeom prst="roundRect">
            <a:avLst>
              <a:gd name="adj" fmla="val 4000"/>
            </a:avLst>
          </a:prstGeom>
          <a:noFill/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450592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595959"/>
                </a:solidFill>
              </a:rPr>
              <a:t>매거진 물류 로봇</a:t>
            </a:r>
          </a:p>
        </p:txBody>
      </p:sp>
      <p:sp>
        <p:nvSpPr>
          <p:cNvPr id="9" name="Rectangle 8"/>
          <p:cNvSpPr/>
          <p:nvPr/>
        </p:nvSpPr>
        <p:spPr>
          <a:xfrm>
            <a:off x="3520440" y="2560320"/>
            <a:ext cx="2651760" cy="777240"/>
          </a:xfrm>
          <a:prstGeom prst="rect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400" b="1">
                <a:solidFill>
                  <a:srgbClr val="FFFFFF"/>
                </a:solidFill>
              </a:rPr>
              <a:t>AMR 통합 제어 PC</a:t>
            </a:r>
          </a:p>
          <a:p>
            <a:pPr algn="ctr"/>
            <a:r>
              <a:rPr sz="1050" b="0">
                <a:solidFill>
                  <a:srgbClr val="FFFFFF"/>
                </a:solidFill>
              </a:rPr>
              <a:t>작업 시퀀스 · QR 보정 · 인터록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783080" y="2057400"/>
            <a:ext cx="0" cy="886968"/>
          </a:xfrm>
          <a:prstGeom prst="line">
            <a:avLst/>
          </a:prstGeom>
          <a:ln w="22225">
            <a:solidFill>
              <a:srgbClr val="9B1B30"/>
            </a:solidFill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783080" y="2944368"/>
            <a:ext cx="1737360" cy="0"/>
          </a:xfrm>
          <a:prstGeom prst="line">
            <a:avLst/>
          </a:prstGeom>
          <a:ln w="22225">
            <a:solidFill>
              <a:srgbClr val="9B1B3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02920" y="3017520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9B1B30"/>
                </a:solidFill>
              </a:rPr>
              <a:t>Wi-Fi</a:t>
            </a:r>
          </a:p>
          <a:p>
            <a:pPr algn="l"/>
            <a:r>
              <a:rPr sz="950" b="1">
                <a:solidFill>
                  <a:srgbClr val="9B1B30"/>
                </a:solidFill>
              </a:rPr>
              <a:t>MQTT  moveCmd · actionCmd / 상태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846320" y="3337560"/>
            <a:ext cx="0" cy="301752"/>
          </a:xfrm>
          <a:prstGeom prst="line">
            <a:avLst/>
          </a:prstGeom>
          <a:ln w="19050">
            <a:solidFill>
              <a:srgbClr val="4040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348740" y="3639312"/>
            <a:ext cx="7022591" cy="0"/>
          </a:xfrm>
          <a:prstGeom prst="line">
            <a:avLst/>
          </a:prstGeom>
          <a:ln w="19050">
            <a:solidFill>
              <a:srgbClr val="4040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548640" y="3931920"/>
            <a:ext cx="1600200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>
            <a:off x="1348740" y="3639312"/>
            <a:ext cx="0" cy="292608"/>
          </a:xfrm>
          <a:prstGeom prst="line">
            <a:avLst/>
          </a:prstGeom>
          <a:ln w="19050">
            <a:solidFill>
              <a:srgbClr val="4040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7" name="Picture 16" descr="amr_aisle.jpg"/>
          <p:cNvPicPr>
            <a:picLocks noChangeAspect="1"/>
          </p:cNvPicPr>
          <p:nvPr/>
        </p:nvPicPr>
        <p:blipFill>
          <a:blip r:embed="rId2"/>
          <a:srcRect t="22447" b="27435"/>
          <a:stretch>
            <a:fillRect/>
          </a:stretch>
        </p:blipFill>
        <p:spPr>
          <a:xfrm>
            <a:off x="621792" y="4005072"/>
            <a:ext cx="1453896" cy="77724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94360" y="4828031"/>
            <a:ext cx="1508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262626"/>
                </a:solidFill>
              </a:rPr>
              <a:t>AMR 베이스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5047488"/>
            <a:ext cx="15087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>
                <a:solidFill>
                  <a:srgbClr val="595959"/>
                </a:solidFill>
              </a:rPr>
              <a:t>ROBINNO-MA5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5285231"/>
            <a:ext cx="1325880" cy="228600"/>
          </a:xfrm>
          <a:prstGeom prst="rect">
            <a:avLst/>
          </a:prstGeom>
          <a:solidFill>
            <a:srgbClr val="F6E8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00" b="1">
                <a:solidFill>
                  <a:srgbClr val="9B1B30"/>
                </a:solidFill>
              </a:rPr>
              <a:t>Modbus TCP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577840"/>
            <a:ext cx="1508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>
                <a:solidFill>
                  <a:srgbClr val="262626"/>
                </a:solidFill>
              </a:rPr>
              <a:t>Node 주행 · 정차</a:t>
            </a:r>
          </a:p>
          <a:p>
            <a:pPr algn="ctr"/>
            <a:r>
              <a:rPr sz="900" b="0">
                <a:solidFill>
                  <a:srgbClr val="262626"/>
                </a:solidFill>
              </a:rPr>
              <a:t>위치 · 상태 · 알람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304288" y="3931920"/>
            <a:ext cx="1600200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3104388" y="3639312"/>
            <a:ext cx="0" cy="292608"/>
          </a:xfrm>
          <a:prstGeom prst="line">
            <a:avLst/>
          </a:prstGeom>
          <a:ln w="19050">
            <a:solidFill>
              <a:srgbClr val="4040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4" name="Picture 23" descr="cobot.jpg"/>
          <p:cNvPicPr>
            <a:picLocks noChangeAspect="1"/>
          </p:cNvPicPr>
          <p:nvPr/>
        </p:nvPicPr>
        <p:blipFill>
          <a:blip r:embed="rId3"/>
          <a:srcRect t="17601" b="17601"/>
          <a:stretch>
            <a:fillRect/>
          </a:stretch>
        </p:blipFill>
        <p:spPr>
          <a:xfrm>
            <a:off x="2377440" y="4005072"/>
            <a:ext cx="1453896" cy="77724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2350008" y="4828031"/>
            <a:ext cx="1508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262626"/>
                </a:solidFill>
              </a:rPr>
              <a:t>협동로봇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50008" y="5047488"/>
            <a:ext cx="15087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>
                <a:solidFill>
                  <a:srgbClr val="595959"/>
                </a:solidFill>
              </a:rPr>
              <a:t>FAIRINO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441448" y="5285231"/>
            <a:ext cx="1325880" cy="228600"/>
          </a:xfrm>
          <a:prstGeom prst="rect">
            <a:avLst/>
          </a:prstGeom>
          <a:solidFill>
            <a:srgbClr val="F6E8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00" b="1">
                <a:solidFill>
                  <a:srgbClr val="9B1B30"/>
                </a:solidFill>
              </a:rPr>
              <a:t>Modbus TCP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50008" y="5577840"/>
            <a:ext cx="1508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>
                <a:solidFill>
                  <a:srgbClr val="262626"/>
                </a:solidFill>
              </a:rPr>
              <a:t>DI/DO 작업 지령</a:t>
            </a:r>
          </a:p>
          <a:p>
            <a:pPr algn="ctr"/>
            <a:r>
              <a:rPr sz="900" b="0">
                <a:solidFill>
                  <a:srgbClr val="262626"/>
                </a:solidFill>
              </a:rPr>
              <a:t>AI0~2 보정값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059935" y="3931920"/>
            <a:ext cx="1600200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" name="Connector 29"/>
          <p:cNvCxnSpPr/>
          <p:nvPr/>
        </p:nvCxnSpPr>
        <p:spPr>
          <a:xfrm>
            <a:off x="4860036" y="3639312"/>
            <a:ext cx="0" cy="292608"/>
          </a:xfrm>
          <a:prstGeom prst="line">
            <a:avLst/>
          </a:prstGeom>
          <a:ln w="19050">
            <a:solidFill>
              <a:srgbClr val="4040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1" name="Picture 30" descr="gripper_port.jpg"/>
          <p:cNvPicPr>
            <a:picLocks noChangeAspect="1"/>
          </p:cNvPicPr>
          <p:nvPr/>
        </p:nvPicPr>
        <p:blipFill>
          <a:blip r:embed="rId4"/>
          <a:srcRect t="32029" b="26206"/>
          <a:stretch>
            <a:fillRect/>
          </a:stretch>
        </p:blipFill>
        <p:spPr>
          <a:xfrm>
            <a:off x="4133087" y="4005072"/>
            <a:ext cx="1453896" cy="77724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4105655" y="4828031"/>
            <a:ext cx="1508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262626"/>
                </a:solidFill>
              </a:rPr>
              <a:t>전동 그리퍼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05655" y="5047488"/>
            <a:ext cx="15087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>
                <a:solidFill>
                  <a:srgbClr val="595959"/>
                </a:solidFill>
              </a:rPr>
              <a:t>DH-ROBOTICS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197096" y="5285231"/>
            <a:ext cx="1325880" cy="228600"/>
          </a:xfrm>
          <a:prstGeom prst="rect">
            <a:avLst/>
          </a:prstGeom>
          <a:solidFill>
            <a:srgbClr val="F6E8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00" b="1">
                <a:solidFill>
                  <a:srgbClr val="9B1B30"/>
                </a:solidFill>
              </a:rPr>
              <a:t>코봇 툴 포트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05655" y="5577840"/>
            <a:ext cx="1508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>
                <a:solidFill>
                  <a:srgbClr val="262626"/>
                </a:solidFill>
              </a:rPr>
              <a:t>매거진 파지</a:t>
            </a:r>
          </a:p>
          <a:p>
            <a:pPr algn="ctr"/>
            <a:r>
              <a:rPr sz="900" b="0">
                <a:solidFill>
                  <a:srgbClr val="262626"/>
                </a:solidFill>
              </a:rPr>
              <a:t>전용 핑거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815583" y="3931920"/>
            <a:ext cx="1600200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7" name="Connector 36"/>
          <p:cNvCxnSpPr/>
          <p:nvPr/>
        </p:nvCxnSpPr>
        <p:spPr>
          <a:xfrm>
            <a:off x="6615683" y="3639312"/>
            <a:ext cx="0" cy="292608"/>
          </a:xfrm>
          <a:prstGeom prst="line">
            <a:avLst/>
          </a:prstGeom>
          <a:ln w="19050">
            <a:solidFill>
              <a:srgbClr val="4040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8" name="Picture 37" descr="cam_wrist.jpg"/>
          <p:cNvPicPr>
            <a:picLocks noChangeAspect="1"/>
          </p:cNvPicPr>
          <p:nvPr/>
        </p:nvPicPr>
        <p:blipFill>
          <a:blip r:embed="rId5"/>
          <a:srcRect t="29396" b="35928"/>
          <a:stretch>
            <a:fillRect/>
          </a:stretch>
        </p:blipFill>
        <p:spPr>
          <a:xfrm>
            <a:off x="5888736" y="4005072"/>
            <a:ext cx="1453896" cy="77724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5861303" y="4828031"/>
            <a:ext cx="1508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262626"/>
                </a:solidFill>
              </a:rPr>
              <a:t>RGB-D 카메라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61303" y="5047488"/>
            <a:ext cx="15087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>
                <a:solidFill>
                  <a:srgbClr val="595959"/>
                </a:solidFill>
              </a:rPr>
              <a:t>손목 장착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952744" y="5285231"/>
            <a:ext cx="1325880" cy="228600"/>
          </a:xfrm>
          <a:prstGeom prst="rect">
            <a:avLst/>
          </a:prstGeom>
          <a:solidFill>
            <a:srgbClr val="F6E8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00" b="1">
                <a:solidFill>
                  <a:srgbClr val="9B1B30"/>
                </a:solidFill>
              </a:rPr>
              <a:t>USB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61303" y="5577840"/>
            <a:ext cx="1508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>
                <a:solidFill>
                  <a:srgbClr val="262626"/>
                </a:solidFill>
              </a:rPr>
              <a:t>QR 중심 · 회전각</a:t>
            </a:r>
          </a:p>
          <a:p>
            <a:pPr algn="ctr"/>
            <a:r>
              <a:rPr sz="900" b="0">
                <a:solidFill>
                  <a:srgbClr val="262626"/>
                </a:solidFill>
              </a:rPr>
              <a:t>Depth 거리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571231" y="3931920"/>
            <a:ext cx="1600200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4" name="Connector 43"/>
          <p:cNvCxnSpPr/>
          <p:nvPr/>
        </p:nvCxnSpPr>
        <p:spPr>
          <a:xfrm>
            <a:off x="8371331" y="3639312"/>
            <a:ext cx="0" cy="292608"/>
          </a:xfrm>
          <a:prstGeom prst="line">
            <a:avLst/>
          </a:prstGeom>
          <a:ln w="19050">
            <a:solidFill>
              <a:srgbClr val="4040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5" name="Picture 44" descr="tower.jpg"/>
          <p:cNvPicPr>
            <a:picLocks noChangeAspect="1"/>
          </p:cNvPicPr>
          <p:nvPr/>
        </p:nvPicPr>
        <p:blipFill>
          <a:blip r:embed="rId6"/>
          <a:srcRect t="28774" b="43160"/>
          <a:stretch>
            <a:fillRect/>
          </a:stretch>
        </p:blipFill>
        <p:spPr>
          <a:xfrm>
            <a:off x="7644383" y="4005072"/>
            <a:ext cx="1453896" cy="777240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7616952" y="4828031"/>
            <a:ext cx="1508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262626"/>
                </a:solidFill>
              </a:rPr>
              <a:t>I/O · 안전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616952" y="5047488"/>
            <a:ext cx="15087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>
                <a:solidFill>
                  <a:srgbClr val="595959"/>
                </a:solidFill>
              </a:rPr>
              <a:t>경광등 · 부저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708392" y="5285231"/>
            <a:ext cx="1325880" cy="228600"/>
          </a:xfrm>
          <a:prstGeom prst="rect">
            <a:avLst/>
          </a:prstGeom>
          <a:solidFill>
            <a:srgbClr val="F6E8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00" b="1">
                <a:solidFill>
                  <a:srgbClr val="9B1B30"/>
                </a:solidFill>
              </a:rPr>
              <a:t>DI/DO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616952" y="5577840"/>
            <a:ext cx="1508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>
                <a:solidFill>
                  <a:srgbClr val="262626"/>
                </a:solidFill>
              </a:rPr>
              <a:t>상태 표시 · E-Stop</a:t>
            </a:r>
          </a:p>
          <a:p>
            <a:pPr algn="ctr"/>
            <a:r>
              <a:rPr sz="900" b="0">
                <a:solidFill>
                  <a:srgbClr val="262626"/>
                </a:solidFill>
              </a:rPr>
              <a:t>인터록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7955279" y="2057400"/>
            <a:ext cx="0" cy="182880"/>
          </a:xfrm>
          <a:prstGeom prst="line">
            <a:avLst/>
          </a:prstGeom>
          <a:ln w="15875">
            <a:solidFill>
              <a:srgbClr val="59595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H="1">
            <a:off x="6615683" y="2240280"/>
            <a:ext cx="1339596" cy="0"/>
          </a:xfrm>
          <a:prstGeom prst="line">
            <a:avLst/>
          </a:prstGeom>
          <a:ln w="15875">
            <a:solidFill>
              <a:srgbClr val="59595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6615683" y="2240280"/>
            <a:ext cx="0" cy="457200"/>
          </a:xfrm>
          <a:prstGeom prst="line">
            <a:avLst/>
          </a:prstGeom>
          <a:ln w="15875">
            <a:solidFill>
              <a:srgbClr val="59595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6615683" y="2697480"/>
            <a:ext cx="0" cy="1234440"/>
          </a:xfrm>
          <a:prstGeom prst="line">
            <a:avLst/>
          </a:prstGeom>
          <a:ln w="15875">
            <a:solidFill>
              <a:srgbClr val="595959"/>
            </a:solidFill>
            <a:prstDash val="dash"/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6707123" y="2697480"/>
            <a:ext cx="1828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595959"/>
                </a:solidFill>
              </a:rPr>
              <a:t>QR 표식 비접촉 측정</a:t>
            </a:r>
          </a:p>
          <a:p>
            <a:pPr algn="l"/>
            <a:r>
              <a:rPr sz="950" b="1">
                <a:solidFill>
                  <a:srgbClr val="595959"/>
                </a:solidFill>
              </a:rPr>
              <a:t>(통신 없음)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>
          <a:xfrm>
            <a:off x="265176" y="265176"/>
            <a:ext cx="7872983" cy="420624"/>
          </a:xfrm>
        </p:spPr>
        <p:txBody>
          <a:bodyPr/>
          <a:lstStyle/>
          <a:p>
            <a:r>
              <a:rPr sz="2400" b="1">
                <a:solidFill>
                  <a:srgbClr val="1A1A1A"/>
                </a:solidFill>
              </a:rPr>
              <a:t>운영 개념도 — 작업대에서 설비 로딩 포트까지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CDE66FD-D7CB-3568-8D26-D90AF1C97F55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869D38BF-033B-430D-8161-2CB3A99929CC}" type="slidenum">
              <a:rPr lang="ko-KR" altLang="en-US" smtClean="0"/>
              <a:pPr/>
              <a:t>17</a:t>
            </a:fld>
            <a:endParaRPr lang="ko-KR" altLang="en-US" dirty="0"/>
          </a:p>
        </p:txBody>
      </p:sp>
      <p:sp>
        <p:nvSpPr>
          <p:cNvPr id="5" name="Rectangle 4"/>
          <p:cNvSpPr/>
          <p:nvPr/>
        </p:nvSpPr>
        <p:spPr>
          <a:xfrm>
            <a:off x="411480" y="1188720"/>
            <a:ext cx="8915400" cy="548640"/>
          </a:xfrm>
          <a:prstGeom prst="rect">
            <a:avLst/>
          </a:prstGeom>
          <a:solidFill>
            <a:srgbClr val="9B1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>
                <a:solidFill>
                  <a:srgbClr val="FFFFFF"/>
                </a:solidFill>
              </a:rPr>
              <a:t>ACS 관제  </a:t>
            </a:r>
            <a:r>
              <a:rPr sz="1100" b="0">
                <a:solidFill>
                  <a:srgbClr val="FFFFFF"/>
                </a:solidFill>
              </a:rPr>
              <a:t>작업 생성 · 로봇 배차 · 이동 / 작업 지시 · 진행 모니터링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760220" y="1737360"/>
            <a:ext cx="0" cy="411480"/>
          </a:xfrm>
          <a:prstGeom prst="line">
            <a:avLst/>
          </a:prstGeom>
          <a:ln w="19050">
            <a:solidFill>
              <a:srgbClr val="9B1B3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833372" y="1810512"/>
            <a:ext cx="12801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9B1B30"/>
                </a:solidFill>
              </a:rPr>
              <a:t>moveCmd + actionCmd</a:t>
            </a:r>
          </a:p>
        </p:txBody>
      </p:sp>
      <p:pic>
        <p:nvPicPr>
          <p:cNvPr id="8" name="Picture 7" descr="f_A_16.jpg"/>
          <p:cNvPicPr>
            <a:picLocks noChangeAspect="1"/>
          </p:cNvPicPr>
          <p:nvPr/>
        </p:nvPicPr>
        <p:blipFill>
          <a:blip r:embed="rId2"/>
          <a:srcRect t="13958" b="17059"/>
          <a:stretch>
            <a:fillRect/>
          </a:stretch>
        </p:blipFill>
        <p:spPr>
          <a:xfrm>
            <a:off x="411480" y="2194560"/>
            <a:ext cx="2697480" cy="25146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11480" y="2194560"/>
            <a:ext cx="1234440" cy="329184"/>
          </a:xfrm>
          <a:prstGeom prst="rect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① PICKUP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45920" y="2194560"/>
            <a:ext cx="914400" cy="329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 b="0">
                <a:solidFill>
                  <a:srgbClr val="404040"/>
                </a:solidFill>
              </a:rPr>
              <a:t>작업대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4910328"/>
            <a:ext cx="73152" cy="73152"/>
          </a:xfrm>
          <a:prstGeom prst="ellipse">
            <a:avLst/>
          </a:prstGeom>
          <a:solidFill>
            <a:srgbClr val="9B1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" y="4828032"/>
            <a:ext cx="2514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262626"/>
                </a:solidFill>
              </a:rPr>
              <a:t>작업대 Node 정차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" y="5184648"/>
            <a:ext cx="73152" cy="73152"/>
          </a:xfrm>
          <a:prstGeom prst="ellipse">
            <a:avLst/>
          </a:prstGeom>
          <a:solidFill>
            <a:srgbClr val="9B1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" y="5102352"/>
            <a:ext cx="2514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262626"/>
                </a:solidFill>
              </a:rPr>
              <a:t>QR 판독 → 보정 좌표로 파지</a:t>
            </a:r>
          </a:p>
        </p:txBody>
      </p:sp>
      <p:sp>
        <p:nvSpPr>
          <p:cNvPr id="15" name="Oval 14"/>
          <p:cNvSpPr/>
          <p:nvPr/>
        </p:nvSpPr>
        <p:spPr>
          <a:xfrm>
            <a:off x="457200" y="5458968"/>
            <a:ext cx="73152" cy="73152"/>
          </a:xfrm>
          <a:prstGeom prst="ellipse">
            <a:avLst/>
          </a:prstGeom>
          <a:solidFill>
            <a:srgbClr val="9B1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" y="5376672"/>
            <a:ext cx="2514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262626"/>
                </a:solidFill>
              </a:rPr>
              <a:t>AMR 버퍼에 적재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3182112" y="3246120"/>
            <a:ext cx="274320" cy="411480"/>
          </a:xfrm>
          <a:prstGeom prst="rightArrow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>
            <a:off x="4869180" y="1737360"/>
            <a:ext cx="0" cy="411480"/>
          </a:xfrm>
          <a:prstGeom prst="line">
            <a:avLst/>
          </a:prstGeom>
          <a:ln w="19050">
            <a:solidFill>
              <a:srgbClr val="9B1B3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942332" y="1810512"/>
            <a:ext cx="12801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9B1B30"/>
                </a:solidFill>
              </a:rPr>
              <a:t>moveCmd</a:t>
            </a:r>
          </a:p>
        </p:txBody>
      </p:sp>
      <p:pic>
        <p:nvPicPr>
          <p:cNvPr id="20" name="Picture 19" descr="amr_drive.jpg"/>
          <p:cNvPicPr>
            <a:picLocks noChangeAspect="1"/>
          </p:cNvPicPr>
          <p:nvPr/>
        </p:nvPicPr>
        <p:blipFill>
          <a:blip r:embed="rId3"/>
          <a:srcRect t="15044" b="22565"/>
          <a:stretch>
            <a:fillRect/>
          </a:stretch>
        </p:blipFill>
        <p:spPr>
          <a:xfrm>
            <a:off x="3520440" y="2194560"/>
            <a:ext cx="2697480" cy="2514600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3520440" y="2194560"/>
            <a:ext cx="1234440" cy="329184"/>
          </a:xfrm>
          <a:prstGeom prst="rect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② 이송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754880" y="2194560"/>
            <a:ext cx="914400" cy="329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 b="0">
                <a:solidFill>
                  <a:srgbClr val="404040"/>
                </a:solidFill>
              </a:rPr>
              <a:t>AMR 주행</a:t>
            </a:r>
          </a:p>
        </p:txBody>
      </p:sp>
      <p:sp>
        <p:nvSpPr>
          <p:cNvPr id="23" name="Oval 22"/>
          <p:cNvSpPr/>
          <p:nvPr/>
        </p:nvSpPr>
        <p:spPr>
          <a:xfrm>
            <a:off x="3566160" y="4910328"/>
            <a:ext cx="73152" cy="73152"/>
          </a:xfrm>
          <a:prstGeom prst="ellipse">
            <a:avLst/>
          </a:prstGeom>
          <a:solidFill>
            <a:srgbClr val="9B1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21608" y="4828032"/>
            <a:ext cx="2514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262626"/>
                </a:solidFill>
              </a:rPr>
              <a:t>목표 설비 Node까지 주행</a:t>
            </a:r>
          </a:p>
        </p:txBody>
      </p:sp>
      <p:sp>
        <p:nvSpPr>
          <p:cNvPr id="25" name="Oval 24"/>
          <p:cNvSpPr/>
          <p:nvPr/>
        </p:nvSpPr>
        <p:spPr>
          <a:xfrm>
            <a:off x="3566160" y="5184648"/>
            <a:ext cx="73152" cy="73152"/>
          </a:xfrm>
          <a:prstGeom prst="ellipse">
            <a:avLst/>
          </a:prstGeom>
          <a:solidFill>
            <a:srgbClr val="9B1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721608" y="5102352"/>
            <a:ext cx="2514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262626"/>
                </a:solidFill>
              </a:rPr>
              <a:t>정차 허용 오차 ±50 mm</a:t>
            </a:r>
          </a:p>
        </p:txBody>
      </p:sp>
      <p:sp>
        <p:nvSpPr>
          <p:cNvPr id="27" name="Oval 26"/>
          <p:cNvSpPr/>
          <p:nvPr/>
        </p:nvSpPr>
        <p:spPr>
          <a:xfrm>
            <a:off x="3566160" y="5458968"/>
            <a:ext cx="73152" cy="73152"/>
          </a:xfrm>
          <a:prstGeom prst="ellipse">
            <a:avLst/>
          </a:prstGeom>
          <a:solidFill>
            <a:srgbClr val="9B1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721608" y="5376672"/>
            <a:ext cx="2514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262626"/>
                </a:solidFill>
              </a:rPr>
              <a:t>버퍼 최대 3개 적재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6291072" y="3246120"/>
            <a:ext cx="274320" cy="411480"/>
          </a:xfrm>
          <a:prstGeom prst="rightArrow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" name="Connector 29"/>
          <p:cNvCxnSpPr/>
          <p:nvPr/>
        </p:nvCxnSpPr>
        <p:spPr>
          <a:xfrm>
            <a:off x="7978140" y="1737360"/>
            <a:ext cx="0" cy="411480"/>
          </a:xfrm>
          <a:prstGeom prst="line">
            <a:avLst/>
          </a:prstGeom>
          <a:ln w="19050">
            <a:solidFill>
              <a:srgbClr val="9B1B3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8051292" y="1810512"/>
            <a:ext cx="12801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9B1B30"/>
                </a:solidFill>
              </a:rPr>
              <a:t>moveCmd + actionCmd</a:t>
            </a:r>
          </a:p>
        </p:txBody>
      </p:sp>
      <p:pic>
        <p:nvPicPr>
          <p:cNvPr id="32" name="Picture 31" descr="f_B_108.jpg"/>
          <p:cNvPicPr>
            <a:picLocks noChangeAspect="1"/>
          </p:cNvPicPr>
          <p:nvPr/>
        </p:nvPicPr>
        <p:blipFill>
          <a:blip r:embed="rId4"/>
          <a:srcRect t="13958" b="17059"/>
          <a:stretch>
            <a:fillRect/>
          </a:stretch>
        </p:blipFill>
        <p:spPr>
          <a:xfrm>
            <a:off x="6629400" y="2194560"/>
            <a:ext cx="2697480" cy="2514600"/>
          </a:xfrm>
          <a:prstGeom prst="rect">
            <a:avLst/>
          </a:prstGeom>
        </p:spPr>
      </p:pic>
      <p:sp>
        <p:nvSpPr>
          <p:cNvPr id="33" name="Rectangle 32"/>
          <p:cNvSpPr/>
          <p:nvPr/>
        </p:nvSpPr>
        <p:spPr>
          <a:xfrm>
            <a:off x="6629400" y="2194560"/>
            <a:ext cx="1234440" cy="329184"/>
          </a:xfrm>
          <a:prstGeom prst="rect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③ PLACE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863840" y="2194560"/>
            <a:ext cx="914400" cy="329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 b="0">
                <a:solidFill>
                  <a:srgbClr val="404040"/>
                </a:solidFill>
              </a:rPr>
              <a:t>설비 로딩 포트</a:t>
            </a:r>
          </a:p>
        </p:txBody>
      </p:sp>
      <p:sp>
        <p:nvSpPr>
          <p:cNvPr id="35" name="Oval 34"/>
          <p:cNvSpPr/>
          <p:nvPr/>
        </p:nvSpPr>
        <p:spPr>
          <a:xfrm>
            <a:off x="6675120" y="4910328"/>
            <a:ext cx="73152" cy="73152"/>
          </a:xfrm>
          <a:prstGeom prst="ellipse">
            <a:avLst/>
          </a:prstGeom>
          <a:solidFill>
            <a:srgbClr val="9B1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30568" y="4828032"/>
            <a:ext cx="2514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262626"/>
                </a:solidFill>
              </a:rPr>
              <a:t>버퍼에서 매거진 파지</a:t>
            </a:r>
          </a:p>
        </p:txBody>
      </p:sp>
      <p:sp>
        <p:nvSpPr>
          <p:cNvPr id="37" name="Oval 36"/>
          <p:cNvSpPr/>
          <p:nvPr/>
        </p:nvSpPr>
        <p:spPr>
          <a:xfrm>
            <a:off x="6675120" y="5184648"/>
            <a:ext cx="73152" cy="73152"/>
          </a:xfrm>
          <a:prstGeom prst="ellipse">
            <a:avLst/>
          </a:prstGeom>
          <a:solidFill>
            <a:srgbClr val="9B1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30568" y="5102352"/>
            <a:ext cx="2514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262626"/>
                </a:solidFill>
              </a:rPr>
              <a:t>포트 QR 재판독 → 보정</a:t>
            </a:r>
          </a:p>
        </p:txBody>
      </p:sp>
      <p:sp>
        <p:nvSpPr>
          <p:cNvPr id="39" name="Oval 38"/>
          <p:cNvSpPr/>
          <p:nvPr/>
        </p:nvSpPr>
        <p:spPr>
          <a:xfrm>
            <a:off x="6675120" y="5458968"/>
            <a:ext cx="73152" cy="73152"/>
          </a:xfrm>
          <a:prstGeom prst="ellipse">
            <a:avLst/>
          </a:prstGeom>
          <a:solidFill>
            <a:srgbClr val="9B1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830568" y="5376672"/>
            <a:ext cx="2514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262626"/>
                </a:solidFill>
              </a:rPr>
              <a:t>로딩 포트에 투입 · 완료 보고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11480" y="5760720"/>
            <a:ext cx="8915400" cy="4114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100" b="1">
                <a:solidFill>
                  <a:srgbClr val="9B1B30"/>
                </a:solidFill>
              </a:rPr>
              <a:t>회수(UNLOAD)  </a:t>
            </a:r>
            <a:r>
              <a:rPr sz="1100" b="0">
                <a:solidFill>
                  <a:srgbClr val="262626"/>
                </a:solidFill>
              </a:rPr>
              <a:t>설비 포트 PICKUP → 버퍼 적재 → 작업대 PLACE (같은 QR 보정 절차 적용)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>
          <a:xfrm>
            <a:off x="265176" y="265176"/>
            <a:ext cx="7872983" cy="420624"/>
          </a:xfrm>
        </p:spPr>
        <p:txBody>
          <a:bodyPr/>
          <a:lstStyle/>
          <a:p>
            <a:r>
              <a:rPr sz="2400" b="1">
                <a:solidFill>
                  <a:srgbClr val="1A1A1A"/>
                </a:solidFill>
              </a:rPr>
              <a:t>정밀 위치 확보 원리 — AMR 정차 + QR 비전 보정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CDE66FD-D7CB-3568-8D26-D90AF1C97F55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869D38BF-033B-430D-8161-2CB3A99929CC}" type="slidenum">
              <a:rPr lang="ko-KR" altLang="en-US" smtClean="0"/>
              <a:pPr/>
              <a:t>17</a:t>
            </a:fld>
            <a:endParaRPr lang="ko-KR" altLang="en-US" dirty="0"/>
          </a:p>
        </p:txBody>
      </p:sp>
      <p:sp>
        <p:nvSpPr>
          <p:cNvPr id="5" name="Rectangle 4"/>
          <p:cNvSpPr/>
          <p:nvPr/>
        </p:nvSpPr>
        <p:spPr>
          <a:xfrm>
            <a:off x="411480" y="1234440"/>
            <a:ext cx="4846320" cy="621792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48640" y="1399032"/>
            <a:ext cx="292608" cy="292608"/>
          </a:xfrm>
          <a:prstGeom prst="ellipse">
            <a:avLst/>
          </a:prstGeom>
          <a:solidFill>
            <a:srgbClr val="9B1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298448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262626"/>
                </a:solidFill>
              </a:rPr>
              <a:t>목표 Node 지정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572768"/>
            <a:ext cx="4206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</a:rPr>
              <a:t>설비 · 포트별 Node / Port 정의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49240" y="1417320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9B1B30"/>
                </a:solidFill>
              </a:rPr>
              <a:t>ACS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984248"/>
            <a:ext cx="4617720" cy="621792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48640" y="2148840"/>
            <a:ext cx="292608" cy="292608"/>
          </a:xfrm>
          <a:prstGeom prst="ellipse">
            <a:avLst/>
          </a:prstGeom>
          <a:solidFill>
            <a:srgbClr val="9B1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048255"/>
            <a:ext cx="39776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262626"/>
                </a:solidFill>
              </a:rPr>
              <a:t>AMR 주행 · 정차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322576"/>
            <a:ext cx="397763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</a:rPr>
              <a:t>정차 오차 ±50 mm 이내로 진입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2167128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9B1B30"/>
                </a:solidFill>
              </a:rPr>
              <a:t>1차 위치 결정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2734056"/>
            <a:ext cx="4389120" cy="621792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48640" y="2898648"/>
            <a:ext cx="292608" cy="292608"/>
          </a:xfrm>
          <a:prstGeom prst="ellipse">
            <a:avLst/>
          </a:prstGeom>
          <a:solidFill>
            <a:srgbClr val="9B1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2798064"/>
            <a:ext cx="3749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262626"/>
                </a:solidFill>
              </a:rPr>
              <a:t>QR 스캔 자세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3072384"/>
            <a:ext cx="374903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</a:rPr>
              <a:t>카메라를 포트 QR 위로 이동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92040" y="2916936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9B1B30"/>
                </a:solidFill>
              </a:rPr>
              <a:t>협동로봇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3483864"/>
            <a:ext cx="4160520" cy="621792"/>
          </a:xfrm>
          <a:prstGeom prst="rect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48640" y="3648456"/>
            <a:ext cx="292608" cy="292608"/>
          </a:xfrm>
          <a:prstGeom prst="ellipse">
            <a:avLst/>
          </a:prstGeom>
          <a:solidFill>
            <a:srgbClr val="9B1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3547872"/>
            <a:ext cx="35204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</a:rPr>
              <a:t>QR 측정 · 보정값 산출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3822191"/>
            <a:ext cx="352043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dx · dy · dθ + 포트 / 모델 보정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3666744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9B1B30"/>
                </a:solidFill>
              </a:rPr>
              <a:t>2차 위치 결정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4233672"/>
            <a:ext cx="3931920" cy="621792"/>
          </a:xfrm>
          <a:prstGeom prst="rect">
            <a:avLst/>
          </a:prstGeom>
          <a:solidFill>
            <a:srgbClr val="9B1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48640" y="4398264"/>
            <a:ext cx="292608" cy="2926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9B1B30"/>
                </a:solidFill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4297680"/>
            <a:ext cx="3291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</a:rPr>
              <a:t>보정 좌표로 PICK / PLACE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4572000"/>
            <a:ext cx="329183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잔여 오차를 코봇 경로에 반영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34840" y="4416552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9B1B30"/>
                </a:solidFill>
              </a:rPr>
              <a:t>최종 작업 위치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897880" y="1188720"/>
            <a:ext cx="3429000" cy="2697480"/>
          </a:xfrm>
          <a:prstGeom prst="rect">
            <a:avLst/>
          </a:prstGeom>
          <a:solidFill>
            <a:srgbClr val="FAFAFA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89320" y="1234440"/>
            <a:ext cx="3200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595959"/>
                </a:solidFill>
              </a:rPr>
              <a:t>개념도 (위에서 본 작업 위치)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01000" y="1645920"/>
            <a:ext cx="1188720" cy="685800"/>
          </a:xfrm>
          <a:prstGeom prst="rect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wrap="square" lIns="73152" rIns="73152" tIns="27432" bIns="27432"/>
          <a:lstStyle/>
          <a:p>
            <a:pPr algn="ctr"/>
            <a:r>
              <a:rPr sz="900" b="0">
                <a:solidFill>
                  <a:srgbClr val="FFFFFF"/>
                </a:solidFill>
              </a:rPr>
              <a:t>설비 포트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439912" y="1737360"/>
            <a:ext cx="292608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700" b="1">
                <a:solidFill>
                  <a:srgbClr val="262626"/>
                </a:solidFill>
              </a:rPr>
              <a:t>QR</a:t>
            </a:r>
          </a:p>
        </p:txBody>
      </p:sp>
      <p:sp>
        <p:nvSpPr>
          <p:cNvPr id="34" name="Oval 33"/>
          <p:cNvSpPr/>
          <p:nvPr/>
        </p:nvSpPr>
        <p:spPr>
          <a:xfrm>
            <a:off x="6217920" y="2148840"/>
            <a:ext cx="1371600" cy="1371600"/>
          </a:xfrm>
          <a:prstGeom prst="ellipse">
            <a:avLst/>
          </a:prstGeom>
          <a:noFill/>
          <a:ln w="9525">
            <a:solidFill>
              <a:srgbClr val="9B1B3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17920" y="3547872"/>
            <a:ext cx="1371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>
                <a:solidFill>
                  <a:srgbClr val="9B1B30"/>
                </a:solidFill>
              </a:rPr>
              <a:t>±50 mm 정차 영역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6793992" y="2834640"/>
            <a:ext cx="219456" cy="0"/>
          </a:xfrm>
          <a:prstGeom prst="line">
            <a:avLst/>
          </a:prstGeom>
          <a:ln w="15875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6903720" y="2724912"/>
            <a:ext cx="0" cy="219456"/>
          </a:xfrm>
          <a:prstGeom prst="line">
            <a:avLst/>
          </a:prstGeom>
          <a:ln w="15875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6400800" y="2962656"/>
            <a:ext cx="7315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</a:rPr>
              <a:t>목표 Node</a:t>
            </a:r>
          </a:p>
        </p:txBody>
      </p:sp>
      <p:sp>
        <p:nvSpPr>
          <p:cNvPr id="39" name="Rectangle 38"/>
          <p:cNvSpPr/>
          <p:nvPr/>
        </p:nvSpPr>
        <p:spPr>
          <a:xfrm rot="720000">
            <a:off x="6976872" y="2286000"/>
            <a:ext cx="566928" cy="384048"/>
          </a:xfrm>
          <a:prstGeom prst="rect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</a:rPr>
              <a:t>AMR</a:t>
            </a:r>
          </a:p>
        </p:txBody>
      </p:sp>
      <p:sp>
        <p:nvSpPr>
          <p:cNvPr id="40" name="Rectangle 39"/>
          <p:cNvSpPr/>
          <p:nvPr/>
        </p:nvSpPr>
        <p:spPr>
          <a:xfrm rot="720000">
            <a:off x="8229600" y="1536192"/>
            <a:ext cx="777240" cy="512064"/>
          </a:xfrm>
          <a:prstGeom prst="rect">
            <a:avLst/>
          </a:prstGeom>
          <a:noFill/>
          <a:ln w="15875">
            <a:solidFill>
              <a:srgbClr val="9B1B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1" name="Connector 40"/>
          <p:cNvCxnSpPr/>
          <p:nvPr/>
        </p:nvCxnSpPr>
        <p:spPr>
          <a:xfrm flipV="1">
            <a:off x="7452360" y="1856232"/>
            <a:ext cx="1051560" cy="521208"/>
          </a:xfrm>
          <a:prstGeom prst="line">
            <a:avLst/>
          </a:prstGeom>
          <a:ln w="15875">
            <a:solidFill>
              <a:srgbClr val="9B1B3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8001000" y="2606040"/>
            <a:ext cx="1234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9B1B30"/>
                </a:solidFill>
              </a:rPr>
              <a:t>카메라 시야</a:t>
            </a:r>
          </a:p>
          <a:p>
            <a:pPr algn="l"/>
            <a:r>
              <a:rPr sz="850" b="1">
                <a:solidFill>
                  <a:srgbClr val="9B1B30"/>
                </a:solidFill>
              </a:rPr>
              <a:t>Δx · Δy · Δθ 측정</a:t>
            </a:r>
          </a:p>
        </p:txBody>
      </p:sp>
      <p:pic>
        <p:nvPicPr>
          <p:cNvPr id="43" name="Picture 42" descr="port_qr.jpg"/>
          <p:cNvPicPr>
            <a:picLocks noChangeAspect="1"/>
          </p:cNvPicPr>
          <p:nvPr/>
        </p:nvPicPr>
        <p:blipFill>
          <a:blip r:embed="rId2"/>
          <a:srcRect t="7394" b="2465"/>
          <a:stretch>
            <a:fillRect/>
          </a:stretch>
        </p:blipFill>
        <p:spPr>
          <a:xfrm>
            <a:off x="5897880" y="4069080"/>
            <a:ext cx="1645920" cy="1188720"/>
          </a:xfrm>
          <a:prstGeom prst="rect">
            <a:avLst/>
          </a:prstGeom>
        </p:spPr>
      </p:pic>
      <p:pic>
        <p:nvPicPr>
          <p:cNvPr id="44" name="Picture 43" descr="qr_paper.jpg"/>
          <p:cNvPicPr>
            <a:picLocks noChangeAspect="1"/>
          </p:cNvPicPr>
          <p:nvPr/>
        </p:nvPicPr>
        <p:blipFill>
          <a:blip r:embed="rId3"/>
          <a:srcRect t="3571" b="3571"/>
          <a:stretch>
            <a:fillRect/>
          </a:stretch>
        </p:blipFill>
        <p:spPr>
          <a:xfrm>
            <a:off x="7680960" y="4069080"/>
            <a:ext cx="1645920" cy="1188720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5897880" y="5303520"/>
            <a:ext cx="16459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</a:rPr>
              <a:t>설비 포트 QR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80960" y="5303520"/>
            <a:ext cx="16459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</a:rPr>
              <a:t>LAB 시험용 QR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11480" y="5715000"/>
            <a:ext cx="8915400" cy="457200"/>
          </a:xfrm>
          <a:prstGeom prst="rect">
            <a:avLst/>
          </a:prstGeom>
          <a:solidFill>
            <a:srgbClr val="9B1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>
                <a:solidFill>
                  <a:srgbClr val="FFFFFF"/>
                </a:solidFill>
              </a:rPr>
              <a:t>AMR은 QR이 카메라 시야에 들어오는 범위까지 정차, 최종 작업 위치는 QR 측정값이 결정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>
          <a:xfrm>
            <a:off x="265176" y="265176"/>
            <a:ext cx="7872983" cy="420624"/>
          </a:xfrm>
        </p:spPr>
        <p:txBody>
          <a:bodyPr/>
          <a:lstStyle/>
          <a:p>
            <a:r>
              <a:rPr sz="2400" b="1">
                <a:solidFill>
                  <a:srgbClr val="1A1A1A"/>
                </a:solidFill>
              </a:rPr>
              <a:t>QR 좌표 산출 및 보정값 생성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CDE66FD-D7CB-3568-8D26-D90AF1C97F55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869D38BF-033B-430D-8161-2CB3A99929CC}" type="slidenum">
              <a:rPr lang="ko-KR" altLang="en-US" smtClean="0"/>
              <a:pPr/>
              <a:t>17</a:t>
            </a:fld>
            <a:endParaRPr lang="ko-KR" altLang="en-US" dirty="0"/>
          </a:p>
        </p:txBody>
      </p:sp>
      <p:sp>
        <p:nvSpPr>
          <p:cNvPr id="5" name="Pentagon 4"/>
          <p:cNvSpPr/>
          <p:nvPr/>
        </p:nvSpPr>
        <p:spPr>
          <a:xfrm>
            <a:off x="411480" y="1188720"/>
            <a:ext cx="1737360" cy="411480"/>
          </a:xfrm>
          <a:prstGeom prst="homePlate">
            <a:avLst>
              <a:gd name="adj" fmla="val 25000"/>
            </a:avLst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100" b="1">
                <a:solidFill>
                  <a:srgbClr val="FFFFFF"/>
                </a:solidFill>
              </a:rPr>
              <a:t>① QR 검출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8" y="1664208"/>
            <a:ext cx="1600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</a:rPr>
              <a:t>원본 · 이진화 · 적응형</a:t>
            </a:r>
          </a:p>
          <a:p>
            <a:pPr algn="l"/>
            <a:r>
              <a:rPr sz="950" b="0">
                <a:solidFill>
                  <a:srgbClr val="595959"/>
                </a:solidFill>
              </a:rPr>
              <a:t>전처리로 인식 안정화</a:t>
            </a:r>
          </a:p>
        </p:txBody>
      </p:sp>
      <p:sp>
        <p:nvSpPr>
          <p:cNvPr id="7" name="Chevron 6"/>
          <p:cNvSpPr/>
          <p:nvPr/>
        </p:nvSpPr>
        <p:spPr>
          <a:xfrm>
            <a:off x="2203704" y="1188720"/>
            <a:ext cx="1737360" cy="411480"/>
          </a:xfrm>
          <a:prstGeom prst="chevron">
            <a:avLst>
              <a:gd name="adj" fmla="val 25000"/>
            </a:avLst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100" b="1">
                <a:solidFill>
                  <a:srgbClr val="FFFFFF"/>
                </a:solidFill>
              </a:rPr>
              <a:t>② 중심 · 각도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13432" y="1664208"/>
            <a:ext cx="1600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</a:rPr>
              <a:t>4개 꼭짓점으로</a:t>
            </a:r>
          </a:p>
          <a:p>
            <a:pPr algn="l"/>
            <a:r>
              <a:rPr sz="950" b="0">
                <a:solidFill>
                  <a:srgbClr val="595959"/>
                </a:solidFill>
              </a:rPr>
              <a:t>중심점 · 회전각 계산</a:t>
            </a:r>
          </a:p>
        </p:txBody>
      </p:sp>
      <p:sp>
        <p:nvSpPr>
          <p:cNvPr id="9" name="Chevron 8"/>
          <p:cNvSpPr/>
          <p:nvPr/>
        </p:nvSpPr>
        <p:spPr>
          <a:xfrm>
            <a:off x="3995928" y="1188720"/>
            <a:ext cx="1737360" cy="411480"/>
          </a:xfrm>
          <a:prstGeom prst="chevron">
            <a:avLst>
              <a:gd name="adj" fmla="val 25000"/>
            </a:avLst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100" b="1">
                <a:solidFill>
                  <a:srgbClr val="FFFFFF"/>
                </a:solidFill>
              </a:rPr>
              <a:t>③ Depth 변환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05656" y="1664208"/>
            <a:ext cx="1600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</a:rPr>
              <a:t>중심 주변 5×5</a:t>
            </a:r>
          </a:p>
          <a:p>
            <a:pPr algn="l"/>
            <a:r>
              <a:rPr sz="950" b="0">
                <a:solidFill>
                  <a:srgbClr val="595959"/>
                </a:solidFill>
              </a:rPr>
              <a:t>Depth 중앙값 사용</a:t>
            </a:r>
          </a:p>
        </p:txBody>
      </p:sp>
      <p:sp>
        <p:nvSpPr>
          <p:cNvPr id="11" name="Chevron 10"/>
          <p:cNvSpPr/>
          <p:nvPr/>
        </p:nvSpPr>
        <p:spPr>
          <a:xfrm>
            <a:off x="5788152" y="1188720"/>
            <a:ext cx="1737360" cy="411480"/>
          </a:xfrm>
          <a:prstGeom prst="chevron">
            <a:avLst>
              <a:gd name="adj" fmla="val 25000"/>
            </a:avLst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100" b="1">
                <a:solidFill>
                  <a:srgbClr val="FFFFFF"/>
                </a:solidFill>
              </a:rPr>
              <a:t>④ 5회 샘플링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97880" y="1664208"/>
            <a:ext cx="1600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</a:rPr>
              <a:t>200 ms 안정화 후</a:t>
            </a:r>
          </a:p>
          <a:p>
            <a:pPr algn="l"/>
            <a:r>
              <a:rPr sz="950" b="0">
                <a:solidFill>
                  <a:srgbClr val="595959"/>
                </a:solidFill>
              </a:rPr>
              <a:t>100 ms 간격 중앙값</a:t>
            </a:r>
          </a:p>
        </p:txBody>
      </p:sp>
      <p:sp>
        <p:nvSpPr>
          <p:cNvPr id="13" name="Chevron 12"/>
          <p:cNvSpPr/>
          <p:nvPr/>
        </p:nvSpPr>
        <p:spPr>
          <a:xfrm>
            <a:off x="7580375" y="1188720"/>
            <a:ext cx="1737360" cy="411480"/>
          </a:xfrm>
          <a:prstGeom prst="chevron">
            <a:avLst>
              <a:gd name="adj" fmla="val 25000"/>
            </a:avLst>
          </a:prstGeom>
          <a:solidFill>
            <a:srgbClr val="9B1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100" b="1">
                <a:solidFill>
                  <a:srgbClr val="FFFFFF"/>
                </a:solidFill>
              </a:rPr>
              <a:t>⑤ 오프셋 합산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90103" y="1664208"/>
            <a:ext cx="1600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</a:rPr>
              <a:t>포트 · 모델 보정 포함</a:t>
            </a:r>
          </a:p>
          <a:p>
            <a:pPr algn="l"/>
            <a:r>
              <a:rPr sz="950" b="0">
                <a:solidFill>
                  <a:srgbClr val="595959"/>
                </a:solidFill>
              </a:rPr>
              <a:t>레지스터 전달</a:t>
            </a:r>
          </a:p>
        </p:txBody>
      </p:sp>
      <p:pic>
        <p:nvPicPr>
          <p:cNvPr id="15" name="Picture 14" descr="qr_ui.jpg"/>
          <p:cNvPicPr>
            <a:picLocks noChangeAspect="1"/>
          </p:cNvPicPr>
          <p:nvPr/>
        </p:nvPicPr>
        <p:blipFill>
          <a:blip r:embed="rId2"/>
          <a:srcRect l="1719" r="1719"/>
          <a:stretch>
            <a:fillRect/>
          </a:stretch>
        </p:blipFill>
        <p:spPr>
          <a:xfrm>
            <a:off x="411480" y="2331720"/>
            <a:ext cx="3063240" cy="1691640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16" name="TextBox 15"/>
          <p:cNvSpPr txBox="1"/>
          <p:nvPr/>
        </p:nvSpPr>
        <p:spPr>
          <a:xfrm>
            <a:off x="411480" y="4069080"/>
            <a:ext cx="30632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7F7F7F"/>
                </a:solidFill>
              </a:rPr>
              <a:t>AMR Web 카메라 화면 — QR 중심 · 각도 · Delta 표시 (LAB)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703320" y="2331720"/>
            <a:ext cx="2331720" cy="1691640"/>
          </a:xfrm>
          <a:prstGeom prst="rect">
            <a:avLst/>
          </a:prstGeom>
          <a:solidFill>
            <a:srgbClr val="EDEDED"/>
          </a:solidFill>
          <a:ln w="952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49039" y="2359151"/>
            <a:ext cx="14630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595959"/>
                </a:solidFill>
              </a:rPr>
              <a:t>카메라 영상 (px)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732019" y="3177539"/>
            <a:ext cx="274321" cy="0"/>
          </a:xfrm>
          <a:prstGeom prst="line">
            <a:avLst/>
          </a:prstGeom>
          <a:ln w="15875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869179" y="3040379"/>
            <a:ext cx="0" cy="274320"/>
          </a:xfrm>
          <a:prstGeom prst="line">
            <a:avLst/>
          </a:prstGeom>
          <a:ln w="15875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183379" y="3314699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</a:rPr>
              <a:t>(uc, vc)</a:t>
            </a:r>
          </a:p>
        </p:txBody>
      </p:sp>
      <p:sp>
        <p:nvSpPr>
          <p:cNvPr id="22" name="Rectangle 21"/>
          <p:cNvSpPr/>
          <p:nvPr/>
        </p:nvSpPr>
        <p:spPr>
          <a:xfrm rot="21000000">
            <a:off x="5280659" y="2491739"/>
            <a:ext cx="411480" cy="411480"/>
          </a:xfrm>
          <a:prstGeom prst="rect">
            <a:avLst/>
          </a:prstGeom>
          <a:solidFill>
            <a:srgbClr val="FFFFFF"/>
          </a:solidFill>
          <a:ln w="15875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1">
                <a:solidFill>
                  <a:srgbClr val="262626"/>
                </a:solidFill>
              </a:rPr>
              <a:t>QR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869179" y="3177539"/>
            <a:ext cx="617220" cy="0"/>
          </a:xfrm>
          <a:prstGeom prst="line">
            <a:avLst/>
          </a:prstGeom>
          <a:ln w="15875">
            <a:solidFill>
              <a:srgbClr val="9B1B3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5486399" y="2770632"/>
            <a:ext cx="0" cy="406907"/>
          </a:xfrm>
          <a:prstGeom prst="line">
            <a:avLst/>
          </a:prstGeom>
          <a:ln w="15875">
            <a:solidFill>
              <a:srgbClr val="9B1B3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960619" y="3195827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9B1B30"/>
                </a:solidFill>
              </a:rPr>
              <a:t>Δu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41263" y="2857499"/>
            <a:ext cx="3657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9B1B30"/>
                </a:solidFill>
              </a:rPr>
              <a:t>Δv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42431" y="2404872"/>
            <a:ext cx="457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9B1B30"/>
                </a:solidFill>
              </a:rPr>
              <a:t>θ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63640" y="2331720"/>
            <a:ext cx="3063240" cy="16916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2395728"/>
            <a:ext cx="283464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9B1B30"/>
                </a:solidFill>
              </a:rPr>
              <a:t>실거리 변환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262626"/>
                </a:solidFill>
              </a:rPr>
              <a:t>dx = Δu × Z / fx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262626"/>
                </a:solidFill>
              </a:rPr>
              <a:t>dy = Δv × Z / fy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595959"/>
                </a:solidFill>
              </a:rPr>
              <a:t>Z: QR 중심 Depth 중앙값, fx · fy: 초점거리</a:t>
            </a:r>
          </a:p>
          <a:p>
            <a:pPr algn="l">
              <a:spcAft>
                <a:spcPts val="200"/>
              </a:spcAft>
            </a:pPr>
            <a:r>
              <a:rPr sz="1100" b="1">
                <a:solidFill>
                  <a:srgbClr val="9B1B30"/>
                </a:solidFill>
              </a:rPr>
              <a:t>최종 보정값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262626"/>
                </a:solidFill>
              </a:rPr>
              <a:t>QR 측정값 + PortOffset + ModelOffset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595959"/>
                </a:solidFill>
              </a:rPr>
              <a:t>PortOffset: Node · LEFT/RIGHT, ModelOffset: LOAD/UNLOAD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443484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62626"/>
                </a:solidFill>
              </a:rPr>
              <a:t>협동로봇 전달 레지스터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411480" y="4736592"/>
          <a:ext cx="8915400" cy="1316736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097280"/>
                <a:gridCol w="1097280"/>
                <a:gridCol w="1097280"/>
                <a:gridCol w="5623560"/>
              </a:tblGrid>
              <a:tr h="329184">
                <a:tc>
                  <a:txBody>
                    <a:bodyPr wrap="square" anchor="ctr" lIns="73152" rIns="73152" tIns="27432" bIns="27432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레지스터</a:t>
                      </a:r>
                    </a:p>
                  </a:txBody>
                  <a:tcPr marL="73152" marR="73152" marT="27432" marB="27432" anchor="ctr">
                    <a:solidFill>
                      <a:srgbClr val="404040"/>
                    </a:solidFill>
                  </a:tcPr>
                </a:tc>
                <a:tc>
                  <a:txBody>
                    <a:bodyPr wrap="square" anchor="ctr" lIns="73152" rIns="73152" tIns="27432" bIns="27432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값</a:t>
                      </a:r>
                    </a:p>
                  </a:txBody>
                  <a:tcPr marL="73152" marR="73152" marT="27432" marB="27432" anchor="ctr">
                    <a:solidFill>
                      <a:srgbClr val="404040"/>
                    </a:solidFill>
                  </a:tcPr>
                </a:tc>
                <a:tc>
                  <a:txBody>
                    <a:bodyPr wrap="square" anchor="ctr" lIns="73152" rIns="73152" tIns="27432" bIns="27432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단위</a:t>
                      </a:r>
                    </a:p>
                  </a:txBody>
                  <a:tcPr marL="73152" marR="73152" marT="27432" marB="27432" anchor="ctr">
                    <a:solidFill>
                      <a:srgbClr val="404040"/>
                    </a:solidFill>
                  </a:tcPr>
                </a:tc>
                <a:tc>
                  <a:txBody>
                    <a:bodyPr wrap="square" anchor="ctr" lIns="73152" rIns="73152" tIns="27432" bIns="27432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적용 내용</a:t>
                      </a:r>
                    </a:p>
                  </a:txBody>
                  <a:tcPr marL="73152" marR="73152" marT="27432" marB="27432" anchor="ctr">
                    <a:solidFill>
                      <a:srgbClr val="404040"/>
                    </a:solidFill>
                  </a:tcPr>
                </a:tc>
              </a:tr>
              <a:tr h="329184">
                <a:tc>
                  <a:txBody>
                    <a:bodyPr wrap="square" anchor="ctr" lIns="73152" rIns="73152" tIns="27432" bIns="27432"/>
                    <a:lstStyle/>
                    <a:p>
                      <a:pPr algn="l"/>
                      <a:r>
                        <a:rPr sz="1000" b="1">
                          <a:solidFill>
                            <a:srgbClr val="9B1B30"/>
                          </a:solidFill>
                        </a:rPr>
                        <a:t>AI0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73152" rIns="73152" tIns="27432" bIns="27432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</a:rPr>
                        <a:t>dx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73152" rIns="73152" tIns="27432" bIns="27432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</a:rPr>
                        <a:t>mm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73152" rIns="73152" tIns="27432" bIns="27432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</a:rPr>
                        <a:t>카메라 X 방향 위치 오차 + 포트 / 모델 보정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 anchor="ctr" lIns="73152" rIns="73152" tIns="27432" bIns="27432"/>
                    <a:lstStyle/>
                    <a:p>
                      <a:pPr algn="l"/>
                      <a:r>
                        <a:rPr sz="1000" b="1">
                          <a:solidFill>
                            <a:srgbClr val="9B1B30"/>
                          </a:solidFill>
                        </a:rPr>
                        <a:t>AI1</a:t>
                      </a:r>
                    </a:p>
                  </a:txBody>
                  <a:tcPr marL="73152" marR="73152" marT="27432" marB="27432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 anchor="ctr" lIns="73152" rIns="73152" tIns="27432" bIns="27432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</a:rPr>
                        <a:t>dy</a:t>
                      </a:r>
                    </a:p>
                  </a:txBody>
                  <a:tcPr marL="73152" marR="73152" marT="27432" marB="27432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 anchor="ctr" lIns="73152" rIns="73152" tIns="27432" bIns="27432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</a:rPr>
                        <a:t>mm</a:t>
                      </a:r>
                    </a:p>
                  </a:txBody>
                  <a:tcPr marL="73152" marR="73152" marT="27432" marB="27432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 anchor="ctr" lIns="73152" rIns="73152" tIns="27432" bIns="27432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</a:rPr>
                        <a:t>카메라 Y 방향 위치 오차 + 포트 / 모델 보정</a:t>
                      </a:r>
                    </a:p>
                  </a:txBody>
                  <a:tcPr marL="73152" marR="73152" marT="27432" marB="27432" anchor="ctr">
                    <a:solidFill>
                      <a:srgbClr val="F7F7F7"/>
                    </a:solidFill>
                  </a:tcPr>
                </a:tc>
              </a:tr>
              <a:tr h="329184">
                <a:tc>
                  <a:txBody>
                    <a:bodyPr wrap="square" anchor="ctr" lIns="73152" rIns="73152" tIns="27432" bIns="27432"/>
                    <a:lstStyle/>
                    <a:p>
                      <a:pPr algn="l"/>
                      <a:r>
                        <a:rPr sz="1000" b="1">
                          <a:solidFill>
                            <a:srgbClr val="9B1B30"/>
                          </a:solidFill>
                        </a:rPr>
                        <a:t>AI2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73152" rIns="73152" tIns="27432" bIns="27432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</a:rPr>
                        <a:t>dθ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73152" rIns="73152" tIns="27432" bIns="27432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</a:rPr>
                        <a:t>0.01°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73152" rIns="73152" tIns="27432" bIns="27432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</a:rPr>
                        <a:t>QR 상단 변 회전각 + 포트 / 모델 보정 (×100 정수 전달)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>
          <a:xfrm>
            <a:off x="265176" y="265176"/>
            <a:ext cx="7872983" cy="420624"/>
          </a:xfrm>
        </p:spPr>
        <p:txBody>
          <a:bodyPr/>
          <a:lstStyle/>
          <a:p>
            <a:r>
              <a:rPr sz="2400" b="1">
                <a:solidFill>
                  <a:srgbClr val="1A1A1A"/>
                </a:solidFill>
              </a:rPr>
              <a:t>QR 기반 매거진 PICKUP / PLACE 시퀀스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CDE66FD-D7CB-3568-8D26-D90AF1C97F55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869D38BF-033B-430D-8161-2CB3A99929CC}" type="slidenum">
              <a:rPr lang="ko-KR" altLang="en-US" smtClean="0"/>
              <a:pPr/>
              <a:t>17</a:t>
            </a:fld>
            <a:endParaRPr lang="ko-KR" altLang="en-US" dirty="0"/>
          </a:p>
        </p:txBody>
      </p:sp>
      <p:sp>
        <p:nvSpPr>
          <p:cNvPr id="5" name="Rectangle 4"/>
          <p:cNvSpPr/>
          <p:nvPr/>
        </p:nvSpPr>
        <p:spPr>
          <a:xfrm>
            <a:off x="411480" y="1188720"/>
            <a:ext cx="1673352" cy="329184"/>
          </a:xfrm>
          <a:prstGeom prst="rect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1  이동</a:t>
            </a:r>
          </a:p>
        </p:txBody>
      </p:sp>
      <p:pic>
        <p:nvPicPr>
          <p:cNvPr id="6" name="Picture 5" descr="amr_aisle.jpg"/>
          <p:cNvPicPr>
            <a:picLocks noChangeAspect="1"/>
          </p:cNvPicPr>
          <p:nvPr/>
        </p:nvPicPr>
        <p:blipFill>
          <a:blip r:embed="rId2"/>
          <a:srcRect l="2390" r="2390"/>
          <a:stretch>
            <a:fillRect/>
          </a:stretch>
        </p:blipFill>
        <p:spPr>
          <a:xfrm>
            <a:off x="411480" y="1572768"/>
            <a:ext cx="1673352" cy="187451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11480" y="3474720"/>
            <a:ext cx="167335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7F7F7F"/>
                </a:solidFill>
              </a:rPr>
              <a:t>AMR 설비 Node 주행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3730752"/>
            <a:ext cx="167335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</a:rPr>
              <a:t>① ACS moveCmd 수신</a:t>
            </a:r>
          </a:p>
          <a:p>
            <a:pPr algn="l"/>
            <a:r>
              <a:rPr sz="950" b="0">
                <a:solidFill>
                  <a:srgbClr val="262626"/>
                </a:solidFill>
              </a:rPr>
              <a:t>   (Node · Port · Job)</a:t>
            </a:r>
          </a:p>
          <a:p>
            <a:pPr algn="l"/>
            <a:r>
              <a:rPr sz="950" b="0">
                <a:solidFill>
                  <a:srgbClr val="262626"/>
                </a:solidFill>
              </a:rPr>
              <a:t>② 목표 Node 도착</a:t>
            </a:r>
          </a:p>
          <a:p>
            <a:pPr algn="l"/>
            <a:r>
              <a:rPr sz="950" b="0">
                <a:solidFill>
                  <a:srgbClr val="262626"/>
                </a:solidFill>
              </a:rPr>
              <a:t>   (정차 오차 ±50 mm)</a:t>
            </a:r>
          </a:p>
        </p:txBody>
      </p:sp>
      <p:sp>
        <p:nvSpPr>
          <p:cNvPr id="9" name="Rectangle 8"/>
          <p:cNvSpPr/>
          <p:nvPr/>
        </p:nvSpPr>
        <p:spPr>
          <a:xfrm>
            <a:off x="2221992" y="1188720"/>
            <a:ext cx="1673352" cy="329184"/>
          </a:xfrm>
          <a:prstGeom prst="rect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2  QR 스캔</a:t>
            </a:r>
          </a:p>
        </p:txBody>
      </p:sp>
      <p:pic>
        <p:nvPicPr>
          <p:cNvPr id="10" name="Picture 9" descr="f_A_8.jpg"/>
          <p:cNvPicPr>
            <a:picLocks noChangeAspect="1"/>
          </p:cNvPicPr>
          <p:nvPr/>
        </p:nvPicPr>
        <p:blipFill>
          <a:blip r:embed="rId3"/>
          <a:srcRect t="5986" b="11117"/>
          <a:stretch>
            <a:fillRect/>
          </a:stretch>
        </p:blipFill>
        <p:spPr>
          <a:xfrm>
            <a:off x="2221992" y="1572768"/>
            <a:ext cx="1673352" cy="187451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221992" y="3474720"/>
            <a:ext cx="167335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7F7F7F"/>
                </a:solidFill>
              </a:rPr>
              <a:t>작업대 위 QR 스캔 자세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21992" y="3730752"/>
            <a:ext cx="167335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</a:rPr>
              <a:t>③ QR 스캔 위치 이동</a:t>
            </a:r>
          </a:p>
          <a:p>
            <a:pPr algn="l"/>
            <a:r>
              <a:rPr sz="950" b="0">
                <a:solidFill>
                  <a:srgbClr val="262626"/>
                </a:solidFill>
              </a:rPr>
              <a:t>   (코봇 DI16/17)</a:t>
            </a:r>
          </a:p>
          <a:p>
            <a:pPr algn="l"/>
            <a:r>
              <a:rPr sz="950" b="0">
                <a:solidFill>
                  <a:srgbClr val="262626"/>
                </a:solidFill>
              </a:rPr>
              <a:t>④ QR 5회 측정 → 보정값</a:t>
            </a:r>
          </a:p>
          <a:p>
            <a:pPr algn="l"/>
            <a:r>
              <a:rPr sz="950" b="0">
                <a:solidFill>
                  <a:srgbClr val="262626"/>
                </a:solidFill>
              </a:rPr>
              <a:t>   dx · dy · dθ + 오프셋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32504" y="1188720"/>
            <a:ext cx="1673352" cy="329184"/>
          </a:xfrm>
          <a:prstGeom prst="rect">
            <a:avLst/>
          </a:prstGeom>
          <a:solidFill>
            <a:srgbClr val="9B1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3  PICKUP</a:t>
            </a:r>
          </a:p>
        </p:txBody>
      </p:sp>
      <p:pic>
        <p:nvPicPr>
          <p:cNvPr id="14" name="Picture 13" descr="f_A_16.jpg"/>
          <p:cNvPicPr>
            <a:picLocks noChangeAspect="1"/>
          </p:cNvPicPr>
          <p:nvPr/>
        </p:nvPicPr>
        <p:blipFill>
          <a:blip r:embed="rId4"/>
          <a:srcRect t="8552" b="8552"/>
          <a:stretch>
            <a:fillRect/>
          </a:stretch>
        </p:blipFill>
        <p:spPr>
          <a:xfrm>
            <a:off x="4032504" y="1572768"/>
            <a:ext cx="1673352" cy="187451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032504" y="3474720"/>
            <a:ext cx="167335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7F7F7F"/>
                </a:solidFill>
              </a:rPr>
              <a:t>보정 좌표로 매거진 파지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32504" y="3730752"/>
            <a:ext cx="167335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</a:rPr>
              <a:t>⑤ 보정 좌표로 접근</a:t>
            </a:r>
          </a:p>
          <a:p>
            <a:pPr algn="l"/>
            <a:r>
              <a:rPr sz="950" b="0">
                <a:solidFill>
                  <a:srgbClr val="262626"/>
                </a:solidFill>
              </a:rPr>
              <a:t>   그립 · 완료 확인</a:t>
            </a:r>
          </a:p>
          <a:p>
            <a:pPr algn="l"/>
            <a:r>
              <a:rPr sz="950" b="0">
                <a:solidFill>
                  <a:srgbClr val="262626"/>
                </a:solidFill>
              </a:rPr>
              <a:t>   버퍼 슬롯에 적재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843016" y="1188720"/>
            <a:ext cx="1673352" cy="329184"/>
          </a:xfrm>
          <a:prstGeom prst="rect">
            <a:avLst/>
          </a:prstGeom>
          <a:solidFill>
            <a:srgbClr val="9B1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4  PLACE</a:t>
            </a:r>
          </a:p>
        </p:txBody>
      </p:sp>
      <p:pic>
        <p:nvPicPr>
          <p:cNvPr id="18" name="Picture 17" descr="f_B_108.jpg"/>
          <p:cNvPicPr>
            <a:picLocks noChangeAspect="1"/>
          </p:cNvPicPr>
          <p:nvPr/>
        </p:nvPicPr>
        <p:blipFill>
          <a:blip r:embed="rId5"/>
          <a:srcRect t="8552" b="8552"/>
          <a:stretch>
            <a:fillRect/>
          </a:stretch>
        </p:blipFill>
        <p:spPr>
          <a:xfrm>
            <a:off x="5843016" y="1572768"/>
            <a:ext cx="1673352" cy="1874519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843016" y="3474720"/>
            <a:ext cx="167335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7F7F7F"/>
                </a:solidFill>
              </a:rPr>
              <a:t>설비 로딩 포트 투입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43016" y="3730752"/>
            <a:ext cx="167335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</a:rPr>
              <a:t>⑥ 포트 QR 재판독</a:t>
            </a:r>
          </a:p>
          <a:p>
            <a:pPr algn="l"/>
            <a:r>
              <a:rPr sz="950" b="0">
                <a:solidFill>
                  <a:srgbClr val="262626"/>
                </a:solidFill>
              </a:rPr>
              <a:t>   보정 좌표로 놓기</a:t>
            </a:r>
          </a:p>
          <a:p>
            <a:pPr algn="l"/>
            <a:r>
              <a:rPr sz="950" b="0">
                <a:solidFill>
                  <a:srgbClr val="262626"/>
                </a:solidFill>
              </a:rPr>
              <a:t>   완료 신호 확인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53527" y="1188720"/>
            <a:ext cx="1673352" cy="329184"/>
          </a:xfrm>
          <a:prstGeom prst="rect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5  완료</a:t>
            </a:r>
          </a:p>
        </p:txBody>
      </p:sp>
      <p:pic>
        <p:nvPicPr>
          <p:cNvPr id="22" name="Picture 21" descr="amr_line.jpg"/>
          <p:cNvPicPr>
            <a:picLocks noChangeAspect="1"/>
          </p:cNvPicPr>
          <p:nvPr/>
        </p:nvPicPr>
        <p:blipFill>
          <a:blip r:embed="rId6"/>
          <a:srcRect t="16662" b="20365"/>
          <a:stretch>
            <a:fillRect/>
          </a:stretch>
        </p:blipFill>
        <p:spPr>
          <a:xfrm>
            <a:off x="7653527" y="1572768"/>
            <a:ext cx="1673352" cy="1874519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653527" y="3474720"/>
            <a:ext cx="167335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7F7F7F"/>
                </a:solidFill>
              </a:rPr>
              <a:t>다음 작업 대기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53527" y="3730752"/>
            <a:ext cx="167335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</a:rPr>
              <a:t>⑦ 코봇 대기 자세 복귀</a:t>
            </a:r>
          </a:p>
          <a:p>
            <a:pPr algn="l"/>
            <a:r>
              <a:rPr sz="950" b="0">
                <a:solidFill>
                  <a:srgbClr val="262626"/>
                </a:solidFill>
              </a:rPr>
              <a:t>   ACS에 완료 보고</a:t>
            </a:r>
          </a:p>
          <a:p>
            <a:pPr algn="l"/>
            <a:r>
              <a:rPr sz="950" b="0">
                <a:solidFill>
                  <a:srgbClr val="262626"/>
                </a:solidFill>
              </a:rPr>
              <a:t>   다음 명령 대기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4709160"/>
            <a:ext cx="3657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62626"/>
                </a:solidFill>
              </a:rPr>
              <a:t>실행 조건 · 인터록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" y="5010912"/>
            <a:ext cx="2121408" cy="56692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02920" y="5120640"/>
            <a:ext cx="329184" cy="329184"/>
          </a:xfrm>
          <a:prstGeom prst="ellipse">
            <a:avLst/>
          </a:prstGeom>
          <a:solidFill>
            <a:srgbClr val="9B1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056632"/>
            <a:ext cx="1600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</a:rPr>
              <a:t>QR 인식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5303520"/>
            <a:ext cx="1600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595959"/>
                </a:solidFill>
              </a:rPr>
              <a:t>유효 샘플 확보 · 좌표 산출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670048" y="5010912"/>
            <a:ext cx="2121408" cy="56692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761488" y="5120640"/>
            <a:ext cx="329184" cy="329184"/>
          </a:xfrm>
          <a:prstGeom prst="ellipse">
            <a:avLst/>
          </a:prstGeom>
          <a:solidFill>
            <a:srgbClr val="9B1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172968" y="5056632"/>
            <a:ext cx="1600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</a:rPr>
              <a:t>로봇 상태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172968" y="5303520"/>
            <a:ext cx="1600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595959"/>
                </a:solidFill>
              </a:rPr>
              <a:t>Busy / Complete / Error 확인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928616" y="5010912"/>
            <a:ext cx="2121408" cy="56692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020056" y="5120640"/>
            <a:ext cx="329184" cy="329184"/>
          </a:xfrm>
          <a:prstGeom prst="ellipse">
            <a:avLst/>
          </a:prstGeom>
          <a:solidFill>
            <a:srgbClr val="9B1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31536" y="5056632"/>
            <a:ext cx="1600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</a:rPr>
              <a:t>매거진 확인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31536" y="5303520"/>
            <a:ext cx="1600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595959"/>
                </a:solidFill>
              </a:rPr>
              <a:t>Depth ROI로 유무 판정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187184" y="5010912"/>
            <a:ext cx="2121408" cy="56692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7278624" y="5120640"/>
            <a:ext cx="329184" cy="329184"/>
          </a:xfrm>
          <a:prstGeom prst="ellipse">
            <a:avLst/>
          </a:prstGeom>
          <a:solidFill>
            <a:srgbClr val="9B1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90104" y="5056632"/>
            <a:ext cx="1600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</a:rPr>
              <a:t>안전 조건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90104" y="5303520"/>
            <a:ext cx="1600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595959"/>
                </a:solidFill>
              </a:rPr>
              <a:t>I/O 인터록 · 비상정지 상태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11480" y="5715000"/>
            <a:ext cx="8915400" cy="457200"/>
          </a:xfrm>
          <a:prstGeom prst="rect">
            <a:avLst/>
          </a:prstGeom>
          <a:solidFill>
            <a:srgbClr val="9B1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>
                <a:solidFill>
                  <a:srgbClr val="FFFFFF"/>
                </a:solidFill>
              </a:rPr>
              <a:t>PICKUP · PLACE 직전마다 QR 재판독 → 정차 편차와 포트 · 모델별 편차를 분리해 보정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>
          <a:xfrm>
            <a:off x="265176" y="265176"/>
            <a:ext cx="7872983" cy="420624"/>
          </a:xfrm>
        </p:spPr>
        <p:txBody>
          <a:bodyPr/>
          <a:lstStyle/>
          <a:p>
            <a:r>
              <a:rPr sz="2400" b="1">
                <a:solidFill>
                  <a:srgbClr val="1A1A1A"/>
                </a:solidFill>
              </a:rPr>
              <a:t>시스템 구성도 — 관제 · 무선망 · 로봇 · 공정 설비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CDE66FD-D7CB-3568-8D26-D90AF1C97F55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869D38BF-033B-430D-8161-2CB3A99929CC}" type="slidenum">
              <a:rPr lang="ko-KR" altLang="en-US" smtClean="0"/>
              <a:pPr/>
              <a:t>17</a:t>
            </a:fld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411480" y="1143000"/>
            <a:ext cx="23774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9B1B30"/>
                </a:solidFill>
              </a:rPr>
              <a:t>관제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417320"/>
            <a:ext cx="2377440" cy="548640"/>
          </a:xfrm>
          <a:prstGeom prst="rect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>
                <a:solidFill>
                  <a:srgbClr val="FFFFFF"/>
                </a:solidFill>
              </a:rPr>
              <a:t>운영자 화면</a:t>
            </a:r>
          </a:p>
          <a:p>
            <a:pPr algn="ctr"/>
            <a:r>
              <a:rPr sz="950" b="0">
                <a:solidFill>
                  <a:srgbClr val="FFFFFF"/>
                </a:solidFill>
              </a:rPr>
              <a:t>작업 지시 · 모니터링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600200" y="1965960"/>
            <a:ext cx="0" cy="274320"/>
          </a:xfrm>
          <a:prstGeom prst="line">
            <a:avLst/>
          </a:prstGeom>
          <a:ln w="19050">
            <a:solidFill>
              <a:srgbClr val="404040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411480" y="2240280"/>
            <a:ext cx="2377440" cy="822960"/>
          </a:xfrm>
          <a:prstGeom prst="rect">
            <a:avLst/>
          </a:prstGeom>
          <a:solidFill>
            <a:srgbClr val="9B1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400" b="1">
                <a:solidFill>
                  <a:srgbClr val="FFFFFF"/>
                </a:solidFill>
              </a:rPr>
              <a:t>ACS 관제 서버</a:t>
            </a:r>
          </a:p>
          <a:p>
            <a:pPr algn="ctr"/>
            <a:r>
              <a:rPr sz="950" b="0">
                <a:solidFill>
                  <a:srgbClr val="FFFFFF"/>
                </a:solidFill>
              </a:rPr>
              <a:t>작업 관리 · 배차 · 교통 제어</a:t>
            </a:r>
          </a:p>
          <a:p>
            <a:pPr algn="ctr"/>
            <a:r>
              <a:rPr sz="950" b="0">
                <a:solidFill>
                  <a:srgbClr val="FFFFFF"/>
                </a:solidFill>
              </a:rPr>
              <a:t>상태 · 알람 · 이력 DB</a:t>
            </a:r>
          </a:p>
        </p:txBody>
      </p:sp>
      <p:sp>
        <p:nvSpPr>
          <p:cNvPr id="9" name="Rectangle 8"/>
          <p:cNvSpPr/>
          <p:nvPr/>
        </p:nvSpPr>
        <p:spPr>
          <a:xfrm>
            <a:off x="3063240" y="1417320"/>
            <a:ext cx="1984248" cy="16459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200400" y="1554480"/>
            <a:ext cx="292608" cy="292608"/>
          </a:xfrm>
          <a:prstGeom prst="ellipse">
            <a:avLst/>
          </a:prstGeom>
          <a:solidFill>
            <a:srgbClr val="9B1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1920240"/>
            <a:ext cx="1783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62626"/>
                </a:solidFill>
              </a:rPr>
              <a:t>관제 1식 · 다수 AMR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240280"/>
            <a:ext cx="175564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</a:rPr>
              <a:t>ACS가 모든 AMR의 작업 · 경로 · 상태를 일괄 관리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84648" y="1417320"/>
            <a:ext cx="1984248" cy="16459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321808" y="1554480"/>
            <a:ext cx="292608" cy="292608"/>
          </a:xfrm>
          <a:prstGeom prst="ellipse">
            <a:avLst/>
          </a:prstGeom>
          <a:solidFill>
            <a:srgbClr val="9B1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21808" y="1920240"/>
            <a:ext cx="1783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62626"/>
                </a:solidFill>
              </a:rPr>
              <a:t>무선 단일 경로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21808" y="2240280"/>
            <a:ext cx="175564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</a:rPr>
              <a:t>ACS ↔ AMR 통신은 Wi-Fi · MQTT 하나로 통일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06056" y="1417320"/>
            <a:ext cx="1984248" cy="16459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443216" y="1554480"/>
            <a:ext cx="292608" cy="292608"/>
          </a:xfrm>
          <a:prstGeom prst="ellipse">
            <a:avLst/>
          </a:prstGeom>
          <a:solidFill>
            <a:srgbClr val="9B1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43216" y="1920240"/>
            <a:ext cx="1783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62626"/>
                </a:solidFill>
              </a:rPr>
              <a:t>위치 기준 = QR 표식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43216" y="2240280"/>
            <a:ext cx="175564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</a:rPr>
              <a:t>설비 · 작업대의 QR을 비전으로 측정해 작업 위치 결정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600200" y="3063240"/>
            <a:ext cx="0" cy="228600"/>
          </a:xfrm>
          <a:prstGeom prst="line">
            <a:avLst/>
          </a:prstGeom>
          <a:ln w="25400">
            <a:solidFill>
              <a:srgbClr val="9B1B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411480" y="3291840"/>
            <a:ext cx="8915400" cy="384048"/>
          </a:xfrm>
          <a:prstGeom prst="rect">
            <a:avLst/>
          </a:prstGeom>
          <a:solidFill>
            <a:srgbClr val="F6E8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27432" bIns="27432"/>
          <a:lstStyle/>
          <a:p>
            <a:pPr algn="l"/>
            <a:r>
              <a:rPr sz="1050" b="1">
                <a:solidFill>
                  <a:srgbClr val="9B1B30"/>
                </a:solidFill>
              </a:rPr>
              <a:t>현장 무선망  Wi-Fi</a:t>
            </a:r>
            <a:r>
              <a:rPr sz="1050" b="0">
                <a:solidFill>
                  <a:srgbClr val="262626"/>
                </a:solidFill>
              </a:rPr>
              <a:t>   ·   MQTT  작업 지시 (moveCmd · actionCmd)  /  상태 · 완료 · 알람 보고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3840480"/>
            <a:ext cx="173736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>
            <a:off x="1280160" y="3675887"/>
            <a:ext cx="0" cy="164593"/>
          </a:xfrm>
          <a:prstGeom prst="line">
            <a:avLst/>
          </a:prstGeom>
          <a:ln w="25400">
            <a:solidFill>
              <a:srgbClr val="9B1B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5" name="Picture 24" descr="amr_aisle.jpg"/>
          <p:cNvPicPr>
            <a:picLocks noChangeAspect="1"/>
          </p:cNvPicPr>
          <p:nvPr/>
        </p:nvPicPr>
        <p:blipFill>
          <a:blip r:embed="rId2"/>
          <a:srcRect t="18040" b="18040"/>
          <a:stretch>
            <a:fillRect/>
          </a:stretch>
        </p:blipFill>
        <p:spPr>
          <a:xfrm>
            <a:off x="475488" y="3904487"/>
            <a:ext cx="1609344" cy="109728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457200" y="5047488"/>
            <a:ext cx="16459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262626"/>
                </a:solidFill>
              </a:rPr>
              <a:t>AMR #1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5303520"/>
            <a:ext cx="1645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95959"/>
                </a:solidFill>
              </a:rPr>
              <a:t>AMR · 협동로봇 · RGB-D · 그리퍼</a:t>
            </a:r>
          </a:p>
          <a:p>
            <a:pPr algn="ctr"/>
            <a:r>
              <a:rPr sz="850" b="0">
                <a:solidFill>
                  <a:srgbClr val="595959"/>
                </a:solidFill>
              </a:rPr>
              <a:t>탑재 통합 제어 PC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286000" y="3840480"/>
            <a:ext cx="173736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3154680" y="3675887"/>
            <a:ext cx="0" cy="164593"/>
          </a:xfrm>
          <a:prstGeom prst="line">
            <a:avLst/>
          </a:prstGeom>
          <a:ln w="25400">
            <a:solidFill>
              <a:srgbClr val="9B1B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0" name="Picture 29" descr="amr_drive.jpg"/>
          <p:cNvPicPr>
            <a:picLocks noChangeAspect="1"/>
          </p:cNvPicPr>
          <p:nvPr/>
        </p:nvPicPr>
        <p:blipFill>
          <a:blip r:embed="rId3"/>
          <a:srcRect t="21747" b="32620"/>
          <a:stretch>
            <a:fillRect/>
          </a:stretch>
        </p:blipFill>
        <p:spPr>
          <a:xfrm>
            <a:off x="2350008" y="3904487"/>
            <a:ext cx="1609344" cy="109728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2331720" y="5047488"/>
            <a:ext cx="16459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262626"/>
                </a:solidFill>
              </a:rPr>
              <a:t>AMR #2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331720" y="5303520"/>
            <a:ext cx="1645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95959"/>
                </a:solidFill>
              </a:rPr>
              <a:t>AMR · 협동로봇 · RGB-D · 그리퍼</a:t>
            </a:r>
          </a:p>
          <a:p>
            <a:pPr algn="ctr"/>
            <a:r>
              <a:rPr sz="850" b="0">
                <a:solidFill>
                  <a:srgbClr val="595959"/>
                </a:solidFill>
              </a:rPr>
              <a:t>탑재 통합 제어 PC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60520" y="3840480"/>
            <a:ext cx="173736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59595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" name="Connector 33"/>
          <p:cNvCxnSpPr/>
          <p:nvPr/>
        </p:nvCxnSpPr>
        <p:spPr>
          <a:xfrm>
            <a:off x="5029200" y="3675887"/>
            <a:ext cx="0" cy="164593"/>
          </a:xfrm>
          <a:prstGeom prst="line">
            <a:avLst/>
          </a:prstGeom>
          <a:ln w="25400">
            <a:solidFill>
              <a:srgbClr val="9B1B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5" name="Picture 34" descr="amr_line.jpg"/>
          <p:cNvPicPr>
            <a:picLocks noChangeAspect="1"/>
          </p:cNvPicPr>
          <p:nvPr/>
        </p:nvPicPr>
        <p:blipFill>
          <a:blip r:embed="rId4"/>
          <a:srcRect t="27752" b="33920"/>
          <a:stretch>
            <a:fillRect/>
          </a:stretch>
        </p:blipFill>
        <p:spPr>
          <a:xfrm>
            <a:off x="4224528" y="3904487"/>
            <a:ext cx="1609344" cy="109728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4206240" y="5047488"/>
            <a:ext cx="16459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262626"/>
                </a:solidFill>
              </a:rPr>
              <a:t>AMR #N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06240" y="5303520"/>
            <a:ext cx="1645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95959"/>
                </a:solidFill>
              </a:rPr>
              <a:t>AMR · 협동로봇 · RGB-D · 그리퍼</a:t>
            </a:r>
          </a:p>
          <a:p>
            <a:pPr algn="ctr"/>
            <a:r>
              <a:rPr sz="850" b="0">
                <a:solidFill>
                  <a:srgbClr val="595959"/>
                </a:solidFill>
              </a:rPr>
              <a:t>탑재 통합 제어 PC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55080" y="3840480"/>
            <a:ext cx="2971800" cy="1828800"/>
          </a:xfrm>
          <a:prstGeom prst="rect">
            <a:avLst/>
          </a:prstGeom>
          <a:solidFill>
            <a:srgbClr val="FAFAFA"/>
          </a:solidFill>
          <a:ln w="9525">
            <a:solidFill>
              <a:srgbClr val="59595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46520" y="3886200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404040"/>
                </a:solidFill>
              </a:rPr>
              <a:t>공정 설비 영역 — QR 표식 기준</a:t>
            </a:r>
          </a:p>
        </p:txBody>
      </p:sp>
      <p:pic>
        <p:nvPicPr>
          <p:cNvPr id="40" name="Picture 39" descr="table_qr.jpg"/>
          <p:cNvPicPr>
            <a:picLocks noChangeAspect="1"/>
          </p:cNvPicPr>
          <p:nvPr/>
        </p:nvPicPr>
        <p:blipFill>
          <a:blip r:embed="rId5"/>
          <a:srcRect l="2314" r="2828"/>
          <a:stretch>
            <a:fillRect/>
          </a:stretch>
        </p:blipFill>
        <p:spPr>
          <a:xfrm>
            <a:off x="6446520" y="4160520"/>
            <a:ext cx="1344168" cy="1005840"/>
          </a:xfrm>
          <a:prstGeom prst="rect">
            <a:avLst/>
          </a:prstGeom>
        </p:spPr>
      </p:pic>
      <p:pic>
        <p:nvPicPr>
          <p:cNvPr id="41" name="Picture 40" descr="port_qr.jpg"/>
          <p:cNvPicPr>
            <a:picLocks noChangeAspect="1"/>
          </p:cNvPicPr>
          <p:nvPr/>
        </p:nvPicPr>
        <p:blipFill>
          <a:blip r:embed="rId6"/>
          <a:srcRect t="4953" b="1651"/>
          <a:stretch>
            <a:fillRect/>
          </a:stretch>
        </p:blipFill>
        <p:spPr>
          <a:xfrm>
            <a:off x="7891272" y="4160520"/>
            <a:ext cx="1344168" cy="1005840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6446520" y="5212080"/>
            <a:ext cx="134416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>
                <a:solidFill>
                  <a:srgbClr val="595959"/>
                </a:solidFill>
              </a:rPr>
              <a:t>작업대</a:t>
            </a:r>
          </a:p>
          <a:p>
            <a:pPr algn="ctr"/>
            <a:r>
              <a:rPr sz="900" b="0">
                <a:solidFill>
                  <a:srgbClr val="595959"/>
                </a:solidFill>
              </a:rPr>
              <a:t>PICKUP · QR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891272" y="5212080"/>
            <a:ext cx="134416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>
                <a:solidFill>
                  <a:srgbClr val="595959"/>
                </a:solidFill>
              </a:rPr>
              <a:t>설비 로딩 포트</a:t>
            </a:r>
          </a:p>
          <a:p>
            <a:pPr algn="ctr"/>
            <a:r>
              <a:rPr sz="900" b="0">
                <a:solidFill>
                  <a:srgbClr val="595959"/>
                </a:solidFill>
              </a:rPr>
              <a:t>PLACE · QR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5897880" y="4572000"/>
            <a:ext cx="438912" cy="0"/>
          </a:xfrm>
          <a:prstGeom prst="line">
            <a:avLst/>
          </a:prstGeom>
          <a:ln w="22225">
            <a:solidFill>
              <a:srgbClr val="9B1B3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ectangle 44"/>
          <p:cNvSpPr/>
          <p:nvPr/>
        </p:nvSpPr>
        <p:spPr>
          <a:xfrm>
            <a:off x="411480" y="5806440"/>
            <a:ext cx="8915400" cy="384048"/>
          </a:xfrm>
          <a:prstGeom prst="rect">
            <a:avLst/>
          </a:prstGeom>
          <a:solidFill>
            <a:srgbClr val="9B1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150" b="1">
                <a:solidFill>
                  <a:srgbClr val="FFFFFF"/>
                </a:solidFill>
              </a:rPr>
              <a:t>관제는 무선으로 작업만 지시, 주행 · 코봇 · 비전은 로봇 탑재 PC가 통합 제어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회사 소개서 테마">
  <a:themeElements>
    <a:clrScheme name="회색조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8A8EEAC5-7F5B-3444-96A0-C44574EB934F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e4efbc1d-d8b0-47bf-acc5-8ea62de54e33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3151</TotalTime>
  <Words>5041</Words>
  <Application>Microsoft Macintosh PowerPoint</Application>
  <PresentationFormat>A4 용지(210x297mm)</PresentationFormat>
  <Paragraphs>922</Paragraphs>
  <Slides>33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33</vt:i4>
      </vt:variant>
    </vt:vector>
  </HeadingPairs>
  <TitlesOfParts>
    <vt:vector size="38" baseType="lpstr">
      <vt:lpstr>맑은 고딕</vt:lpstr>
      <vt:lpstr>Arial</vt:lpstr>
      <vt:lpstr>Calibri</vt:lpstr>
      <vt:lpstr>Calibri Light</vt:lpstr>
      <vt:lpstr>회사 소개서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김선미</dc:creator>
  <cp:lastModifiedBy>성곤 김</cp:lastModifiedBy>
  <cp:revision>55</cp:revision>
  <dcterms:created xsi:type="dcterms:W3CDTF">2024-12-18T02:03:32Z</dcterms:created>
  <dcterms:modified xsi:type="dcterms:W3CDTF">2026-10-04T13:27:46Z</dcterms:modified>
</cp:coreProperties>
</file>